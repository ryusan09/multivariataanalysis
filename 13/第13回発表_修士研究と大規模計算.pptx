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Lst>
  <p:notesMasterIdLst>
    <p:notesMasterId r:id="rId1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notesMaster" Target="notesMasters/notesMaster1.xml"/><Relationship Id="rId12" Type="http://schemas.openxmlformats.org/officeDocument/2006/relationships/presProps" Target="presProps.xml"/><Relationship Id="rId13" Type="http://schemas.openxmlformats.org/officeDocument/2006/relationships/viewProps" Target="viewProps.xml"/><Relationship Id="rId14" Type="http://schemas.openxmlformats.org/officeDocument/2006/relationships/theme" Target="theme/theme1.xml"/><Relationship Id="rId1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（約30秒）
それでは発表を始めます。私の修士研究のテーマは、縄文土器の3Dスキャンデータから、表面の縄目文様を自動計測することです。
本日は、前半で研究の概要を紹介し、後半で、本講義で学んだ内容を応用して研究のどこを今後効率化できるか、その見通しについて述べます。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（約50秒）
まず研究の背景です。縄文土器の表面には、縄を転がして付けた縄目文様が残っています。右の図が、実際に研究で使用している土器片の3Dスキャンデータです。
この文様の間隔や、縄が1回転する長さは、製作に使われた縄の種類や製作技法を知るための、考古学的に重要な手がかりとなります。
しかし従来は、研究者が目視と手作業で計測してきたため、時間を要するうえ、計測者によって結果が異なり、再現性に乏しいという課題がありました。
そこで本研究では、土器の3Dスキャンデータを入力として、縄目の間隔・向き・縄1回転分の区切り位置を全自動で計測する手法の確立を目的としています。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（約55秒）
提案手法の処理の流れです。5つの段階で構成しています。
まず3Dスキャンデータを読み込み、次に、縄目文様のある面だけを抽出します。第3段階で、その面の凹凸を2次元の画像に変換します。ここまで変換すれば、以降は画像処理の問題として扱えます。
第4段階で文様の繰り返しの間隔と向きを計測し、最後の第5段階で、縄が1回転するごとの区切り位置を検出します。
本手法のポイントは、3次元の複雑な形状をそのまま扱うのではなく、2次元の画像、さらに1次元の波形へと、段階的に単純なデータに変換しながら計測することです。
現在、全段階を実装済みで、正解が既知のテストデータで正しく計測できることを確認しています。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（約50秒）
本研究の新規性にあたるのが、最後の第5段階です。
縄は1回転するごとに同一の文様を繰り返します。右の図の黒い点は、人が目視で付けた「縄1回転分の区切り」の位置で、これを自動で検出することが目標です。
手法の考え方としては、文様の画像を少しずつずらして重ね合わせ、最も一致するずらし幅を求めます。このずらし幅が、ちょうど縄1回転分の長さに対応します。
テストデータによる検証では、既知の正解に対する誤差は2%未満であり、データの20%が欠損していても精度を維持できました。用意した16件のテストすべてに合格しています。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（約45秒）
現状の結果です。実際の土器片データに適用したところ、縄目の間隔が約3.4ミリ、縄1回転分の長さが約44ミリ、区切り位置が6か所、と自動で計測できています。
一方で課題も残っています。最も大きいのは、実データに対する正解値がまだ手元になく、計測精度を定量的に評価できていない点です。現在、指導教員に正解値の計測を依頼しています。
また、計測時のパラメータを手動で設定している点も、今後自動化が必要です。
ここからが後半の本題です。本講義で学んだ内容を応用して、この研究を今後どのように効率化できるか、その見通しを述べます。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（約40秒）
まず、効率化の余地についてです。土器片1つのメッシュは約700万頂点に及ぶ大規模なデータですが、現在のプログラムは、これを1台の計算機で逐次的に処理しています。
土器1点を計測するだけであれば、現状でも実用的な時間で動作します。しかし研究は今後、手法の信頼性を示すために、精度検証実験を大量に実行する段階に進みます。
この段階でこそ、講義で学んだ並列化の考え方が有効になると考えています。次の2枚で具体的に検討します。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（約65秒）
今後効率化が見込める処理として、精度検証実験の並列実行に注目しています。
まず、どのような実験かです。手法の信頼性を示すためには、ノイズや欠損の量を段階的に変えたテストデータを多数生成し、それぞれの条件で計測精度を検証する必要があります。条件の組合せは数百通りに及ぶ見込みです。
次に、なぜ並列化に向くかです。各条件の検証は互いに独立した計算で、他の条件の結果を待つ必要がありません。これは第12回の遺伝的アルゴリズムにおける個体評価と同じ構造であり、複数のWorkerへ分配して同時に実行できます。
期待される効果です。検証1回に数分を要するため、数百条件を逐次実行すると1日以上かかる見込みです。並列実行によって実行時間を大幅に短縮できれば、条件を追加した再実験も繰り返しやすくなり、研究のサイクル全体が速くなると考えてい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（約60秒）
ただし、並列化すれば必ず速くなるわけではない、というのが第12回の実験で得られた知見です。
第12回の遺伝的アルゴリズムの実験では、1つあたりの計算が軽かったため、Workerの準備やデータの受け渡しといったオーバーヘッドが計算時間を上回り、並列化によってかえって処理時間が増加しました。
これを本研究の精度検証実験に当てはめると、検証1回は数分を要する重い処理です。オーバーヘッドに対して計算本体が十分に重いため、並列化の効果が得られやすい条件だと見込んでいます。
とはいえ、効果を仮定だけで判断することはせず、まず検証1回あたりの処理時間を計測したうえで、並列化する単位とWorker数を決定する方針です。これが第12回の実験から得た、最も重要な知見だと考えてい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（約35秒）
まとめです。本研究では、縄文土器の3Dスキャンデータから縄目文様を全自動で計測する手法を開発しており、テストデータでは精度を確認できています。
研究は今後、手法の信頼性を示すための精度検証実験を大量に実行する段階に進みます。数百条件の逐次実行には1日以上を要する見込みですが、各条件の検証は独立した計算であるため、講義で学んだ並列化を適用することで、実行時間の大幅な短縮が見込めます。
適用にあたっては、検証1回あたりの処理時間を計測したうえで並列化の単位を決定するという、第12回の実験で得た知見に基づいて進めます。
以上で発表を終わります。ご清聴ありがとうございました。</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3B2A26"/>
        </a:solidFill>
      </p:bgPr>
    </p:bg>
    <p:spTree>
      <p:nvGrpSpPr>
        <p:cNvPr id="1" name=""/>
        <p:cNvGrpSpPr/>
        <p:nvPr/>
      </p:nvGrpSpPr>
      <p:grpSpPr>
        <a:xfrm>
          <a:off x="0" y="0"/>
          <a:ext cx="0" cy="0"/>
          <a:chOff x="0" y="0"/>
          <a:chExt cx="0" cy="0"/>
        </a:xfrm>
      </p:grpSpPr>
      <p:sp>
        <p:nvSpPr>
          <p:cNvPr id="2" name="Text 0"/>
          <p:cNvSpPr/>
          <p:nvPr/>
        </p:nvSpPr>
        <p:spPr>
          <a:xfrm>
            <a:off x="731520" y="1188720"/>
            <a:ext cx="10698480" cy="457200"/>
          </a:xfrm>
          <a:prstGeom prst="rect">
            <a:avLst/>
          </a:prstGeom>
          <a:noFill/>
          <a:ln/>
        </p:spPr>
        <p:txBody>
          <a:bodyPr wrap="square" lIns="0" tIns="0" rIns="0" bIns="0" rtlCol="0" anchor="ctr"/>
          <a:lstStyle/>
          <a:p>
            <a:pPr indent="0" marL="0">
              <a:buNone/>
            </a:pPr>
            <a:r>
              <a:rPr lang="en-US" sz="1600" dirty="0">
                <a:solidFill>
                  <a:srgbClr val="A7BEAE"/>
                </a:solidFill>
                <a:latin typeface="Calibri" pitchFamily="34" charset="0"/>
                <a:ea typeface="Calibri" pitchFamily="34" charset="-122"/>
                <a:cs typeface="Calibri" pitchFamily="34" charset="-120"/>
              </a:rPr>
              <a:t>多変量解析及び大規模計算論  第13回発表</a:t>
            </a:r>
            <a:endParaRPr lang="en-US" sz="1600" dirty="0"/>
          </a:p>
        </p:txBody>
      </p:sp>
      <p:sp>
        <p:nvSpPr>
          <p:cNvPr id="3" name="Text 1"/>
          <p:cNvSpPr/>
          <p:nvPr/>
        </p:nvSpPr>
        <p:spPr>
          <a:xfrm>
            <a:off x="731520" y="1828800"/>
            <a:ext cx="10698480" cy="1828800"/>
          </a:xfrm>
          <a:prstGeom prst="rect">
            <a:avLst/>
          </a:prstGeom>
          <a:noFill/>
          <a:ln/>
        </p:spPr>
        <p:txBody>
          <a:bodyPr wrap="square" lIns="0" tIns="0" rIns="0" bIns="0" rtlCol="0" anchor="ctr"/>
          <a:lstStyle/>
          <a:p>
            <a:pPr indent="0" marL="0">
              <a:buNone/>
            </a:pPr>
            <a:r>
              <a:rPr lang="en-US" sz="4000" b="1" dirty="0">
                <a:solidFill>
                  <a:srgbClr val="FFFFFF"/>
                </a:solidFill>
                <a:latin typeface="Cambria" pitchFamily="34" charset="0"/>
                <a:ea typeface="Cambria" pitchFamily="34" charset="-122"/>
                <a:cs typeface="Cambria" pitchFamily="34" charset="-120"/>
              </a:rPr>
              <a:t>縄文土器の3Dスキャンデータからの</a:t>
            </a:r>
            <a:endParaRPr lang="en-US" sz="4000" dirty="0"/>
          </a:p>
          <a:p>
            <a:pPr indent="0" marL="0">
              <a:buNone/>
            </a:pPr>
            <a:r>
              <a:rPr lang="en-US" sz="4000" b="1" dirty="0">
                <a:solidFill>
                  <a:srgbClr val="FFFFFF"/>
                </a:solidFill>
                <a:latin typeface="Cambria" pitchFamily="34" charset="0"/>
                <a:ea typeface="Cambria" pitchFamily="34" charset="-122"/>
                <a:cs typeface="Cambria" pitchFamily="34" charset="-120"/>
              </a:rPr>
              <a:t>縄目文様の自動計測</a:t>
            </a:r>
            <a:endParaRPr lang="en-US" sz="4000" dirty="0"/>
          </a:p>
        </p:txBody>
      </p:sp>
      <p:sp>
        <p:nvSpPr>
          <p:cNvPr id="4" name="Text 2"/>
          <p:cNvSpPr/>
          <p:nvPr/>
        </p:nvSpPr>
        <p:spPr>
          <a:xfrm>
            <a:off x="731520" y="3749040"/>
            <a:ext cx="10698480" cy="548640"/>
          </a:xfrm>
          <a:prstGeom prst="rect">
            <a:avLst/>
          </a:prstGeom>
          <a:noFill/>
          <a:ln/>
        </p:spPr>
        <p:txBody>
          <a:bodyPr wrap="square" lIns="0" tIns="0" rIns="0" bIns="0" rtlCol="0" anchor="ctr"/>
          <a:lstStyle/>
          <a:p>
            <a:pPr indent="0" marL="0">
              <a:buNone/>
            </a:pPr>
            <a:r>
              <a:rPr lang="en-US" sz="2000" i="1" dirty="0">
                <a:solidFill>
                  <a:srgbClr val="E7E8D1"/>
                </a:solidFill>
                <a:latin typeface="Calibri" pitchFamily="34" charset="0"/>
                <a:ea typeface="Calibri" pitchFamily="34" charset="-122"/>
                <a:cs typeface="Calibri" pitchFamily="34" charset="-120"/>
              </a:rPr>
              <a:t>— 修士研究の紹介と、講義内容を応用した今後の効率化の検討 —</a:t>
            </a:r>
            <a:endParaRPr lang="en-US" sz="2000" dirty="0"/>
          </a:p>
        </p:txBody>
      </p:sp>
      <p:sp>
        <p:nvSpPr>
          <p:cNvPr id="5" name="Text 3"/>
          <p:cNvSpPr/>
          <p:nvPr/>
        </p:nvSpPr>
        <p:spPr>
          <a:xfrm>
            <a:off x="731520" y="5760720"/>
            <a:ext cx="10698480" cy="365760"/>
          </a:xfrm>
          <a:prstGeom prst="rect">
            <a:avLst/>
          </a:prstGeom>
          <a:noFill/>
          <a:ln/>
        </p:spPr>
        <p:txBody>
          <a:bodyPr wrap="square" lIns="0" tIns="0" rIns="0" bIns="0" rtlCol="0" anchor="ctr"/>
          <a:lstStyle/>
          <a:p>
            <a:pPr indent="0" marL="0">
              <a:buNone/>
            </a:pPr>
            <a:r>
              <a:rPr lang="en-US" sz="1400" dirty="0">
                <a:solidFill>
                  <a:srgbClr val="A7BEAE"/>
                </a:solidFill>
                <a:latin typeface="Calibri" pitchFamily="34" charset="0"/>
                <a:ea typeface="Calibri" pitchFamily="34" charset="-122"/>
                <a:cs typeface="Calibri" pitchFamily="34" charset="-120"/>
              </a:rPr>
              <a:t>愛知工業大学大学院</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20040"/>
            <a:ext cx="11064240" cy="731520"/>
          </a:xfrm>
          <a:prstGeom prst="rect">
            <a:avLst/>
          </a:prstGeom>
          <a:noFill/>
          <a:ln/>
        </p:spPr>
        <p:txBody>
          <a:bodyPr wrap="square" lIns="0" tIns="0" rIns="0" bIns="0" rtlCol="0" anchor="ctr"/>
          <a:lstStyle/>
          <a:p>
            <a:pPr indent="0" marL="0">
              <a:buNone/>
            </a:pPr>
            <a:r>
              <a:rPr lang="en-US" sz="3000" b="1" dirty="0">
                <a:solidFill>
                  <a:srgbClr val="333333"/>
                </a:solidFill>
                <a:latin typeface="Cambria" pitchFamily="34" charset="0"/>
                <a:ea typeface="Cambria" pitchFamily="34" charset="-122"/>
                <a:cs typeface="Cambria" pitchFamily="34" charset="-120"/>
              </a:rPr>
              <a:t>研究の背景と目的</a:t>
            </a:r>
            <a:endParaRPr lang="en-US" sz="3000" dirty="0"/>
          </a:p>
        </p:txBody>
      </p:sp>
      <p:sp>
        <p:nvSpPr>
          <p:cNvPr id="3" name="Shape 1"/>
          <p:cNvSpPr/>
          <p:nvPr/>
        </p:nvSpPr>
        <p:spPr>
          <a:xfrm>
            <a:off x="548640" y="1325880"/>
            <a:ext cx="6400800" cy="1051560"/>
          </a:xfrm>
          <a:prstGeom prst="roundRect">
            <a:avLst>
              <a:gd name="adj" fmla="val 6957"/>
            </a:avLst>
          </a:prstGeom>
          <a:solidFill>
            <a:srgbClr val="E7E8D1"/>
          </a:solidFill>
          <a:ln/>
        </p:spPr>
      </p:sp>
      <p:sp>
        <p:nvSpPr>
          <p:cNvPr id="4" name="Text 2"/>
          <p:cNvSpPr/>
          <p:nvPr/>
        </p:nvSpPr>
        <p:spPr>
          <a:xfrm>
            <a:off x="777240" y="1417320"/>
            <a:ext cx="1828800" cy="365760"/>
          </a:xfrm>
          <a:prstGeom prst="rect">
            <a:avLst/>
          </a:prstGeom>
          <a:noFill/>
          <a:ln/>
        </p:spPr>
        <p:txBody>
          <a:bodyPr wrap="square" lIns="0" tIns="0" rIns="0" bIns="0" rtlCol="0" anchor="ctr"/>
          <a:lstStyle/>
          <a:p>
            <a:pPr indent="0" marL="0">
              <a:buNone/>
            </a:pPr>
            <a:r>
              <a:rPr lang="en-US" sz="1600" b="1" dirty="0">
                <a:solidFill>
                  <a:srgbClr val="B85042"/>
                </a:solidFill>
                <a:latin typeface="Cambria" pitchFamily="34" charset="0"/>
                <a:ea typeface="Cambria" pitchFamily="34" charset="-122"/>
                <a:cs typeface="Cambria" pitchFamily="34" charset="-120"/>
              </a:rPr>
              <a:t>背景</a:t>
            </a:r>
            <a:endParaRPr lang="en-US" sz="1600" dirty="0"/>
          </a:p>
        </p:txBody>
      </p:sp>
      <p:sp>
        <p:nvSpPr>
          <p:cNvPr id="5" name="Text 3"/>
          <p:cNvSpPr/>
          <p:nvPr/>
        </p:nvSpPr>
        <p:spPr>
          <a:xfrm>
            <a:off x="777240" y="1709928"/>
            <a:ext cx="5943600" cy="640080"/>
          </a:xfrm>
          <a:prstGeom prst="rect">
            <a:avLst/>
          </a:prstGeom>
          <a:noFill/>
          <a:ln/>
        </p:spPr>
        <p:txBody>
          <a:bodyPr wrap="square" lIns="0" tIns="0" rIns="0" bIns="0" rtlCol="0" anchor="ctr"/>
          <a:lstStyle/>
          <a:p>
            <a:pPr indent="0" marL="0">
              <a:buNone/>
            </a:pPr>
            <a:r>
              <a:rPr lang="en-US" sz="1250" dirty="0">
                <a:solidFill>
                  <a:srgbClr val="333333"/>
                </a:solidFill>
                <a:latin typeface="Calibri" pitchFamily="34" charset="0"/>
                <a:ea typeface="Calibri" pitchFamily="34" charset="-122"/>
                <a:cs typeface="Calibri" pitchFamily="34" charset="-120"/>
              </a:rPr>
              <a:t>縄文土器の表面には、縄を転がして付けた「縄目文様」が残る。文様の間隔や縄1回転分の長さは、製作に使われた縄と製作技法を知る考古学的な手がかりとなる。</a:t>
            </a:r>
            <a:endParaRPr lang="en-US" sz="1250" dirty="0"/>
          </a:p>
        </p:txBody>
      </p:sp>
      <p:sp>
        <p:nvSpPr>
          <p:cNvPr id="6" name="Shape 4"/>
          <p:cNvSpPr/>
          <p:nvPr/>
        </p:nvSpPr>
        <p:spPr>
          <a:xfrm>
            <a:off x="548640" y="2560320"/>
            <a:ext cx="6400800" cy="1051560"/>
          </a:xfrm>
          <a:prstGeom prst="roundRect">
            <a:avLst>
              <a:gd name="adj" fmla="val 6957"/>
            </a:avLst>
          </a:prstGeom>
          <a:solidFill>
            <a:srgbClr val="E7E8D1"/>
          </a:solidFill>
          <a:ln/>
        </p:spPr>
      </p:sp>
      <p:sp>
        <p:nvSpPr>
          <p:cNvPr id="7" name="Text 5"/>
          <p:cNvSpPr/>
          <p:nvPr/>
        </p:nvSpPr>
        <p:spPr>
          <a:xfrm>
            <a:off x="777240" y="2651760"/>
            <a:ext cx="1828800" cy="365760"/>
          </a:xfrm>
          <a:prstGeom prst="rect">
            <a:avLst/>
          </a:prstGeom>
          <a:noFill/>
          <a:ln/>
        </p:spPr>
        <p:txBody>
          <a:bodyPr wrap="square" lIns="0" tIns="0" rIns="0" bIns="0" rtlCol="0" anchor="ctr"/>
          <a:lstStyle/>
          <a:p>
            <a:pPr indent="0" marL="0">
              <a:buNone/>
            </a:pPr>
            <a:r>
              <a:rPr lang="en-US" sz="1600" b="1" dirty="0">
                <a:solidFill>
                  <a:srgbClr val="B85042"/>
                </a:solidFill>
                <a:latin typeface="Cambria" pitchFamily="34" charset="0"/>
                <a:ea typeface="Cambria" pitchFamily="34" charset="-122"/>
                <a:cs typeface="Cambria" pitchFamily="34" charset="-120"/>
              </a:rPr>
              <a:t>課題</a:t>
            </a:r>
            <a:endParaRPr lang="en-US" sz="1600" dirty="0"/>
          </a:p>
        </p:txBody>
      </p:sp>
      <p:sp>
        <p:nvSpPr>
          <p:cNvPr id="8" name="Text 6"/>
          <p:cNvSpPr/>
          <p:nvPr/>
        </p:nvSpPr>
        <p:spPr>
          <a:xfrm>
            <a:off x="777240" y="2944368"/>
            <a:ext cx="5943600" cy="640080"/>
          </a:xfrm>
          <a:prstGeom prst="rect">
            <a:avLst/>
          </a:prstGeom>
          <a:noFill/>
          <a:ln/>
        </p:spPr>
        <p:txBody>
          <a:bodyPr wrap="square" lIns="0" tIns="0" rIns="0" bIns="0" rtlCol="0" anchor="ctr"/>
          <a:lstStyle/>
          <a:p>
            <a:pPr indent="0" marL="0">
              <a:buNone/>
            </a:pPr>
            <a:r>
              <a:rPr lang="en-US" sz="1250" dirty="0">
                <a:solidFill>
                  <a:srgbClr val="333333"/>
                </a:solidFill>
                <a:latin typeface="Calibri" pitchFamily="34" charset="0"/>
                <a:ea typeface="Calibri" pitchFamily="34" charset="-122"/>
                <a:cs typeface="Calibri" pitchFamily="34" charset="-120"/>
              </a:rPr>
              <a:t>従来は研究者が目視と手作業で計測してきたため、時間を要するうえ、計測者によって結果が異なり、再現性に乏しい。</a:t>
            </a:r>
            <a:endParaRPr lang="en-US" sz="1250" dirty="0"/>
          </a:p>
        </p:txBody>
      </p:sp>
      <p:sp>
        <p:nvSpPr>
          <p:cNvPr id="9" name="Shape 7"/>
          <p:cNvSpPr/>
          <p:nvPr/>
        </p:nvSpPr>
        <p:spPr>
          <a:xfrm>
            <a:off x="548640" y="3794760"/>
            <a:ext cx="6400800" cy="1051560"/>
          </a:xfrm>
          <a:prstGeom prst="roundRect">
            <a:avLst>
              <a:gd name="adj" fmla="val 6957"/>
            </a:avLst>
          </a:prstGeom>
          <a:solidFill>
            <a:srgbClr val="B85042"/>
          </a:solidFill>
          <a:ln/>
        </p:spPr>
      </p:sp>
      <p:sp>
        <p:nvSpPr>
          <p:cNvPr id="10" name="Text 8"/>
          <p:cNvSpPr/>
          <p:nvPr/>
        </p:nvSpPr>
        <p:spPr>
          <a:xfrm>
            <a:off x="777240" y="3886200"/>
            <a:ext cx="1828800" cy="365760"/>
          </a:xfrm>
          <a:prstGeom prst="rect">
            <a:avLst/>
          </a:prstGeom>
          <a:noFill/>
          <a:ln/>
        </p:spPr>
        <p:txBody>
          <a:bodyPr wrap="square" lIns="0" tIns="0" rIns="0" bIns="0" rtlCol="0" anchor="ctr"/>
          <a:lstStyle/>
          <a:p>
            <a:pPr indent="0" marL="0">
              <a:buNone/>
            </a:pPr>
            <a:r>
              <a:rPr lang="en-US" sz="1600" b="1" dirty="0">
                <a:solidFill>
                  <a:srgbClr val="FFFFFF"/>
                </a:solidFill>
                <a:latin typeface="Cambria" pitchFamily="34" charset="0"/>
                <a:ea typeface="Cambria" pitchFamily="34" charset="-122"/>
                <a:cs typeface="Cambria" pitchFamily="34" charset="-120"/>
              </a:rPr>
              <a:t>目的</a:t>
            </a:r>
            <a:endParaRPr lang="en-US" sz="1600" dirty="0"/>
          </a:p>
        </p:txBody>
      </p:sp>
      <p:sp>
        <p:nvSpPr>
          <p:cNvPr id="11" name="Text 9"/>
          <p:cNvSpPr/>
          <p:nvPr/>
        </p:nvSpPr>
        <p:spPr>
          <a:xfrm>
            <a:off x="777240" y="4178808"/>
            <a:ext cx="5943600" cy="640080"/>
          </a:xfrm>
          <a:prstGeom prst="rect">
            <a:avLst/>
          </a:prstGeom>
          <a:noFill/>
          <a:ln/>
        </p:spPr>
        <p:txBody>
          <a:bodyPr wrap="square" lIns="0" tIns="0" rIns="0" bIns="0" rtlCol="0" anchor="ctr"/>
          <a:lstStyle/>
          <a:p>
            <a:pPr indent="0" marL="0">
              <a:buNone/>
            </a:pPr>
            <a:r>
              <a:rPr lang="en-US" sz="1250" dirty="0">
                <a:solidFill>
                  <a:srgbClr val="FFFFFF"/>
                </a:solidFill>
                <a:latin typeface="Calibri" pitchFamily="34" charset="0"/>
                <a:ea typeface="Calibri" pitchFamily="34" charset="-122"/>
                <a:cs typeface="Calibri" pitchFamily="34" charset="-120"/>
              </a:rPr>
              <a:t>土器の3Dスキャンデータ（メッシュ）を入力とし、縄目の間隔・向き・縄1回転分の区切り位置を全自動で計測する手法を確立する。</a:t>
            </a:r>
            <a:endParaRPr lang="en-US" sz="1250" dirty="0"/>
          </a:p>
        </p:txBody>
      </p:sp>
      <p:pic>
        <p:nvPicPr>
          <p:cNvPr id="12" name="Image 0" descr="/Users/ryusan/brain/02_Raw/土器1（同巡点）.png">    </p:cNvPr>
          <p:cNvPicPr>
            <a:picLocks noChangeAspect="1"/>
          </p:cNvPicPr>
          <p:nvPr/>
        </p:nvPicPr>
        <p:blipFill>
          <a:blip r:embed="rId1"/>
          <a:stretch>
            <a:fillRect/>
          </a:stretch>
        </p:blipFill>
        <p:spPr>
          <a:xfrm>
            <a:off x="7315200" y="1463040"/>
            <a:ext cx="4297680" cy="2651760"/>
          </a:xfrm>
          <a:prstGeom prst="rect">
            <a:avLst/>
          </a:prstGeom>
        </p:spPr>
      </p:pic>
      <p:sp>
        <p:nvSpPr>
          <p:cNvPr id="13" name="Text 10"/>
          <p:cNvSpPr/>
          <p:nvPr/>
        </p:nvSpPr>
        <p:spPr>
          <a:xfrm>
            <a:off x="7315200" y="4206240"/>
            <a:ext cx="4297680" cy="320040"/>
          </a:xfrm>
          <a:prstGeom prst="rect">
            <a:avLst/>
          </a:prstGeom>
          <a:noFill/>
          <a:ln/>
        </p:spPr>
        <p:txBody>
          <a:bodyPr wrap="square" lIns="0" tIns="0" rIns="0" bIns="0" rtlCol="0" anchor="ctr"/>
          <a:lstStyle/>
          <a:p>
            <a:pPr indent="0" marL="0">
              <a:buNone/>
            </a:pPr>
            <a:r>
              <a:rPr lang="en-US" sz="1100" dirty="0">
                <a:solidFill>
                  <a:srgbClr val="7A6A62"/>
                </a:solidFill>
                <a:latin typeface="Calibri" pitchFamily="34" charset="0"/>
                <a:ea typeface="Calibri" pitchFamily="34" charset="-122"/>
                <a:cs typeface="Calibri" pitchFamily="34" charset="-120"/>
              </a:rPr>
              <a:t>図1: 研究対象の土器片の3Dスキャンデータ</a:t>
            </a:r>
            <a:endParaRPr lang="en-US" sz="11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20040"/>
            <a:ext cx="11064240" cy="731520"/>
          </a:xfrm>
          <a:prstGeom prst="rect">
            <a:avLst/>
          </a:prstGeom>
          <a:noFill/>
          <a:ln/>
        </p:spPr>
        <p:txBody>
          <a:bodyPr wrap="square" lIns="0" tIns="0" rIns="0" bIns="0" rtlCol="0" anchor="ctr"/>
          <a:lstStyle/>
          <a:p>
            <a:pPr indent="0" marL="0">
              <a:buNone/>
            </a:pPr>
            <a:r>
              <a:rPr lang="en-US" sz="3000" b="1" dirty="0">
                <a:solidFill>
                  <a:srgbClr val="333333"/>
                </a:solidFill>
                <a:latin typeface="Cambria" pitchFamily="34" charset="0"/>
                <a:ea typeface="Cambria" pitchFamily="34" charset="-122"/>
                <a:cs typeface="Cambria" pitchFamily="34" charset="-120"/>
              </a:rPr>
              <a:t>提案手法の処理の流れ（5段階）</a:t>
            </a:r>
            <a:endParaRPr lang="en-US" sz="3000" dirty="0"/>
          </a:p>
        </p:txBody>
      </p:sp>
      <p:sp>
        <p:nvSpPr>
          <p:cNvPr id="3" name="Shape 1"/>
          <p:cNvSpPr/>
          <p:nvPr/>
        </p:nvSpPr>
        <p:spPr>
          <a:xfrm>
            <a:off x="502920" y="1828800"/>
            <a:ext cx="2103120" cy="2377440"/>
          </a:xfrm>
          <a:prstGeom prst="roundRect">
            <a:avLst>
              <a:gd name="adj" fmla="val 4348"/>
            </a:avLst>
          </a:prstGeom>
          <a:solidFill>
            <a:srgbClr val="E7E8D1"/>
          </a:solidFill>
          <a:ln/>
        </p:spPr>
      </p:sp>
      <p:sp>
        <p:nvSpPr>
          <p:cNvPr id="4" name="Text 2"/>
          <p:cNvSpPr/>
          <p:nvPr/>
        </p:nvSpPr>
        <p:spPr>
          <a:xfrm>
            <a:off x="502920" y="1965960"/>
            <a:ext cx="2103120" cy="457200"/>
          </a:xfrm>
          <a:prstGeom prst="rect">
            <a:avLst/>
          </a:prstGeom>
          <a:noFill/>
          <a:ln/>
        </p:spPr>
        <p:txBody>
          <a:bodyPr wrap="square" lIns="0" tIns="0" rIns="0" bIns="0" rtlCol="0" anchor="ctr"/>
          <a:lstStyle/>
          <a:p>
            <a:pPr algn="ctr" indent="0" marL="0">
              <a:buNone/>
            </a:pPr>
            <a:r>
              <a:rPr lang="en-US" sz="2200" b="1" dirty="0">
                <a:solidFill>
                  <a:srgbClr val="B85042"/>
                </a:solidFill>
                <a:latin typeface="Cambria" pitchFamily="34" charset="0"/>
                <a:ea typeface="Cambria" pitchFamily="34" charset="-122"/>
                <a:cs typeface="Cambria" pitchFamily="34" charset="-120"/>
              </a:rPr>
              <a:t>M1</a:t>
            </a:r>
            <a:endParaRPr lang="en-US" sz="2200" dirty="0"/>
          </a:p>
        </p:txBody>
      </p:sp>
      <p:sp>
        <p:nvSpPr>
          <p:cNvPr id="5" name="Text 3"/>
          <p:cNvSpPr/>
          <p:nvPr/>
        </p:nvSpPr>
        <p:spPr>
          <a:xfrm>
            <a:off x="502920" y="2468880"/>
            <a:ext cx="2103120" cy="365760"/>
          </a:xfrm>
          <a:prstGeom prst="rect">
            <a:avLst/>
          </a:prstGeom>
          <a:noFill/>
          <a:ln/>
        </p:spPr>
        <p:txBody>
          <a:bodyPr wrap="square" lIns="0" tIns="0" rIns="0" bIns="0" rtlCol="0" anchor="ctr"/>
          <a:lstStyle/>
          <a:p>
            <a:pPr algn="ctr" indent="0" marL="0">
              <a:buNone/>
            </a:pPr>
            <a:r>
              <a:rPr lang="en-US" sz="1400" b="1" dirty="0">
                <a:solidFill>
                  <a:srgbClr val="333333"/>
                </a:solidFill>
                <a:latin typeface="Calibri" pitchFamily="34" charset="0"/>
                <a:ea typeface="Calibri" pitchFamily="34" charset="-122"/>
                <a:cs typeface="Calibri" pitchFamily="34" charset="-120"/>
              </a:rPr>
              <a:t>データ読込</a:t>
            </a:r>
            <a:endParaRPr lang="en-US" sz="1400" dirty="0"/>
          </a:p>
        </p:txBody>
      </p:sp>
      <p:sp>
        <p:nvSpPr>
          <p:cNvPr id="6" name="Text 4"/>
          <p:cNvSpPr/>
          <p:nvPr/>
        </p:nvSpPr>
        <p:spPr>
          <a:xfrm>
            <a:off x="594360" y="2880360"/>
            <a:ext cx="1920240" cy="1188720"/>
          </a:xfrm>
          <a:prstGeom prst="rect">
            <a:avLst/>
          </a:prstGeom>
          <a:noFill/>
          <a:ln/>
        </p:spPr>
        <p:txBody>
          <a:bodyPr wrap="square" lIns="0" tIns="0" rIns="0" bIns="0" rtlCol="0" anchor="ctr"/>
          <a:lstStyle/>
          <a:p>
            <a:pPr algn="ctr" indent="0" marL="0">
              <a:buNone/>
            </a:pPr>
            <a:r>
              <a:rPr lang="en-US" sz="1100" dirty="0">
                <a:solidFill>
                  <a:srgbClr val="333333"/>
                </a:solidFill>
                <a:latin typeface="Calibri" pitchFamily="34" charset="0"/>
                <a:ea typeface="Calibri" pitchFamily="34" charset="-122"/>
                <a:cs typeface="Calibri" pitchFamily="34" charset="-120"/>
              </a:rPr>
              <a:t>3Dスキャンデータ</a:t>
            </a:r>
            <a:endParaRPr lang="en-US" sz="1100" dirty="0"/>
          </a:p>
          <a:p>
            <a:pPr algn="ctr" indent="0" marL="0">
              <a:buNone/>
            </a:pPr>
            <a:r>
              <a:rPr lang="en-US" sz="1100" dirty="0">
                <a:solidFill>
                  <a:srgbClr val="333333"/>
                </a:solidFill>
                <a:latin typeface="Calibri" pitchFamily="34" charset="0"/>
                <a:ea typeface="Calibri" pitchFamily="34" charset="-122"/>
                <a:cs typeface="Calibri" pitchFamily="34" charset="-120"/>
              </a:rPr>
              <a:t>（メッシュ）を読み込む</a:t>
            </a:r>
            <a:endParaRPr lang="en-US" sz="1100" dirty="0"/>
          </a:p>
        </p:txBody>
      </p:sp>
      <p:sp>
        <p:nvSpPr>
          <p:cNvPr id="7" name="Text 5"/>
          <p:cNvSpPr/>
          <p:nvPr/>
        </p:nvSpPr>
        <p:spPr>
          <a:xfrm>
            <a:off x="2569464" y="2788920"/>
            <a:ext cx="365760" cy="457200"/>
          </a:xfrm>
          <a:prstGeom prst="rect">
            <a:avLst/>
          </a:prstGeom>
          <a:noFill/>
          <a:ln/>
        </p:spPr>
        <p:txBody>
          <a:bodyPr wrap="square" lIns="0" tIns="0" rIns="0" bIns="0" rtlCol="0" anchor="ctr"/>
          <a:lstStyle/>
          <a:p>
            <a:pPr algn="ctr" indent="0" marL="0">
              <a:buNone/>
            </a:pPr>
            <a:r>
              <a:rPr lang="en-US" sz="2000" b="1" dirty="0">
                <a:solidFill>
                  <a:srgbClr val="7A6A62"/>
                </a:solidFill>
                <a:latin typeface="Calibri" pitchFamily="34" charset="0"/>
                <a:ea typeface="Calibri" pitchFamily="34" charset="-122"/>
                <a:cs typeface="Calibri" pitchFamily="34" charset="-120"/>
              </a:rPr>
              <a:t>→</a:t>
            </a:r>
            <a:endParaRPr lang="en-US" sz="2000" dirty="0"/>
          </a:p>
        </p:txBody>
      </p:sp>
      <p:sp>
        <p:nvSpPr>
          <p:cNvPr id="8" name="Shape 6"/>
          <p:cNvSpPr/>
          <p:nvPr/>
        </p:nvSpPr>
        <p:spPr>
          <a:xfrm>
            <a:off x="2862072" y="1828800"/>
            <a:ext cx="2103120" cy="2377440"/>
          </a:xfrm>
          <a:prstGeom prst="roundRect">
            <a:avLst>
              <a:gd name="adj" fmla="val 4348"/>
            </a:avLst>
          </a:prstGeom>
          <a:solidFill>
            <a:srgbClr val="E7E8D1"/>
          </a:solidFill>
          <a:ln/>
        </p:spPr>
      </p:sp>
      <p:sp>
        <p:nvSpPr>
          <p:cNvPr id="9" name="Text 7"/>
          <p:cNvSpPr/>
          <p:nvPr/>
        </p:nvSpPr>
        <p:spPr>
          <a:xfrm>
            <a:off x="2862072" y="1965960"/>
            <a:ext cx="2103120" cy="457200"/>
          </a:xfrm>
          <a:prstGeom prst="rect">
            <a:avLst/>
          </a:prstGeom>
          <a:noFill/>
          <a:ln/>
        </p:spPr>
        <p:txBody>
          <a:bodyPr wrap="square" lIns="0" tIns="0" rIns="0" bIns="0" rtlCol="0" anchor="ctr"/>
          <a:lstStyle/>
          <a:p>
            <a:pPr algn="ctr" indent="0" marL="0">
              <a:buNone/>
            </a:pPr>
            <a:r>
              <a:rPr lang="en-US" sz="2200" b="1" dirty="0">
                <a:solidFill>
                  <a:srgbClr val="B85042"/>
                </a:solidFill>
                <a:latin typeface="Cambria" pitchFamily="34" charset="0"/>
                <a:ea typeface="Cambria" pitchFamily="34" charset="-122"/>
                <a:cs typeface="Cambria" pitchFamily="34" charset="-120"/>
              </a:rPr>
              <a:t>M2</a:t>
            </a:r>
            <a:endParaRPr lang="en-US" sz="2200" dirty="0"/>
          </a:p>
        </p:txBody>
      </p:sp>
      <p:sp>
        <p:nvSpPr>
          <p:cNvPr id="10" name="Text 8"/>
          <p:cNvSpPr/>
          <p:nvPr/>
        </p:nvSpPr>
        <p:spPr>
          <a:xfrm>
            <a:off x="2862072" y="2468880"/>
            <a:ext cx="2103120" cy="365760"/>
          </a:xfrm>
          <a:prstGeom prst="rect">
            <a:avLst/>
          </a:prstGeom>
          <a:noFill/>
          <a:ln/>
        </p:spPr>
        <p:txBody>
          <a:bodyPr wrap="square" lIns="0" tIns="0" rIns="0" bIns="0" rtlCol="0" anchor="ctr"/>
          <a:lstStyle/>
          <a:p>
            <a:pPr algn="ctr" indent="0" marL="0">
              <a:buNone/>
            </a:pPr>
            <a:r>
              <a:rPr lang="en-US" sz="1400" b="1" dirty="0">
                <a:solidFill>
                  <a:srgbClr val="333333"/>
                </a:solidFill>
                <a:latin typeface="Calibri" pitchFamily="34" charset="0"/>
                <a:ea typeface="Calibri" pitchFamily="34" charset="-122"/>
                <a:cs typeface="Calibri" pitchFamily="34" charset="-120"/>
              </a:rPr>
              <a:t>対象面の抽出</a:t>
            </a:r>
            <a:endParaRPr lang="en-US" sz="1400" dirty="0"/>
          </a:p>
        </p:txBody>
      </p:sp>
      <p:sp>
        <p:nvSpPr>
          <p:cNvPr id="11" name="Text 9"/>
          <p:cNvSpPr/>
          <p:nvPr/>
        </p:nvSpPr>
        <p:spPr>
          <a:xfrm>
            <a:off x="2953512" y="2880360"/>
            <a:ext cx="1920240" cy="1188720"/>
          </a:xfrm>
          <a:prstGeom prst="rect">
            <a:avLst/>
          </a:prstGeom>
          <a:noFill/>
          <a:ln/>
        </p:spPr>
        <p:txBody>
          <a:bodyPr wrap="square" lIns="0" tIns="0" rIns="0" bIns="0" rtlCol="0" anchor="ctr"/>
          <a:lstStyle/>
          <a:p>
            <a:pPr algn="ctr" indent="0" marL="0">
              <a:buNone/>
            </a:pPr>
            <a:r>
              <a:rPr lang="en-US" sz="1100" dirty="0">
                <a:solidFill>
                  <a:srgbClr val="333333"/>
                </a:solidFill>
                <a:latin typeface="Calibri" pitchFamily="34" charset="0"/>
                <a:ea typeface="Calibri" pitchFamily="34" charset="-122"/>
                <a:cs typeface="Calibri" pitchFamily="34" charset="-120"/>
              </a:rPr>
              <a:t>縄目文様のある面だけを</a:t>
            </a:r>
            <a:endParaRPr lang="en-US" sz="1100" dirty="0"/>
          </a:p>
          <a:p>
            <a:pPr algn="ctr" indent="0" marL="0">
              <a:buNone/>
            </a:pPr>
            <a:r>
              <a:rPr lang="en-US" sz="1100" dirty="0">
                <a:solidFill>
                  <a:srgbClr val="333333"/>
                </a:solidFill>
                <a:latin typeface="Calibri" pitchFamily="34" charset="0"/>
                <a:ea typeface="Calibri" pitchFamily="34" charset="-122"/>
                <a:cs typeface="Calibri" pitchFamily="34" charset="-120"/>
              </a:rPr>
              <a:t>選び出す</a:t>
            </a:r>
            <a:endParaRPr lang="en-US" sz="1100" dirty="0"/>
          </a:p>
        </p:txBody>
      </p:sp>
      <p:sp>
        <p:nvSpPr>
          <p:cNvPr id="12" name="Text 10"/>
          <p:cNvSpPr/>
          <p:nvPr/>
        </p:nvSpPr>
        <p:spPr>
          <a:xfrm>
            <a:off x="4928616" y="2788920"/>
            <a:ext cx="365760" cy="457200"/>
          </a:xfrm>
          <a:prstGeom prst="rect">
            <a:avLst/>
          </a:prstGeom>
          <a:noFill/>
          <a:ln/>
        </p:spPr>
        <p:txBody>
          <a:bodyPr wrap="square" lIns="0" tIns="0" rIns="0" bIns="0" rtlCol="0" anchor="ctr"/>
          <a:lstStyle/>
          <a:p>
            <a:pPr algn="ctr" indent="0" marL="0">
              <a:buNone/>
            </a:pPr>
            <a:r>
              <a:rPr lang="en-US" sz="2000" b="1" dirty="0">
                <a:solidFill>
                  <a:srgbClr val="7A6A62"/>
                </a:solidFill>
                <a:latin typeface="Calibri" pitchFamily="34" charset="0"/>
                <a:ea typeface="Calibri" pitchFamily="34" charset="-122"/>
                <a:cs typeface="Calibri" pitchFamily="34" charset="-120"/>
              </a:rPr>
              <a:t>→</a:t>
            </a:r>
            <a:endParaRPr lang="en-US" sz="2000" dirty="0"/>
          </a:p>
        </p:txBody>
      </p:sp>
      <p:sp>
        <p:nvSpPr>
          <p:cNvPr id="13" name="Shape 11"/>
          <p:cNvSpPr/>
          <p:nvPr/>
        </p:nvSpPr>
        <p:spPr>
          <a:xfrm>
            <a:off x="5221224" y="1828800"/>
            <a:ext cx="2103120" cy="2377440"/>
          </a:xfrm>
          <a:prstGeom prst="roundRect">
            <a:avLst>
              <a:gd name="adj" fmla="val 4348"/>
            </a:avLst>
          </a:prstGeom>
          <a:solidFill>
            <a:srgbClr val="E7E8D1"/>
          </a:solidFill>
          <a:ln/>
        </p:spPr>
      </p:sp>
      <p:sp>
        <p:nvSpPr>
          <p:cNvPr id="14" name="Text 12"/>
          <p:cNvSpPr/>
          <p:nvPr/>
        </p:nvSpPr>
        <p:spPr>
          <a:xfrm>
            <a:off x="5221224" y="1965960"/>
            <a:ext cx="2103120" cy="457200"/>
          </a:xfrm>
          <a:prstGeom prst="rect">
            <a:avLst/>
          </a:prstGeom>
          <a:noFill/>
          <a:ln/>
        </p:spPr>
        <p:txBody>
          <a:bodyPr wrap="square" lIns="0" tIns="0" rIns="0" bIns="0" rtlCol="0" anchor="ctr"/>
          <a:lstStyle/>
          <a:p>
            <a:pPr algn="ctr" indent="0" marL="0">
              <a:buNone/>
            </a:pPr>
            <a:r>
              <a:rPr lang="en-US" sz="2200" b="1" dirty="0">
                <a:solidFill>
                  <a:srgbClr val="B85042"/>
                </a:solidFill>
                <a:latin typeface="Cambria" pitchFamily="34" charset="0"/>
                <a:ea typeface="Cambria" pitchFamily="34" charset="-122"/>
                <a:cs typeface="Cambria" pitchFamily="34" charset="-120"/>
              </a:rPr>
              <a:t>M3</a:t>
            </a:r>
            <a:endParaRPr lang="en-US" sz="2200" dirty="0"/>
          </a:p>
        </p:txBody>
      </p:sp>
      <p:sp>
        <p:nvSpPr>
          <p:cNvPr id="15" name="Text 13"/>
          <p:cNvSpPr/>
          <p:nvPr/>
        </p:nvSpPr>
        <p:spPr>
          <a:xfrm>
            <a:off x="5221224" y="2468880"/>
            <a:ext cx="2103120" cy="365760"/>
          </a:xfrm>
          <a:prstGeom prst="rect">
            <a:avLst/>
          </a:prstGeom>
          <a:noFill/>
          <a:ln/>
        </p:spPr>
        <p:txBody>
          <a:bodyPr wrap="square" lIns="0" tIns="0" rIns="0" bIns="0" rtlCol="0" anchor="ctr"/>
          <a:lstStyle/>
          <a:p>
            <a:pPr algn="ctr" indent="0" marL="0">
              <a:buNone/>
            </a:pPr>
            <a:r>
              <a:rPr lang="en-US" sz="1400" b="1" dirty="0">
                <a:solidFill>
                  <a:srgbClr val="333333"/>
                </a:solidFill>
                <a:latin typeface="Calibri" pitchFamily="34" charset="0"/>
                <a:ea typeface="Calibri" pitchFamily="34" charset="-122"/>
                <a:cs typeface="Calibri" pitchFamily="34" charset="-120"/>
              </a:rPr>
              <a:t>2D画像化</a:t>
            </a:r>
            <a:endParaRPr lang="en-US" sz="1400" dirty="0"/>
          </a:p>
        </p:txBody>
      </p:sp>
      <p:sp>
        <p:nvSpPr>
          <p:cNvPr id="16" name="Text 14"/>
          <p:cNvSpPr/>
          <p:nvPr/>
        </p:nvSpPr>
        <p:spPr>
          <a:xfrm>
            <a:off x="5312664" y="2880360"/>
            <a:ext cx="1920240" cy="1188720"/>
          </a:xfrm>
          <a:prstGeom prst="rect">
            <a:avLst/>
          </a:prstGeom>
          <a:noFill/>
          <a:ln/>
        </p:spPr>
        <p:txBody>
          <a:bodyPr wrap="square" lIns="0" tIns="0" rIns="0" bIns="0" rtlCol="0" anchor="ctr"/>
          <a:lstStyle/>
          <a:p>
            <a:pPr algn="ctr" indent="0" marL="0">
              <a:buNone/>
            </a:pPr>
            <a:r>
              <a:rPr lang="en-US" sz="1100" dirty="0">
                <a:solidFill>
                  <a:srgbClr val="333333"/>
                </a:solidFill>
                <a:latin typeface="Calibri" pitchFamily="34" charset="0"/>
                <a:ea typeface="Calibri" pitchFamily="34" charset="-122"/>
                <a:cs typeface="Calibri" pitchFamily="34" charset="-120"/>
              </a:rPr>
              <a:t>表面の凹凸を</a:t>
            </a:r>
            <a:endParaRPr lang="en-US" sz="1100" dirty="0"/>
          </a:p>
          <a:p>
            <a:pPr algn="ctr" indent="0" marL="0">
              <a:buNone/>
            </a:pPr>
            <a:r>
              <a:rPr lang="en-US" sz="1100" dirty="0">
                <a:solidFill>
                  <a:srgbClr val="333333"/>
                </a:solidFill>
                <a:latin typeface="Calibri" pitchFamily="34" charset="0"/>
                <a:ea typeface="Calibri" pitchFamily="34" charset="-122"/>
                <a:cs typeface="Calibri" pitchFamily="34" charset="-120"/>
              </a:rPr>
              <a:t>2次元画像に変換する</a:t>
            </a:r>
            <a:endParaRPr lang="en-US" sz="1100" dirty="0"/>
          </a:p>
        </p:txBody>
      </p:sp>
      <p:sp>
        <p:nvSpPr>
          <p:cNvPr id="17" name="Text 15"/>
          <p:cNvSpPr/>
          <p:nvPr/>
        </p:nvSpPr>
        <p:spPr>
          <a:xfrm>
            <a:off x="7287768" y="2788920"/>
            <a:ext cx="365760" cy="457200"/>
          </a:xfrm>
          <a:prstGeom prst="rect">
            <a:avLst/>
          </a:prstGeom>
          <a:noFill/>
          <a:ln/>
        </p:spPr>
        <p:txBody>
          <a:bodyPr wrap="square" lIns="0" tIns="0" rIns="0" bIns="0" rtlCol="0" anchor="ctr"/>
          <a:lstStyle/>
          <a:p>
            <a:pPr algn="ctr" indent="0" marL="0">
              <a:buNone/>
            </a:pPr>
            <a:r>
              <a:rPr lang="en-US" sz="2000" b="1" dirty="0">
                <a:solidFill>
                  <a:srgbClr val="7A6A62"/>
                </a:solidFill>
                <a:latin typeface="Calibri" pitchFamily="34" charset="0"/>
                <a:ea typeface="Calibri" pitchFamily="34" charset="-122"/>
                <a:cs typeface="Calibri" pitchFamily="34" charset="-120"/>
              </a:rPr>
              <a:t>→</a:t>
            </a:r>
            <a:endParaRPr lang="en-US" sz="2000" dirty="0"/>
          </a:p>
        </p:txBody>
      </p:sp>
      <p:sp>
        <p:nvSpPr>
          <p:cNvPr id="18" name="Shape 16"/>
          <p:cNvSpPr/>
          <p:nvPr/>
        </p:nvSpPr>
        <p:spPr>
          <a:xfrm>
            <a:off x="7580376" y="1828800"/>
            <a:ext cx="2103120" cy="2377440"/>
          </a:xfrm>
          <a:prstGeom prst="roundRect">
            <a:avLst>
              <a:gd name="adj" fmla="val 4348"/>
            </a:avLst>
          </a:prstGeom>
          <a:solidFill>
            <a:srgbClr val="E7E8D1"/>
          </a:solidFill>
          <a:ln/>
        </p:spPr>
      </p:sp>
      <p:sp>
        <p:nvSpPr>
          <p:cNvPr id="19" name="Text 17"/>
          <p:cNvSpPr/>
          <p:nvPr/>
        </p:nvSpPr>
        <p:spPr>
          <a:xfrm>
            <a:off x="7580376" y="1965960"/>
            <a:ext cx="2103120" cy="457200"/>
          </a:xfrm>
          <a:prstGeom prst="rect">
            <a:avLst/>
          </a:prstGeom>
          <a:noFill/>
          <a:ln/>
        </p:spPr>
        <p:txBody>
          <a:bodyPr wrap="square" lIns="0" tIns="0" rIns="0" bIns="0" rtlCol="0" anchor="ctr"/>
          <a:lstStyle/>
          <a:p>
            <a:pPr algn="ctr" indent="0" marL="0">
              <a:buNone/>
            </a:pPr>
            <a:r>
              <a:rPr lang="en-US" sz="2200" b="1" dirty="0">
                <a:solidFill>
                  <a:srgbClr val="B85042"/>
                </a:solidFill>
                <a:latin typeface="Cambria" pitchFamily="34" charset="0"/>
                <a:ea typeface="Cambria" pitchFamily="34" charset="-122"/>
                <a:cs typeface="Cambria" pitchFamily="34" charset="-120"/>
              </a:rPr>
              <a:t>M4</a:t>
            </a:r>
            <a:endParaRPr lang="en-US" sz="2200" dirty="0"/>
          </a:p>
        </p:txBody>
      </p:sp>
      <p:sp>
        <p:nvSpPr>
          <p:cNvPr id="20" name="Text 18"/>
          <p:cNvSpPr/>
          <p:nvPr/>
        </p:nvSpPr>
        <p:spPr>
          <a:xfrm>
            <a:off x="7580376" y="2468880"/>
            <a:ext cx="2103120" cy="365760"/>
          </a:xfrm>
          <a:prstGeom prst="rect">
            <a:avLst/>
          </a:prstGeom>
          <a:noFill/>
          <a:ln/>
        </p:spPr>
        <p:txBody>
          <a:bodyPr wrap="square" lIns="0" tIns="0" rIns="0" bIns="0" rtlCol="0" anchor="ctr"/>
          <a:lstStyle/>
          <a:p>
            <a:pPr algn="ctr" indent="0" marL="0">
              <a:buNone/>
            </a:pPr>
            <a:r>
              <a:rPr lang="en-US" sz="1400" b="1" dirty="0">
                <a:solidFill>
                  <a:srgbClr val="333333"/>
                </a:solidFill>
                <a:latin typeface="Calibri" pitchFamily="34" charset="0"/>
                <a:ea typeface="Calibri" pitchFamily="34" charset="-122"/>
                <a:cs typeface="Calibri" pitchFamily="34" charset="-120"/>
              </a:rPr>
              <a:t>周期の計測</a:t>
            </a:r>
            <a:endParaRPr lang="en-US" sz="1400" dirty="0"/>
          </a:p>
        </p:txBody>
      </p:sp>
      <p:sp>
        <p:nvSpPr>
          <p:cNvPr id="21" name="Text 19"/>
          <p:cNvSpPr/>
          <p:nvPr/>
        </p:nvSpPr>
        <p:spPr>
          <a:xfrm>
            <a:off x="7671816" y="2880360"/>
            <a:ext cx="1920240" cy="1188720"/>
          </a:xfrm>
          <a:prstGeom prst="rect">
            <a:avLst/>
          </a:prstGeom>
          <a:noFill/>
          <a:ln/>
        </p:spPr>
        <p:txBody>
          <a:bodyPr wrap="square" lIns="0" tIns="0" rIns="0" bIns="0" rtlCol="0" anchor="ctr"/>
          <a:lstStyle/>
          <a:p>
            <a:pPr algn="ctr" indent="0" marL="0">
              <a:buNone/>
            </a:pPr>
            <a:r>
              <a:rPr lang="en-US" sz="1100" dirty="0">
                <a:solidFill>
                  <a:srgbClr val="333333"/>
                </a:solidFill>
                <a:latin typeface="Calibri" pitchFamily="34" charset="0"/>
                <a:ea typeface="Calibri" pitchFamily="34" charset="-122"/>
                <a:cs typeface="Calibri" pitchFamily="34" charset="-120"/>
              </a:rPr>
              <a:t>文様の繰り返しの</a:t>
            </a:r>
            <a:endParaRPr lang="en-US" sz="1100" dirty="0"/>
          </a:p>
          <a:p>
            <a:pPr algn="ctr" indent="0" marL="0">
              <a:buNone/>
            </a:pPr>
            <a:r>
              <a:rPr lang="en-US" sz="1100" dirty="0">
                <a:solidFill>
                  <a:srgbClr val="333333"/>
                </a:solidFill>
                <a:latin typeface="Calibri" pitchFamily="34" charset="0"/>
                <a:ea typeface="Calibri" pitchFamily="34" charset="-122"/>
                <a:cs typeface="Calibri" pitchFamily="34" charset="-120"/>
              </a:rPr>
              <a:t>間隔と向きを計測する</a:t>
            </a:r>
            <a:endParaRPr lang="en-US" sz="1100" dirty="0"/>
          </a:p>
        </p:txBody>
      </p:sp>
      <p:sp>
        <p:nvSpPr>
          <p:cNvPr id="22" name="Text 20"/>
          <p:cNvSpPr/>
          <p:nvPr/>
        </p:nvSpPr>
        <p:spPr>
          <a:xfrm>
            <a:off x="9646920" y="2788920"/>
            <a:ext cx="365760" cy="457200"/>
          </a:xfrm>
          <a:prstGeom prst="rect">
            <a:avLst/>
          </a:prstGeom>
          <a:noFill/>
          <a:ln/>
        </p:spPr>
        <p:txBody>
          <a:bodyPr wrap="square" lIns="0" tIns="0" rIns="0" bIns="0" rtlCol="0" anchor="ctr"/>
          <a:lstStyle/>
          <a:p>
            <a:pPr algn="ctr" indent="0" marL="0">
              <a:buNone/>
            </a:pPr>
            <a:r>
              <a:rPr lang="en-US" sz="2000" b="1" dirty="0">
                <a:solidFill>
                  <a:srgbClr val="7A6A62"/>
                </a:solidFill>
                <a:latin typeface="Calibri" pitchFamily="34" charset="0"/>
                <a:ea typeface="Calibri" pitchFamily="34" charset="-122"/>
                <a:cs typeface="Calibri" pitchFamily="34" charset="-120"/>
              </a:rPr>
              <a:t>→</a:t>
            </a:r>
            <a:endParaRPr lang="en-US" sz="2000" dirty="0"/>
          </a:p>
        </p:txBody>
      </p:sp>
      <p:sp>
        <p:nvSpPr>
          <p:cNvPr id="23" name="Shape 21"/>
          <p:cNvSpPr/>
          <p:nvPr/>
        </p:nvSpPr>
        <p:spPr>
          <a:xfrm>
            <a:off x="9939528" y="1828800"/>
            <a:ext cx="2103120" cy="2377440"/>
          </a:xfrm>
          <a:prstGeom prst="roundRect">
            <a:avLst>
              <a:gd name="adj" fmla="val 4348"/>
            </a:avLst>
          </a:prstGeom>
          <a:solidFill>
            <a:srgbClr val="B85042"/>
          </a:solidFill>
          <a:ln/>
        </p:spPr>
      </p:sp>
      <p:sp>
        <p:nvSpPr>
          <p:cNvPr id="24" name="Text 22"/>
          <p:cNvSpPr/>
          <p:nvPr/>
        </p:nvSpPr>
        <p:spPr>
          <a:xfrm>
            <a:off x="9939528" y="1965960"/>
            <a:ext cx="2103120" cy="457200"/>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M5</a:t>
            </a:r>
            <a:endParaRPr lang="en-US" sz="2200" dirty="0"/>
          </a:p>
        </p:txBody>
      </p:sp>
      <p:sp>
        <p:nvSpPr>
          <p:cNvPr id="25" name="Text 23"/>
          <p:cNvSpPr/>
          <p:nvPr/>
        </p:nvSpPr>
        <p:spPr>
          <a:xfrm>
            <a:off x="9939528" y="2468880"/>
            <a:ext cx="2103120" cy="36576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回転の検出</a:t>
            </a:r>
            <a:endParaRPr lang="en-US" sz="1400" dirty="0"/>
          </a:p>
        </p:txBody>
      </p:sp>
      <p:sp>
        <p:nvSpPr>
          <p:cNvPr id="26" name="Text 24"/>
          <p:cNvSpPr/>
          <p:nvPr/>
        </p:nvSpPr>
        <p:spPr>
          <a:xfrm>
            <a:off x="10030968" y="2880360"/>
            <a:ext cx="1920240" cy="1188720"/>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縄1回転分の</a:t>
            </a:r>
            <a:endParaRPr lang="en-US" sz="1100" dirty="0"/>
          </a:p>
          <a:p>
            <a:pPr algn="ctr" indent="0" marL="0">
              <a:buNone/>
            </a:pPr>
            <a:r>
              <a:rPr lang="en-US" sz="1100" dirty="0">
                <a:solidFill>
                  <a:srgbClr val="FFFFFF"/>
                </a:solidFill>
                <a:latin typeface="Calibri" pitchFamily="34" charset="0"/>
                <a:ea typeface="Calibri" pitchFamily="34" charset="-122"/>
                <a:cs typeface="Calibri" pitchFamily="34" charset="-120"/>
              </a:rPr>
              <a:t>区切り位置を検出する</a:t>
            </a:r>
            <a:endParaRPr lang="en-US" sz="1100" dirty="0"/>
          </a:p>
        </p:txBody>
      </p:sp>
      <p:sp>
        <p:nvSpPr>
          <p:cNvPr id="27" name="Text 25"/>
          <p:cNvSpPr/>
          <p:nvPr/>
        </p:nvSpPr>
        <p:spPr>
          <a:xfrm>
            <a:off x="640080" y="4663440"/>
            <a:ext cx="10972800" cy="1280160"/>
          </a:xfrm>
          <a:prstGeom prst="rect">
            <a:avLst/>
          </a:prstGeom>
          <a:noFill/>
          <a:ln/>
        </p:spPr>
        <p:txBody>
          <a:bodyPr wrap="square" rtlCol="0" anchor="ctr"/>
          <a:lstStyle/>
          <a:p>
            <a:pPr marL="342900" indent="-342900">
              <a:spcAft>
                <a:spcPts val="800"/>
              </a:spcAft>
              <a:buSzPct val="100000"/>
              <a:buChar char="•"/>
            </a:pPr>
            <a:r>
              <a:rPr lang="en-US" sz="1500" dirty="0">
                <a:solidFill>
                  <a:srgbClr val="333333"/>
                </a:solidFill>
                <a:latin typeface="Calibri" pitchFamily="34" charset="0"/>
                <a:ea typeface="Calibri" pitchFamily="34" charset="-122"/>
                <a:cs typeface="Calibri" pitchFamily="34" charset="-120"/>
              </a:rPr>
              <a:t>3次元の形状 → 2次元の画像 → 1次元の波形へと、段階的に単純なデータへ変換しながら計測する構成。</a:t>
            </a:r>
            <a:endParaRPr lang="en-US" sz="1500" dirty="0"/>
          </a:p>
          <a:p>
            <a:pPr marL="342900" indent="-342900">
              <a:buSzPct val="100000"/>
              <a:buChar char="•"/>
            </a:pPr>
            <a:r>
              <a:rPr lang="en-US" sz="1500" dirty="0">
                <a:solidFill>
                  <a:srgbClr val="333333"/>
                </a:solidFill>
                <a:latin typeface="Calibri" pitchFamily="34" charset="0"/>
                <a:ea typeface="Calibri" pitchFamily="34" charset="-122"/>
                <a:cs typeface="Calibri" pitchFamily="34" charset="-120"/>
              </a:rPr>
              <a:t>全段階を実装済みであり、正解が既知のテストデータで正しく計測できることを確認している。</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20040"/>
            <a:ext cx="11064240" cy="731520"/>
          </a:xfrm>
          <a:prstGeom prst="rect">
            <a:avLst/>
          </a:prstGeom>
          <a:noFill/>
          <a:ln/>
        </p:spPr>
        <p:txBody>
          <a:bodyPr wrap="square" lIns="0" tIns="0" rIns="0" bIns="0" rtlCol="0" anchor="ctr"/>
          <a:lstStyle/>
          <a:p>
            <a:pPr indent="0" marL="0">
              <a:buNone/>
            </a:pPr>
            <a:r>
              <a:rPr lang="en-US" sz="3000" b="1" dirty="0">
                <a:solidFill>
                  <a:srgbClr val="333333"/>
                </a:solidFill>
                <a:latin typeface="Cambria" pitchFamily="34" charset="0"/>
                <a:ea typeface="Cambria" pitchFamily="34" charset="-122"/>
                <a:cs typeface="Cambria" pitchFamily="34" charset="-120"/>
              </a:rPr>
              <a:t>本研究の新規性: 縄1回転分の区切り位置の自動検出</a:t>
            </a:r>
            <a:endParaRPr lang="en-US" sz="3000" dirty="0"/>
          </a:p>
        </p:txBody>
      </p:sp>
      <p:sp>
        <p:nvSpPr>
          <p:cNvPr id="3" name="Text 1"/>
          <p:cNvSpPr/>
          <p:nvPr/>
        </p:nvSpPr>
        <p:spPr>
          <a:xfrm>
            <a:off x="548640" y="1371600"/>
            <a:ext cx="6035040" cy="2377440"/>
          </a:xfrm>
          <a:prstGeom prst="rect">
            <a:avLst/>
          </a:prstGeom>
          <a:noFill/>
          <a:ln/>
        </p:spPr>
        <p:txBody>
          <a:bodyPr wrap="square" rtlCol="0" anchor="ctr"/>
          <a:lstStyle/>
          <a:p>
            <a:pPr marL="342900" indent="-342900">
              <a:spcAft>
                <a:spcPts val="800"/>
              </a:spcAft>
              <a:buSzPct val="100000"/>
              <a:buChar char="•"/>
            </a:pPr>
            <a:r>
              <a:rPr lang="en-US" sz="1450" dirty="0">
                <a:solidFill>
                  <a:srgbClr val="333333"/>
                </a:solidFill>
                <a:latin typeface="Calibri" pitchFamily="34" charset="0"/>
                <a:ea typeface="Calibri" pitchFamily="34" charset="-122"/>
                <a:cs typeface="Calibri" pitchFamily="34" charset="-120"/>
              </a:rPr>
              <a:t>縄は1回転するごとに同一の文様を繰り返す。この「同じ文様が再び現れる位置」を自動で検出する。</a:t>
            </a:r>
            <a:endParaRPr lang="en-US" sz="1450" dirty="0"/>
          </a:p>
          <a:p>
            <a:pPr marL="342900" indent="-342900">
              <a:spcAft>
                <a:spcPts val="800"/>
              </a:spcAft>
              <a:buSzPct val="100000"/>
              <a:buChar char="•"/>
            </a:pPr>
            <a:r>
              <a:rPr lang="en-US" sz="1450" dirty="0">
                <a:solidFill>
                  <a:srgbClr val="333333"/>
                </a:solidFill>
                <a:latin typeface="Calibri" pitchFamily="34" charset="0"/>
                <a:ea typeface="Calibri" pitchFamily="34" charset="-122"/>
                <a:cs typeface="Calibri" pitchFamily="34" charset="-120"/>
              </a:rPr>
              <a:t>画像を少しずつずらして重ね合わせ、最も一致するずらし幅を求めることで、縄1回転分の長さを推定する。</a:t>
            </a:r>
            <a:endParaRPr lang="en-US" sz="1450" dirty="0"/>
          </a:p>
          <a:p>
            <a:pPr marL="342900" indent="-342900">
              <a:spcAft>
                <a:spcPts val="800"/>
              </a:spcAft>
              <a:buSzPct val="100000"/>
              <a:buChar char="•"/>
            </a:pPr>
            <a:r>
              <a:rPr lang="en-US" sz="1450" dirty="0">
                <a:solidFill>
                  <a:srgbClr val="333333"/>
                </a:solidFill>
                <a:latin typeface="Calibri" pitchFamily="34" charset="0"/>
                <a:ea typeface="Calibri" pitchFamily="34" charset="-122"/>
                <a:cs typeface="Calibri" pitchFamily="34" charset="-120"/>
              </a:rPr>
              <a:t>検出した区切り位置は、元の3Dデータ上の座標として出力する。</a:t>
            </a:r>
            <a:endParaRPr lang="en-US" sz="1450" dirty="0"/>
          </a:p>
          <a:p>
            <a:pPr marL="342900" indent="-342900">
              <a:buSzPct val="100000"/>
              <a:buChar char="•"/>
            </a:pPr>
            <a:r>
              <a:rPr lang="en-US" sz="1450" dirty="0">
                <a:solidFill>
                  <a:srgbClr val="333333"/>
                </a:solidFill>
                <a:latin typeface="Calibri" pitchFamily="34" charset="0"/>
                <a:ea typeface="Calibri" pitchFamily="34" charset="-122"/>
                <a:cs typeface="Calibri" pitchFamily="34" charset="-120"/>
              </a:rPr>
              <a:t>土器表面の曲率には、局所的に平面とみなす近似で対応している。</a:t>
            </a:r>
            <a:endParaRPr lang="en-US" sz="1450" dirty="0"/>
          </a:p>
        </p:txBody>
      </p:sp>
      <p:sp>
        <p:nvSpPr>
          <p:cNvPr id="4" name="Shape 2"/>
          <p:cNvSpPr/>
          <p:nvPr/>
        </p:nvSpPr>
        <p:spPr>
          <a:xfrm>
            <a:off x="548640" y="3931920"/>
            <a:ext cx="6035040" cy="2194560"/>
          </a:xfrm>
          <a:prstGeom prst="roundRect">
            <a:avLst>
              <a:gd name="adj" fmla="val 4167"/>
            </a:avLst>
          </a:prstGeom>
          <a:solidFill>
            <a:srgbClr val="3B2A26"/>
          </a:solidFill>
          <a:ln/>
        </p:spPr>
      </p:sp>
      <p:sp>
        <p:nvSpPr>
          <p:cNvPr id="5" name="Text 3"/>
          <p:cNvSpPr/>
          <p:nvPr/>
        </p:nvSpPr>
        <p:spPr>
          <a:xfrm>
            <a:off x="822960" y="4114800"/>
            <a:ext cx="5486400" cy="365760"/>
          </a:xfrm>
          <a:prstGeom prst="rect">
            <a:avLst/>
          </a:prstGeom>
          <a:noFill/>
          <a:ln/>
        </p:spPr>
        <p:txBody>
          <a:bodyPr wrap="square" lIns="0" tIns="0" rIns="0" bIns="0" rtlCol="0" anchor="ctr"/>
          <a:lstStyle/>
          <a:p>
            <a:pPr indent="0" marL="0">
              <a:buNone/>
            </a:pPr>
            <a:r>
              <a:rPr lang="en-US" sz="1400" b="1" dirty="0">
                <a:solidFill>
                  <a:srgbClr val="E7E8D1"/>
                </a:solidFill>
                <a:latin typeface="Cambria" pitchFamily="34" charset="0"/>
                <a:ea typeface="Cambria" pitchFamily="34" charset="-122"/>
                <a:cs typeface="Cambria" pitchFamily="34" charset="-120"/>
              </a:rPr>
              <a:t>テストデータによる検証結果</a:t>
            </a:r>
            <a:endParaRPr lang="en-US" sz="1400" dirty="0"/>
          </a:p>
        </p:txBody>
      </p:sp>
      <p:sp>
        <p:nvSpPr>
          <p:cNvPr id="6" name="Text 4"/>
          <p:cNvSpPr/>
          <p:nvPr/>
        </p:nvSpPr>
        <p:spPr>
          <a:xfrm>
            <a:off x="822960" y="4572000"/>
            <a:ext cx="5486400" cy="1463040"/>
          </a:xfrm>
          <a:prstGeom prst="rect">
            <a:avLst/>
          </a:prstGeom>
          <a:noFill/>
          <a:ln/>
        </p:spPr>
        <p:txBody>
          <a:bodyPr wrap="square" rtlCol="0" anchor="ctr"/>
          <a:lstStyle/>
          <a:p>
            <a:pPr marL="342900" indent="-342900">
              <a:spcAft>
                <a:spcPts val="600"/>
              </a:spcAft>
              <a:buSzPct val="100000"/>
              <a:buChar char="•"/>
            </a:pPr>
            <a:r>
              <a:rPr lang="en-US" sz="1300" dirty="0">
                <a:solidFill>
                  <a:srgbClr val="FFFFFF"/>
                </a:solidFill>
                <a:latin typeface="Calibri" pitchFamily="34" charset="0"/>
                <a:ea typeface="Calibri" pitchFamily="34" charset="-122"/>
                <a:cs typeface="Calibri" pitchFamily="34" charset="-120"/>
              </a:rPr>
              <a:t>既知の正解に対する誤差は 2% 未満</a:t>
            </a:r>
            <a:endParaRPr lang="en-US" sz="1300" dirty="0"/>
          </a:p>
          <a:p>
            <a:pPr marL="342900" indent="-342900">
              <a:spcAft>
                <a:spcPts val="600"/>
              </a:spcAft>
              <a:buSzPct val="100000"/>
              <a:buChar char="•"/>
            </a:pPr>
            <a:r>
              <a:rPr lang="en-US" sz="1300" dirty="0">
                <a:solidFill>
                  <a:srgbClr val="FFFFFF"/>
                </a:solidFill>
                <a:latin typeface="Calibri" pitchFamily="34" charset="0"/>
                <a:ea typeface="Calibri" pitchFamily="34" charset="-122"/>
                <a:cs typeface="Calibri" pitchFamily="34" charset="-120"/>
              </a:rPr>
              <a:t>データの20%が欠損していても精度を維持</a:t>
            </a:r>
            <a:endParaRPr lang="en-US" sz="1300" dirty="0"/>
          </a:p>
          <a:p>
            <a:pPr marL="342900" indent="-342900">
              <a:buSzPct val="100000"/>
              <a:buChar char="•"/>
            </a:pPr>
            <a:r>
              <a:rPr lang="en-US" sz="1300" dirty="0">
                <a:solidFill>
                  <a:srgbClr val="FFFFFF"/>
                </a:solidFill>
                <a:latin typeface="Calibri" pitchFamily="34" charset="0"/>
                <a:ea typeface="Calibri" pitchFamily="34" charset="-122"/>
                <a:cs typeface="Calibri" pitchFamily="34" charset="-120"/>
              </a:rPr>
              <a:t>16件のテストすべてに合格</a:t>
            </a:r>
            <a:endParaRPr lang="en-US" sz="1300" dirty="0"/>
          </a:p>
        </p:txBody>
      </p:sp>
      <p:pic>
        <p:nvPicPr>
          <p:cNvPr id="7" name="Image 0" descr="/Users/ryusan/brain/02_Raw/土器3（同巡点）.png">    </p:cNvPr>
          <p:cNvPicPr>
            <a:picLocks noChangeAspect="1"/>
          </p:cNvPicPr>
          <p:nvPr/>
        </p:nvPicPr>
        <p:blipFill>
          <a:blip r:embed="rId1"/>
          <a:stretch>
            <a:fillRect/>
          </a:stretch>
        </p:blipFill>
        <p:spPr>
          <a:xfrm>
            <a:off x="7040880" y="1463040"/>
            <a:ext cx="4572000" cy="3236976"/>
          </a:xfrm>
          <a:prstGeom prst="rect">
            <a:avLst/>
          </a:prstGeom>
        </p:spPr>
      </p:pic>
      <p:sp>
        <p:nvSpPr>
          <p:cNvPr id="8" name="Text 5"/>
          <p:cNvSpPr/>
          <p:nvPr/>
        </p:nvSpPr>
        <p:spPr>
          <a:xfrm>
            <a:off x="7040880" y="4800600"/>
            <a:ext cx="4572000" cy="320040"/>
          </a:xfrm>
          <a:prstGeom prst="rect">
            <a:avLst/>
          </a:prstGeom>
          <a:noFill/>
          <a:ln/>
        </p:spPr>
        <p:txBody>
          <a:bodyPr wrap="square" lIns="0" tIns="0" rIns="0" bIns="0" rtlCol="0" anchor="ctr"/>
          <a:lstStyle/>
          <a:p>
            <a:pPr indent="0" marL="0">
              <a:buNone/>
            </a:pPr>
            <a:r>
              <a:rPr lang="en-US" sz="1100" dirty="0">
                <a:solidFill>
                  <a:srgbClr val="7A6A62"/>
                </a:solidFill>
                <a:latin typeface="Calibri" pitchFamily="34" charset="0"/>
                <a:ea typeface="Calibri" pitchFamily="34" charset="-122"/>
                <a:cs typeface="Calibri" pitchFamily="34" charset="-120"/>
              </a:rPr>
              <a:t>図2: 黒点は目視で付与された「縄1回転分の区切り」の位置</a:t>
            </a:r>
            <a:endParaRPr lang="en-US" sz="11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20040"/>
            <a:ext cx="11064240" cy="731520"/>
          </a:xfrm>
          <a:prstGeom prst="rect">
            <a:avLst/>
          </a:prstGeom>
          <a:noFill/>
          <a:ln/>
        </p:spPr>
        <p:txBody>
          <a:bodyPr wrap="square" lIns="0" tIns="0" rIns="0" bIns="0" rtlCol="0" anchor="ctr"/>
          <a:lstStyle/>
          <a:p>
            <a:pPr indent="0" marL="0">
              <a:buNone/>
            </a:pPr>
            <a:r>
              <a:rPr lang="en-US" sz="3000" b="1" dirty="0">
                <a:solidFill>
                  <a:srgbClr val="333333"/>
                </a:solidFill>
                <a:latin typeface="Cambria" pitchFamily="34" charset="0"/>
                <a:ea typeface="Cambria" pitchFamily="34" charset="-122"/>
                <a:cs typeface="Cambria" pitchFamily="34" charset="-120"/>
              </a:rPr>
              <a:t>実データでの計測結果と今後の課題</a:t>
            </a:r>
            <a:endParaRPr lang="en-US" sz="3000" dirty="0"/>
          </a:p>
        </p:txBody>
      </p:sp>
      <p:sp>
        <p:nvSpPr>
          <p:cNvPr id="3" name="Text 1"/>
          <p:cNvSpPr/>
          <p:nvPr/>
        </p:nvSpPr>
        <p:spPr>
          <a:xfrm>
            <a:off x="548640" y="1325880"/>
            <a:ext cx="5943600" cy="365760"/>
          </a:xfrm>
          <a:prstGeom prst="rect">
            <a:avLst/>
          </a:prstGeom>
          <a:noFill/>
          <a:ln/>
        </p:spPr>
        <p:txBody>
          <a:bodyPr wrap="square" lIns="0" tIns="0" rIns="0" bIns="0" rtlCol="0" anchor="ctr"/>
          <a:lstStyle/>
          <a:p>
            <a:pPr indent="0" marL="0">
              <a:buNone/>
            </a:pPr>
            <a:r>
              <a:rPr lang="en-US" sz="1600" b="1" dirty="0">
                <a:solidFill>
                  <a:srgbClr val="B85042"/>
                </a:solidFill>
                <a:latin typeface="Cambria" pitchFamily="34" charset="0"/>
                <a:ea typeface="Cambria" pitchFamily="34" charset="-122"/>
                <a:cs typeface="Cambria" pitchFamily="34" charset="-120"/>
              </a:rPr>
              <a:t>実際の土器片データでの計測結果の例</a:t>
            </a:r>
            <a:endParaRPr lang="en-US" sz="1600" dirty="0"/>
          </a:p>
        </p:txBody>
      </p:sp>
      <p:sp>
        <p:nvSpPr>
          <p:cNvPr id="4" name="Shape 2"/>
          <p:cNvSpPr/>
          <p:nvPr/>
        </p:nvSpPr>
        <p:spPr>
          <a:xfrm>
            <a:off x="548640" y="1783080"/>
            <a:ext cx="5760720" cy="777240"/>
          </a:xfrm>
          <a:prstGeom prst="roundRect">
            <a:avLst>
              <a:gd name="adj" fmla="val 9412"/>
            </a:avLst>
          </a:prstGeom>
          <a:solidFill>
            <a:srgbClr val="E7E8D1"/>
          </a:solidFill>
          <a:ln/>
        </p:spPr>
      </p:sp>
      <p:sp>
        <p:nvSpPr>
          <p:cNvPr id="5" name="Text 3"/>
          <p:cNvSpPr/>
          <p:nvPr/>
        </p:nvSpPr>
        <p:spPr>
          <a:xfrm>
            <a:off x="822960" y="1965960"/>
            <a:ext cx="3108960" cy="457200"/>
          </a:xfrm>
          <a:prstGeom prst="rect">
            <a:avLst/>
          </a:prstGeom>
          <a:noFill/>
          <a:ln/>
        </p:spPr>
        <p:txBody>
          <a:bodyPr wrap="square" lIns="0" tIns="0" rIns="0" bIns="0" rtlCol="0" anchor="ctr"/>
          <a:lstStyle/>
          <a:p>
            <a:pPr indent="0" marL="0">
              <a:buNone/>
            </a:pPr>
            <a:r>
              <a:rPr lang="en-US" sz="1400" dirty="0">
                <a:solidFill>
                  <a:srgbClr val="333333"/>
                </a:solidFill>
                <a:latin typeface="Calibri" pitchFamily="34" charset="0"/>
                <a:ea typeface="Calibri" pitchFamily="34" charset="-122"/>
                <a:cs typeface="Calibri" pitchFamily="34" charset="-120"/>
              </a:rPr>
              <a:t>縄目の間隔</a:t>
            </a:r>
            <a:endParaRPr lang="en-US" sz="1400" dirty="0"/>
          </a:p>
        </p:txBody>
      </p:sp>
      <p:sp>
        <p:nvSpPr>
          <p:cNvPr id="6" name="Text 4"/>
          <p:cNvSpPr/>
          <p:nvPr/>
        </p:nvSpPr>
        <p:spPr>
          <a:xfrm>
            <a:off x="3931920" y="1901952"/>
            <a:ext cx="2194560" cy="548640"/>
          </a:xfrm>
          <a:prstGeom prst="rect">
            <a:avLst/>
          </a:prstGeom>
          <a:noFill/>
          <a:ln/>
        </p:spPr>
        <p:txBody>
          <a:bodyPr wrap="square" lIns="0" tIns="0" rIns="0" bIns="0" rtlCol="0" anchor="ctr"/>
          <a:lstStyle/>
          <a:p>
            <a:pPr indent="0" marL="0">
              <a:buNone/>
            </a:pPr>
            <a:r>
              <a:rPr lang="en-US" sz="2000" b="1" dirty="0">
                <a:solidFill>
                  <a:srgbClr val="B85042"/>
                </a:solidFill>
                <a:latin typeface="Cambria" pitchFamily="34" charset="0"/>
                <a:ea typeface="Cambria" pitchFamily="34" charset="-122"/>
                <a:cs typeface="Cambria" pitchFamily="34" charset="-120"/>
              </a:rPr>
              <a:t>約 3.4 mm</a:t>
            </a:r>
            <a:endParaRPr lang="en-US" sz="2000" dirty="0"/>
          </a:p>
        </p:txBody>
      </p:sp>
      <p:sp>
        <p:nvSpPr>
          <p:cNvPr id="7" name="Shape 5"/>
          <p:cNvSpPr/>
          <p:nvPr/>
        </p:nvSpPr>
        <p:spPr>
          <a:xfrm>
            <a:off x="548640" y="2697480"/>
            <a:ext cx="5760720" cy="777240"/>
          </a:xfrm>
          <a:prstGeom prst="roundRect">
            <a:avLst>
              <a:gd name="adj" fmla="val 9412"/>
            </a:avLst>
          </a:prstGeom>
          <a:solidFill>
            <a:srgbClr val="E7E8D1"/>
          </a:solidFill>
          <a:ln/>
        </p:spPr>
      </p:sp>
      <p:sp>
        <p:nvSpPr>
          <p:cNvPr id="8" name="Text 6"/>
          <p:cNvSpPr/>
          <p:nvPr/>
        </p:nvSpPr>
        <p:spPr>
          <a:xfrm>
            <a:off x="822960" y="2880360"/>
            <a:ext cx="3108960" cy="457200"/>
          </a:xfrm>
          <a:prstGeom prst="rect">
            <a:avLst/>
          </a:prstGeom>
          <a:noFill/>
          <a:ln/>
        </p:spPr>
        <p:txBody>
          <a:bodyPr wrap="square" lIns="0" tIns="0" rIns="0" bIns="0" rtlCol="0" anchor="ctr"/>
          <a:lstStyle/>
          <a:p>
            <a:pPr indent="0" marL="0">
              <a:buNone/>
            </a:pPr>
            <a:r>
              <a:rPr lang="en-US" sz="1400" dirty="0">
                <a:solidFill>
                  <a:srgbClr val="333333"/>
                </a:solidFill>
                <a:latin typeface="Calibri" pitchFamily="34" charset="0"/>
                <a:ea typeface="Calibri" pitchFamily="34" charset="-122"/>
                <a:cs typeface="Calibri" pitchFamily="34" charset="-120"/>
              </a:rPr>
              <a:t>縄1回転分の長さ</a:t>
            </a:r>
            <a:endParaRPr lang="en-US" sz="1400" dirty="0"/>
          </a:p>
        </p:txBody>
      </p:sp>
      <p:sp>
        <p:nvSpPr>
          <p:cNvPr id="9" name="Text 7"/>
          <p:cNvSpPr/>
          <p:nvPr/>
        </p:nvSpPr>
        <p:spPr>
          <a:xfrm>
            <a:off x="3931920" y="2816352"/>
            <a:ext cx="2194560" cy="548640"/>
          </a:xfrm>
          <a:prstGeom prst="rect">
            <a:avLst/>
          </a:prstGeom>
          <a:noFill/>
          <a:ln/>
        </p:spPr>
        <p:txBody>
          <a:bodyPr wrap="square" lIns="0" tIns="0" rIns="0" bIns="0" rtlCol="0" anchor="ctr"/>
          <a:lstStyle/>
          <a:p>
            <a:pPr indent="0" marL="0">
              <a:buNone/>
            </a:pPr>
            <a:r>
              <a:rPr lang="en-US" sz="2000" b="1" dirty="0">
                <a:solidFill>
                  <a:srgbClr val="B85042"/>
                </a:solidFill>
                <a:latin typeface="Cambria" pitchFamily="34" charset="0"/>
                <a:ea typeface="Cambria" pitchFamily="34" charset="-122"/>
                <a:cs typeface="Cambria" pitchFamily="34" charset="-120"/>
              </a:rPr>
              <a:t>約 44 mm</a:t>
            </a:r>
            <a:endParaRPr lang="en-US" sz="2000" dirty="0"/>
          </a:p>
        </p:txBody>
      </p:sp>
      <p:sp>
        <p:nvSpPr>
          <p:cNvPr id="10" name="Shape 8"/>
          <p:cNvSpPr/>
          <p:nvPr/>
        </p:nvSpPr>
        <p:spPr>
          <a:xfrm>
            <a:off x="548640" y="3611880"/>
            <a:ext cx="5760720" cy="777240"/>
          </a:xfrm>
          <a:prstGeom prst="roundRect">
            <a:avLst>
              <a:gd name="adj" fmla="val 9412"/>
            </a:avLst>
          </a:prstGeom>
          <a:solidFill>
            <a:srgbClr val="E7E8D1"/>
          </a:solidFill>
          <a:ln/>
        </p:spPr>
      </p:sp>
      <p:sp>
        <p:nvSpPr>
          <p:cNvPr id="11" name="Text 9"/>
          <p:cNvSpPr/>
          <p:nvPr/>
        </p:nvSpPr>
        <p:spPr>
          <a:xfrm>
            <a:off x="822960" y="3794760"/>
            <a:ext cx="3108960" cy="457200"/>
          </a:xfrm>
          <a:prstGeom prst="rect">
            <a:avLst/>
          </a:prstGeom>
          <a:noFill/>
          <a:ln/>
        </p:spPr>
        <p:txBody>
          <a:bodyPr wrap="square" lIns="0" tIns="0" rIns="0" bIns="0" rtlCol="0" anchor="ctr"/>
          <a:lstStyle/>
          <a:p>
            <a:pPr indent="0" marL="0">
              <a:buNone/>
            </a:pPr>
            <a:r>
              <a:rPr lang="en-US" sz="1400" dirty="0">
                <a:solidFill>
                  <a:srgbClr val="333333"/>
                </a:solidFill>
                <a:latin typeface="Calibri" pitchFamily="34" charset="0"/>
                <a:ea typeface="Calibri" pitchFamily="34" charset="-122"/>
                <a:cs typeface="Calibri" pitchFamily="34" charset="-120"/>
              </a:rPr>
              <a:t>検出した区切り位置</a:t>
            </a:r>
            <a:endParaRPr lang="en-US" sz="1400" dirty="0"/>
          </a:p>
        </p:txBody>
      </p:sp>
      <p:sp>
        <p:nvSpPr>
          <p:cNvPr id="12" name="Text 10"/>
          <p:cNvSpPr/>
          <p:nvPr/>
        </p:nvSpPr>
        <p:spPr>
          <a:xfrm>
            <a:off x="3931920" y="3730752"/>
            <a:ext cx="2194560" cy="548640"/>
          </a:xfrm>
          <a:prstGeom prst="rect">
            <a:avLst/>
          </a:prstGeom>
          <a:noFill/>
          <a:ln/>
        </p:spPr>
        <p:txBody>
          <a:bodyPr wrap="square" lIns="0" tIns="0" rIns="0" bIns="0" rtlCol="0" anchor="ctr"/>
          <a:lstStyle/>
          <a:p>
            <a:pPr indent="0" marL="0">
              <a:buNone/>
            </a:pPr>
            <a:r>
              <a:rPr lang="en-US" sz="2000" b="1" dirty="0">
                <a:solidFill>
                  <a:srgbClr val="B85042"/>
                </a:solidFill>
                <a:latin typeface="Cambria" pitchFamily="34" charset="0"/>
                <a:ea typeface="Cambria" pitchFamily="34" charset="-122"/>
                <a:cs typeface="Cambria" pitchFamily="34" charset="-120"/>
              </a:rPr>
              <a:t>6 か所</a:t>
            </a:r>
            <a:endParaRPr lang="en-US" sz="2000" dirty="0"/>
          </a:p>
        </p:txBody>
      </p:sp>
      <p:sp>
        <p:nvSpPr>
          <p:cNvPr id="13" name="Text 11"/>
          <p:cNvSpPr/>
          <p:nvPr/>
        </p:nvSpPr>
        <p:spPr>
          <a:xfrm>
            <a:off x="6766560" y="1325880"/>
            <a:ext cx="4846320" cy="365760"/>
          </a:xfrm>
          <a:prstGeom prst="rect">
            <a:avLst/>
          </a:prstGeom>
          <a:noFill/>
          <a:ln/>
        </p:spPr>
        <p:txBody>
          <a:bodyPr wrap="square" lIns="0" tIns="0" rIns="0" bIns="0" rtlCol="0" anchor="ctr"/>
          <a:lstStyle/>
          <a:p>
            <a:pPr indent="0" marL="0">
              <a:buNone/>
            </a:pPr>
            <a:r>
              <a:rPr lang="en-US" sz="1600" b="1" dirty="0">
                <a:solidFill>
                  <a:srgbClr val="B85042"/>
                </a:solidFill>
                <a:latin typeface="Cambria" pitchFamily="34" charset="0"/>
                <a:ea typeface="Cambria" pitchFamily="34" charset="-122"/>
                <a:cs typeface="Cambria" pitchFamily="34" charset="-120"/>
              </a:rPr>
              <a:t>今後の課題</a:t>
            </a:r>
            <a:endParaRPr lang="en-US" sz="1600" dirty="0"/>
          </a:p>
        </p:txBody>
      </p:sp>
      <p:sp>
        <p:nvSpPr>
          <p:cNvPr id="14" name="Text 12"/>
          <p:cNvSpPr/>
          <p:nvPr/>
        </p:nvSpPr>
        <p:spPr>
          <a:xfrm>
            <a:off x="6766560" y="1783080"/>
            <a:ext cx="4846320" cy="2926080"/>
          </a:xfrm>
          <a:prstGeom prst="rect">
            <a:avLst/>
          </a:prstGeom>
          <a:noFill/>
          <a:ln/>
        </p:spPr>
        <p:txBody>
          <a:bodyPr wrap="square" rtlCol="0" anchor="ctr"/>
          <a:lstStyle/>
          <a:p>
            <a:pPr marL="342900" indent="-342900">
              <a:spcAft>
                <a:spcPts val="800"/>
              </a:spcAft>
              <a:buSzPct val="100000"/>
              <a:buChar char="•"/>
            </a:pPr>
            <a:r>
              <a:rPr lang="en-US" sz="1350" dirty="0">
                <a:solidFill>
                  <a:srgbClr val="333333"/>
                </a:solidFill>
                <a:latin typeface="Calibri" pitchFamily="34" charset="0"/>
                <a:ea typeface="Calibri" pitchFamily="34" charset="-122"/>
                <a:cs typeface="Calibri" pitchFamily="34" charset="-120"/>
              </a:rPr>
              <a:t>実データに対する正解値が未入手のため、計測精度を定量的に評価できていない（現在、指導教員に正解値の計測を依頼中）</a:t>
            </a:r>
            <a:endParaRPr lang="en-US" sz="1350" dirty="0"/>
          </a:p>
          <a:p>
            <a:pPr marL="342900" indent="-342900">
              <a:spcAft>
                <a:spcPts val="800"/>
              </a:spcAft>
              <a:buSzPct val="100000"/>
              <a:buChar char="•"/>
            </a:pPr>
            <a:r>
              <a:rPr lang="en-US" sz="1350" dirty="0">
                <a:solidFill>
                  <a:srgbClr val="333333"/>
                </a:solidFill>
                <a:latin typeface="Calibri" pitchFamily="34" charset="0"/>
                <a:ea typeface="Calibri" pitchFamily="34" charset="-122"/>
                <a:cs typeface="Calibri" pitchFamily="34" charset="-120"/>
              </a:rPr>
              <a:t>計測時のパラメータ（画像の解像度・探索範囲など）を手動で設定しており、自動化が必要</a:t>
            </a:r>
            <a:endParaRPr lang="en-US" sz="1350" dirty="0"/>
          </a:p>
          <a:p>
            <a:pPr marL="342900" indent="-342900">
              <a:buSzPct val="100000"/>
              <a:buChar char="•"/>
            </a:pPr>
            <a:r>
              <a:rPr lang="en-US" sz="1350" dirty="0">
                <a:solidFill>
                  <a:srgbClr val="333333"/>
                </a:solidFill>
                <a:latin typeface="Calibri" pitchFamily="34" charset="0"/>
                <a:ea typeface="Calibri" pitchFamily="34" charset="-122"/>
                <a:cs typeface="Calibri" pitchFamily="34" charset="-120"/>
              </a:rPr>
              <a:t>土器表面の曲率への対応を、より厳密な手法に拡張したい</a:t>
            </a:r>
            <a:endParaRPr lang="en-US" sz="13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20040"/>
            <a:ext cx="11064240" cy="731520"/>
          </a:xfrm>
          <a:prstGeom prst="rect">
            <a:avLst/>
          </a:prstGeom>
          <a:noFill/>
          <a:ln/>
        </p:spPr>
        <p:txBody>
          <a:bodyPr wrap="square" lIns="0" tIns="0" rIns="0" bIns="0" rtlCol="0" anchor="ctr"/>
          <a:lstStyle/>
          <a:p>
            <a:pPr indent="0" marL="0">
              <a:buNone/>
            </a:pPr>
            <a:r>
              <a:rPr lang="en-US" sz="3000" b="1" dirty="0">
                <a:solidFill>
                  <a:srgbClr val="333333"/>
                </a:solidFill>
                <a:latin typeface="Cambria" pitchFamily="34" charset="0"/>
                <a:ea typeface="Cambria" pitchFamily="34" charset="-122"/>
                <a:cs typeface="Cambria" pitchFamily="34" charset="-120"/>
              </a:rPr>
              <a:t>効率化の余地 — 大規模なデータと逐次処理</a:t>
            </a:r>
            <a:endParaRPr lang="en-US" sz="3000" dirty="0"/>
          </a:p>
        </p:txBody>
      </p:sp>
      <p:sp>
        <p:nvSpPr>
          <p:cNvPr id="3" name="Shape 1"/>
          <p:cNvSpPr/>
          <p:nvPr/>
        </p:nvSpPr>
        <p:spPr>
          <a:xfrm>
            <a:off x="548640" y="1463040"/>
            <a:ext cx="3566160" cy="2011680"/>
          </a:xfrm>
          <a:prstGeom prst="roundRect">
            <a:avLst>
              <a:gd name="adj" fmla="val 4545"/>
            </a:avLst>
          </a:prstGeom>
          <a:solidFill>
            <a:srgbClr val="E7E8D1"/>
          </a:solidFill>
          <a:ln/>
        </p:spPr>
      </p:sp>
      <p:sp>
        <p:nvSpPr>
          <p:cNvPr id="4" name="Text 2"/>
          <p:cNvSpPr/>
          <p:nvPr/>
        </p:nvSpPr>
        <p:spPr>
          <a:xfrm>
            <a:off x="548640" y="1691640"/>
            <a:ext cx="3566160" cy="1005840"/>
          </a:xfrm>
          <a:prstGeom prst="rect">
            <a:avLst/>
          </a:prstGeom>
          <a:noFill/>
          <a:ln/>
        </p:spPr>
        <p:txBody>
          <a:bodyPr wrap="square" lIns="0" tIns="0" rIns="0" bIns="0" rtlCol="0" anchor="ctr"/>
          <a:lstStyle/>
          <a:p>
            <a:pPr algn="ctr" indent="0" marL="0">
              <a:buNone/>
            </a:pPr>
            <a:r>
              <a:rPr lang="en-US" sz="5400" b="1" dirty="0">
                <a:solidFill>
                  <a:srgbClr val="B85042"/>
                </a:solidFill>
                <a:latin typeface="Cambria" pitchFamily="34" charset="0"/>
                <a:ea typeface="Cambria" pitchFamily="34" charset="-122"/>
                <a:cs typeface="Cambria" pitchFamily="34" charset="-120"/>
              </a:rPr>
              <a:t>741万</a:t>
            </a:r>
            <a:endParaRPr lang="en-US" sz="5400" dirty="0"/>
          </a:p>
        </p:txBody>
      </p:sp>
      <p:sp>
        <p:nvSpPr>
          <p:cNvPr id="5" name="Text 3"/>
          <p:cNvSpPr/>
          <p:nvPr/>
        </p:nvSpPr>
        <p:spPr>
          <a:xfrm>
            <a:off x="548640" y="2788920"/>
            <a:ext cx="3566160" cy="457200"/>
          </a:xfrm>
          <a:prstGeom prst="rect">
            <a:avLst/>
          </a:prstGeom>
          <a:noFill/>
          <a:ln/>
        </p:spPr>
        <p:txBody>
          <a:bodyPr wrap="square" lIns="0" tIns="0" rIns="0" bIns="0" rtlCol="0" anchor="ctr"/>
          <a:lstStyle/>
          <a:p>
            <a:pPr algn="ctr" indent="0" marL="0">
              <a:buNone/>
            </a:pPr>
            <a:r>
              <a:rPr lang="en-US" sz="1400" dirty="0">
                <a:solidFill>
                  <a:srgbClr val="333333"/>
                </a:solidFill>
                <a:latin typeface="Calibri" pitchFamily="34" charset="0"/>
                <a:ea typeface="Calibri" pitchFamily="34" charset="-122"/>
                <a:cs typeface="Calibri" pitchFamily="34" charset="-120"/>
              </a:rPr>
              <a:t>土器片1つあたりの頂点数（1点目）</a:t>
            </a:r>
            <a:endParaRPr lang="en-US" sz="1400" dirty="0"/>
          </a:p>
        </p:txBody>
      </p:sp>
      <p:sp>
        <p:nvSpPr>
          <p:cNvPr id="6" name="Shape 4"/>
          <p:cNvSpPr/>
          <p:nvPr/>
        </p:nvSpPr>
        <p:spPr>
          <a:xfrm>
            <a:off x="4434840" y="1463040"/>
            <a:ext cx="3566160" cy="2011680"/>
          </a:xfrm>
          <a:prstGeom prst="roundRect">
            <a:avLst>
              <a:gd name="adj" fmla="val 4545"/>
            </a:avLst>
          </a:prstGeom>
          <a:solidFill>
            <a:srgbClr val="E7E8D1"/>
          </a:solidFill>
          <a:ln/>
        </p:spPr>
      </p:sp>
      <p:sp>
        <p:nvSpPr>
          <p:cNvPr id="7" name="Text 5"/>
          <p:cNvSpPr/>
          <p:nvPr/>
        </p:nvSpPr>
        <p:spPr>
          <a:xfrm>
            <a:off x="4434840" y="1691640"/>
            <a:ext cx="3566160" cy="1005840"/>
          </a:xfrm>
          <a:prstGeom prst="rect">
            <a:avLst/>
          </a:prstGeom>
          <a:noFill/>
          <a:ln/>
        </p:spPr>
        <p:txBody>
          <a:bodyPr wrap="square" lIns="0" tIns="0" rIns="0" bIns="0" rtlCol="0" anchor="ctr"/>
          <a:lstStyle/>
          <a:p>
            <a:pPr algn="ctr" indent="0" marL="0">
              <a:buNone/>
            </a:pPr>
            <a:r>
              <a:rPr lang="en-US" sz="5400" b="1" dirty="0">
                <a:solidFill>
                  <a:srgbClr val="B85042"/>
                </a:solidFill>
                <a:latin typeface="Cambria" pitchFamily="34" charset="0"/>
                <a:ea typeface="Cambria" pitchFamily="34" charset="-122"/>
                <a:cs typeface="Cambria" pitchFamily="34" charset="-120"/>
              </a:rPr>
              <a:t>697万</a:t>
            </a:r>
            <a:endParaRPr lang="en-US" sz="5400" dirty="0"/>
          </a:p>
        </p:txBody>
      </p:sp>
      <p:sp>
        <p:nvSpPr>
          <p:cNvPr id="8" name="Text 6"/>
          <p:cNvSpPr/>
          <p:nvPr/>
        </p:nvSpPr>
        <p:spPr>
          <a:xfrm>
            <a:off x="4434840" y="2788920"/>
            <a:ext cx="3566160" cy="457200"/>
          </a:xfrm>
          <a:prstGeom prst="rect">
            <a:avLst/>
          </a:prstGeom>
          <a:noFill/>
          <a:ln/>
        </p:spPr>
        <p:txBody>
          <a:bodyPr wrap="square" lIns="0" tIns="0" rIns="0" bIns="0" rtlCol="0" anchor="ctr"/>
          <a:lstStyle/>
          <a:p>
            <a:pPr algn="ctr" indent="0" marL="0">
              <a:buNone/>
            </a:pPr>
            <a:r>
              <a:rPr lang="en-US" sz="1400" dirty="0">
                <a:solidFill>
                  <a:srgbClr val="333333"/>
                </a:solidFill>
                <a:latin typeface="Calibri" pitchFamily="34" charset="0"/>
                <a:ea typeface="Calibri" pitchFamily="34" charset="-122"/>
                <a:cs typeface="Calibri" pitchFamily="34" charset="-120"/>
              </a:rPr>
              <a:t>土器片1つあたりの頂点数（2点目）</a:t>
            </a:r>
            <a:endParaRPr lang="en-US" sz="1400" dirty="0"/>
          </a:p>
        </p:txBody>
      </p:sp>
      <p:sp>
        <p:nvSpPr>
          <p:cNvPr id="9" name="Shape 7"/>
          <p:cNvSpPr/>
          <p:nvPr/>
        </p:nvSpPr>
        <p:spPr>
          <a:xfrm>
            <a:off x="8321040" y="1463040"/>
            <a:ext cx="3566160" cy="2011680"/>
          </a:xfrm>
          <a:prstGeom prst="roundRect">
            <a:avLst>
              <a:gd name="adj" fmla="val 4545"/>
            </a:avLst>
          </a:prstGeom>
          <a:solidFill>
            <a:srgbClr val="E7E8D1"/>
          </a:solidFill>
          <a:ln/>
        </p:spPr>
      </p:sp>
      <p:sp>
        <p:nvSpPr>
          <p:cNvPr id="10" name="Text 8"/>
          <p:cNvSpPr/>
          <p:nvPr/>
        </p:nvSpPr>
        <p:spPr>
          <a:xfrm>
            <a:off x="8321040" y="1691640"/>
            <a:ext cx="3566160" cy="1005840"/>
          </a:xfrm>
          <a:prstGeom prst="rect">
            <a:avLst/>
          </a:prstGeom>
          <a:noFill/>
          <a:ln/>
        </p:spPr>
        <p:txBody>
          <a:bodyPr wrap="square" lIns="0" tIns="0" rIns="0" bIns="0" rtlCol="0" anchor="ctr"/>
          <a:lstStyle/>
          <a:p>
            <a:pPr algn="ctr" indent="0" marL="0">
              <a:buNone/>
            </a:pPr>
            <a:r>
              <a:rPr lang="en-US" sz="4000" b="1" dirty="0">
                <a:solidFill>
                  <a:srgbClr val="A7BEAE"/>
                </a:solidFill>
                <a:latin typeface="Cambria" pitchFamily="34" charset="0"/>
                <a:ea typeface="Cambria" pitchFamily="34" charset="-122"/>
                <a:cs typeface="Cambria" pitchFamily="34" charset="-120"/>
              </a:rPr>
              <a:t>逐次処理</a:t>
            </a:r>
            <a:endParaRPr lang="en-US" sz="4000" dirty="0"/>
          </a:p>
        </p:txBody>
      </p:sp>
      <p:sp>
        <p:nvSpPr>
          <p:cNvPr id="11" name="Text 9"/>
          <p:cNvSpPr/>
          <p:nvPr/>
        </p:nvSpPr>
        <p:spPr>
          <a:xfrm>
            <a:off x="8321040" y="2788920"/>
            <a:ext cx="3566160" cy="457200"/>
          </a:xfrm>
          <a:prstGeom prst="rect">
            <a:avLst/>
          </a:prstGeom>
          <a:noFill/>
          <a:ln/>
        </p:spPr>
        <p:txBody>
          <a:bodyPr wrap="square" lIns="0" tIns="0" rIns="0" bIns="0" rtlCol="0" anchor="ctr"/>
          <a:lstStyle/>
          <a:p>
            <a:pPr algn="ctr" indent="0" marL="0">
              <a:buNone/>
            </a:pPr>
            <a:r>
              <a:rPr lang="en-US" sz="1400" dirty="0">
                <a:solidFill>
                  <a:srgbClr val="333333"/>
                </a:solidFill>
                <a:latin typeface="Calibri" pitchFamily="34" charset="0"/>
                <a:ea typeface="Calibri" pitchFamily="34" charset="-122"/>
                <a:cs typeface="Calibri" pitchFamily="34" charset="-120"/>
              </a:rPr>
              <a:t>現在は並列化を行っていない</a:t>
            </a:r>
            <a:endParaRPr lang="en-US" sz="1400" dirty="0"/>
          </a:p>
        </p:txBody>
      </p:sp>
      <p:sp>
        <p:nvSpPr>
          <p:cNvPr id="12" name="Text 10"/>
          <p:cNvSpPr/>
          <p:nvPr/>
        </p:nvSpPr>
        <p:spPr>
          <a:xfrm>
            <a:off x="640080" y="3931920"/>
            <a:ext cx="10972800" cy="2103120"/>
          </a:xfrm>
          <a:prstGeom prst="rect">
            <a:avLst/>
          </a:prstGeom>
          <a:noFill/>
          <a:ln/>
        </p:spPr>
        <p:txBody>
          <a:bodyPr wrap="square" rtlCol="0" anchor="ctr"/>
          <a:lstStyle/>
          <a:p>
            <a:pPr marL="342900" indent="-342900">
              <a:spcAft>
                <a:spcPts val="800"/>
              </a:spcAft>
              <a:buSzPct val="100000"/>
              <a:buChar char="•"/>
            </a:pPr>
            <a:r>
              <a:rPr lang="en-US" sz="1500" dirty="0">
                <a:solidFill>
                  <a:srgbClr val="333333"/>
                </a:solidFill>
                <a:latin typeface="Calibri" pitchFamily="34" charset="0"/>
                <a:ea typeface="Calibri" pitchFamily="34" charset="-122"/>
                <a:cs typeface="Calibri" pitchFamily="34" charset="-120"/>
              </a:rPr>
              <a:t>土器片1つのメッシュは約700万頂点に及ぶ大規模データであり、現在は1台の計算機で逐次的に処理している。</a:t>
            </a:r>
            <a:endParaRPr lang="en-US" sz="1500" dirty="0"/>
          </a:p>
          <a:p>
            <a:pPr marL="342900" indent="-342900">
              <a:spcAft>
                <a:spcPts val="800"/>
              </a:spcAft>
              <a:buSzPct val="100000"/>
              <a:buChar char="•"/>
            </a:pPr>
            <a:r>
              <a:rPr lang="en-US" sz="1500" dirty="0">
                <a:solidFill>
                  <a:srgbClr val="333333"/>
                </a:solidFill>
                <a:latin typeface="Calibri" pitchFamily="34" charset="0"/>
                <a:ea typeface="Calibri" pitchFamily="34" charset="-122"/>
                <a:cs typeface="Calibri" pitchFamily="34" charset="-120"/>
              </a:rPr>
              <a:t>土器1点の計測であれば現状でも実用的だが、研究は今後、手法の信頼性を示すための「精度検証実験の大量実行」の段階に進む。</a:t>
            </a:r>
            <a:endParaRPr lang="en-US" sz="1500" dirty="0"/>
          </a:p>
          <a:p>
            <a:pPr marL="342900" indent="-342900">
              <a:buSzPct val="100000"/>
              <a:buChar char="•"/>
            </a:pPr>
            <a:r>
              <a:rPr lang="en-US" sz="1500" dirty="0">
                <a:solidFill>
                  <a:srgbClr val="333333"/>
                </a:solidFill>
                <a:latin typeface="Calibri" pitchFamily="34" charset="0"/>
                <a:ea typeface="Calibri" pitchFamily="34" charset="-122"/>
                <a:cs typeface="Calibri" pitchFamily="34" charset="-120"/>
              </a:rPr>
              <a:t>この段階で、講義で学んだ並列化の考え方が有効になると考えられる。次の2枚で具体的に検討する。</a:t>
            </a:r>
            <a:endParaRPr lang="en-US" sz="15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20040"/>
            <a:ext cx="11064240" cy="731520"/>
          </a:xfrm>
          <a:prstGeom prst="rect">
            <a:avLst/>
          </a:prstGeom>
          <a:noFill/>
          <a:ln/>
        </p:spPr>
        <p:txBody>
          <a:bodyPr wrap="square" lIns="0" tIns="0" rIns="0" bIns="0" rtlCol="0" anchor="ctr"/>
          <a:lstStyle/>
          <a:p>
            <a:pPr indent="0" marL="0">
              <a:buNone/>
            </a:pPr>
            <a:r>
              <a:rPr lang="en-US" sz="3000" b="1" dirty="0">
                <a:solidFill>
                  <a:srgbClr val="333333"/>
                </a:solidFill>
                <a:latin typeface="Cambria" pitchFamily="34" charset="0"/>
                <a:ea typeface="Cambria" pitchFamily="34" charset="-122"/>
                <a:cs typeface="Cambria" pitchFamily="34" charset="-120"/>
              </a:rPr>
              <a:t>今後効率化が見込める処理 — 精度検証実験の並列実行</a:t>
            </a:r>
            <a:endParaRPr lang="en-US" sz="3000" dirty="0"/>
          </a:p>
        </p:txBody>
      </p:sp>
      <p:sp>
        <p:nvSpPr>
          <p:cNvPr id="3" name="Shape 1"/>
          <p:cNvSpPr/>
          <p:nvPr/>
        </p:nvSpPr>
        <p:spPr>
          <a:xfrm>
            <a:off x="548640" y="1371600"/>
            <a:ext cx="11064240" cy="1463040"/>
          </a:xfrm>
          <a:prstGeom prst="roundRect">
            <a:avLst>
              <a:gd name="adj" fmla="val 6250"/>
            </a:avLst>
          </a:prstGeom>
          <a:solidFill>
            <a:srgbClr val="E7E8D1"/>
          </a:solidFill>
          <a:ln/>
        </p:spPr>
      </p:sp>
      <p:sp>
        <p:nvSpPr>
          <p:cNvPr id="4" name="Text 2"/>
          <p:cNvSpPr/>
          <p:nvPr/>
        </p:nvSpPr>
        <p:spPr>
          <a:xfrm>
            <a:off x="777240" y="1481328"/>
            <a:ext cx="3108960" cy="1188720"/>
          </a:xfrm>
          <a:prstGeom prst="rect">
            <a:avLst/>
          </a:prstGeom>
          <a:noFill/>
          <a:ln/>
        </p:spPr>
        <p:txBody>
          <a:bodyPr wrap="square" lIns="0" tIns="0" rIns="0" bIns="0" rtlCol="0" anchor="ctr"/>
          <a:lstStyle/>
          <a:p>
            <a:pPr indent="0" marL="0">
              <a:buNone/>
            </a:pPr>
            <a:r>
              <a:rPr lang="en-US" sz="1500" b="1" dirty="0">
                <a:solidFill>
                  <a:srgbClr val="B85042"/>
                </a:solidFill>
                <a:latin typeface="Cambria" pitchFamily="34" charset="0"/>
                <a:ea typeface="Cambria" pitchFamily="34" charset="-122"/>
                <a:cs typeface="Cambria" pitchFamily="34" charset="-120"/>
              </a:rPr>
              <a:t>どのような実験か</a:t>
            </a:r>
            <a:endParaRPr lang="en-US" sz="1500" dirty="0"/>
          </a:p>
        </p:txBody>
      </p:sp>
      <p:sp>
        <p:nvSpPr>
          <p:cNvPr id="5" name="Text 3"/>
          <p:cNvSpPr/>
          <p:nvPr/>
        </p:nvSpPr>
        <p:spPr>
          <a:xfrm>
            <a:off x="4023360" y="1508760"/>
            <a:ext cx="7315200" cy="1234440"/>
          </a:xfrm>
          <a:prstGeom prst="rect">
            <a:avLst/>
          </a:prstGeom>
          <a:noFill/>
          <a:ln/>
        </p:spPr>
        <p:txBody>
          <a:bodyPr wrap="square" lIns="0" tIns="0" rIns="0" bIns="0" rtlCol="0" anchor="ctr"/>
          <a:lstStyle/>
          <a:p>
            <a:pPr indent="0" marL="0">
              <a:buNone/>
            </a:pPr>
            <a:r>
              <a:rPr lang="en-US" sz="1300" dirty="0">
                <a:solidFill>
                  <a:srgbClr val="333333"/>
                </a:solidFill>
                <a:latin typeface="Calibri" pitchFamily="34" charset="0"/>
                <a:ea typeface="Calibri" pitchFamily="34" charset="-122"/>
                <a:cs typeface="Calibri" pitchFamily="34" charset="-120"/>
              </a:rPr>
              <a:t>ノイズや欠損の量を段階的に変えたテストデータを多数生成し、それぞれの条件で計測精度を検証する。手法の信頼性を示すうえで必須の実験であり、条件の組合せは数百通りに及ぶ見込み。</a:t>
            </a:r>
            <a:endParaRPr lang="en-US" sz="1300" dirty="0"/>
          </a:p>
        </p:txBody>
      </p:sp>
      <p:sp>
        <p:nvSpPr>
          <p:cNvPr id="6" name="Shape 4"/>
          <p:cNvSpPr/>
          <p:nvPr/>
        </p:nvSpPr>
        <p:spPr>
          <a:xfrm>
            <a:off x="548640" y="3017520"/>
            <a:ext cx="11064240" cy="1463040"/>
          </a:xfrm>
          <a:prstGeom prst="roundRect">
            <a:avLst>
              <a:gd name="adj" fmla="val 6250"/>
            </a:avLst>
          </a:prstGeom>
          <a:solidFill>
            <a:srgbClr val="E7E8D1"/>
          </a:solidFill>
          <a:ln/>
        </p:spPr>
      </p:sp>
      <p:sp>
        <p:nvSpPr>
          <p:cNvPr id="7" name="Text 5"/>
          <p:cNvSpPr/>
          <p:nvPr/>
        </p:nvSpPr>
        <p:spPr>
          <a:xfrm>
            <a:off x="777240" y="3127248"/>
            <a:ext cx="3108960" cy="1188720"/>
          </a:xfrm>
          <a:prstGeom prst="rect">
            <a:avLst/>
          </a:prstGeom>
          <a:noFill/>
          <a:ln/>
        </p:spPr>
        <p:txBody>
          <a:bodyPr wrap="square" lIns="0" tIns="0" rIns="0" bIns="0" rtlCol="0" anchor="ctr"/>
          <a:lstStyle/>
          <a:p>
            <a:pPr indent="0" marL="0">
              <a:buNone/>
            </a:pPr>
            <a:r>
              <a:rPr lang="en-US" sz="1500" b="1" dirty="0">
                <a:solidFill>
                  <a:srgbClr val="B85042"/>
                </a:solidFill>
                <a:latin typeface="Cambria" pitchFamily="34" charset="0"/>
                <a:ea typeface="Cambria" pitchFamily="34" charset="-122"/>
                <a:cs typeface="Cambria" pitchFamily="34" charset="-120"/>
              </a:rPr>
              <a:t>なぜ並列化に向くか</a:t>
            </a:r>
            <a:endParaRPr lang="en-US" sz="1500" dirty="0"/>
          </a:p>
        </p:txBody>
      </p:sp>
      <p:sp>
        <p:nvSpPr>
          <p:cNvPr id="8" name="Text 6"/>
          <p:cNvSpPr/>
          <p:nvPr/>
        </p:nvSpPr>
        <p:spPr>
          <a:xfrm>
            <a:off x="4023360" y="3154680"/>
            <a:ext cx="7315200" cy="1234440"/>
          </a:xfrm>
          <a:prstGeom prst="rect">
            <a:avLst/>
          </a:prstGeom>
          <a:noFill/>
          <a:ln/>
        </p:spPr>
        <p:txBody>
          <a:bodyPr wrap="square" lIns="0" tIns="0" rIns="0" bIns="0" rtlCol="0" anchor="ctr"/>
          <a:lstStyle/>
          <a:p>
            <a:pPr indent="0" marL="0">
              <a:buNone/>
            </a:pPr>
            <a:r>
              <a:rPr lang="en-US" sz="1300" dirty="0">
                <a:solidFill>
                  <a:srgbClr val="333333"/>
                </a:solidFill>
                <a:latin typeface="Calibri" pitchFamily="34" charset="0"/>
                <a:ea typeface="Calibri" pitchFamily="34" charset="-122"/>
                <a:cs typeface="Calibri" pitchFamily="34" charset="-120"/>
              </a:rPr>
              <a:t>各条件の検証は互いに独立した計算であり、他の条件の結果を待つ必要がない。第12回の遺伝的アルゴリズムにおける個体評価と同じ構造であり、複数のWorkerへ分配して同時に実行できる。</a:t>
            </a:r>
            <a:endParaRPr lang="en-US" sz="1300" dirty="0"/>
          </a:p>
        </p:txBody>
      </p:sp>
      <p:sp>
        <p:nvSpPr>
          <p:cNvPr id="9" name="Shape 7"/>
          <p:cNvSpPr/>
          <p:nvPr/>
        </p:nvSpPr>
        <p:spPr>
          <a:xfrm>
            <a:off x="548640" y="4663440"/>
            <a:ext cx="11064240" cy="1463040"/>
          </a:xfrm>
          <a:prstGeom prst="roundRect">
            <a:avLst>
              <a:gd name="adj" fmla="val 6250"/>
            </a:avLst>
          </a:prstGeom>
          <a:solidFill>
            <a:srgbClr val="B85042"/>
          </a:solidFill>
          <a:ln/>
        </p:spPr>
      </p:sp>
      <p:sp>
        <p:nvSpPr>
          <p:cNvPr id="10" name="Text 8"/>
          <p:cNvSpPr/>
          <p:nvPr/>
        </p:nvSpPr>
        <p:spPr>
          <a:xfrm>
            <a:off x="777240" y="4773168"/>
            <a:ext cx="3108960" cy="1188720"/>
          </a:xfrm>
          <a:prstGeom prst="rect">
            <a:avLst/>
          </a:prstGeom>
          <a:noFill/>
          <a:ln/>
        </p:spPr>
        <p:txBody>
          <a:bodyPr wrap="square" lIns="0" tIns="0" rIns="0" bIns="0" rtlCol="0" anchor="ctr"/>
          <a:lstStyle/>
          <a:p>
            <a:pPr indent="0" marL="0">
              <a:buNone/>
            </a:pPr>
            <a:r>
              <a:rPr lang="en-US" sz="1500" b="1" dirty="0">
                <a:solidFill>
                  <a:srgbClr val="FFFFFF"/>
                </a:solidFill>
                <a:latin typeface="Cambria" pitchFamily="34" charset="0"/>
                <a:ea typeface="Cambria" pitchFamily="34" charset="-122"/>
                <a:cs typeface="Cambria" pitchFamily="34" charset="-120"/>
              </a:rPr>
              <a:t>期待される効果</a:t>
            </a:r>
            <a:endParaRPr lang="en-US" sz="1500" dirty="0"/>
          </a:p>
        </p:txBody>
      </p:sp>
      <p:sp>
        <p:nvSpPr>
          <p:cNvPr id="11" name="Text 9"/>
          <p:cNvSpPr/>
          <p:nvPr/>
        </p:nvSpPr>
        <p:spPr>
          <a:xfrm>
            <a:off x="4023360" y="4800600"/>
            <a:ext cx="7315200" cy="123444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検証1回に数分を要するため、数百条件を逐次実行すると1日以上かかる見込み。並列実行により、実行時間をWorker数に応じて大幅に短縮し、条件を追加した再実験も繰り返しやすくなる。</a:t>
            </a:r>
            <a:endParaRPr lang="en-US" sz="13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20040"/>
            <a:ext cx="11064240" cy="731520"/>
          </a:xfrm>
          <a:prstGeom prst="rect">
            <a:avLst/>
          </a:prstGeom>
          <a:noFill/>
          <a:ln/>
        </p:spPr>
        <p:txBody>
          <a:bodyPr wrap="square" lIns="0" tIns="0" rIns="0" bIns="0" rtlCol="0" anchor="ctr"/>
          <a:lstStyle/>
          <a:p>
            <a:pPr indent="0" marL="0">
              <a:buNone/>
            </a:pPr>
            <a:r>
              <a:rPr lang="en-US" sz="3000" b="1" dirty="0">
                <a:solidFill>
                  <a:srgbClr val="333333"/>
                </a:solidFill>
                <a:latin typeface="Cambria" pitchFamily="34" charset="0"/>
                <a:ea typeface="Cambria" pitchFamily="34" charset="-122"/>
                <a:cs typeface="Cambria" pitchFamily="34" charset="-120"/>
              </a:rPr>
              <a:t>並列化の効果の見通し — 第12回の実験結果を踏まえて</a:t>
            </a:r>
            <a:endParaRPr lang="en-US" sz="3000" dirty="0"/>
          </a:p>
        </p:txBody>
      </p:sp>
      <p:sp>
        <p:nvSpPr>
          <p:cNvPr id="3" name="Shape 1"/>
          <p:cNvSpPr/>
          <p:nvPr/>
        </p:nvSpPr>
        <p:spPr>
          <a:xfrm>
            <a:off x="548640" y="1371600"/>
            <a:ext cx="11064240" cy="1463040"/>
          </a:xfrm>
          <a:prstGeom prst="roundRect">
            <a:avLst>
              <a:gd name="adj" fmla="val 6250"/>
            </a:avLst>
          </a:prstGeom>
          <a:solidFill>
            <a:srgbClr val="E7E8D1"/>
          </a:solidFill>
          <a:ln/>
        </p:spPr>
      </p:sp>
      <p:sp>
        <p:nvSpPr>
          <p:cNvPr id="4" name="Text 2"/>
          <p:cNvSpPr/>
          <p:nvPr/>
        </p:nvSpPr>
        <p:spPr>
          <a:xfrm>
            <a:off x="777240" y="1481328"/>
            <a:ext cx="3108960" cy="1188720"/>
          </a:xfrm>
          <a:prstGeom prst="rect">
            <a:avLst/>
          </a:prstGeom>
          <a:noFill/>
          <a:ln/>
        </p:spPr>
        <p:txBody>
          <a:bodyPr wrap="square" lIns="0" tIns="0" rIns="0" bIns="0" rtlCol="0" anchor="ctr"/>
          <a:lstStyle/>
          <a:p>
            <a:pPr indent="0" marL="0">
              <a:buNone/>
            </a:pPr>
            <a:r>
              <a:rPr lang="en-US" sz="1500" b="1" dirty="0">
                <a:solidFill>
                  <a:srgbClr val="B85042"/>
                </a:solidFill>
                <a:latin typeface="Cambria" pitchFamily="34" charset="0"/>
                <a:ea typeface="Cambria" pitchFamily="34" charset="-122"/>
                <a:cs typeface="Cambria" pitchFamily="34" charset="-120"/>
              </a:rPr>
              <a:t>第12回の実験で得られた知見</a:t>
            </a:r>
            <a:endParaRPr lang="en-US" sz="1500" dirty="0"/>
          </a:p>
        </p:txBody>
      </p:sp>
      <p:sp>
        <p:nvSpPr>
          <p:cNvPr id="5" name="Text 3"/>
          <p:cNvSpPr/>
          <p:nvPr/>
        </p:nvSpPr>
        <p:spPr>
          <a:xfrm>
            <a:off x="4023360" y="1508760"/>
            <a:ext cx="7315200" cy="1234440"/>
          </a:xfrm>
          <a:prstGeom prst="rect">
            <a:avLst/>
          </a:prstGeom>
          <a:noFill/>
          <a:ln/>
        </p:spPr>
        <p:txBody>
          <a:bodyPr wrap="square" lIns="0" tIns="0" rIns="0" bIns="0" rtlCol="0" anchor="ctr"/>
          <a:lstStyle/>
          <a:p>
            <a:pPr indent="0" marL="0">
              <a:buNone/>
            </a:pPr>
            <a:r>
              <a:rPr lang="en-US" sz="1300" dirty="0">
                <a:solidFill>
                  <a:srgbClr val="333333"/>
                </a:solidFill>
                <a:latin typeface="Calibri" pitchFamily="34" charset="0"/>
                <a:ea typeface="Calibri" pitchFamily="34" charset="-122"/>
                <a:cs typeface="Calibri" pitchFamily="34" charset="-120"/>
              </a:rPr>
              <a:t>1つあたりの計算が軽い場合、Workerの準備やデータの受け渡しといったオーバーヘッドが上回り、並列化によってかえって処理時間が増加した。</a:t>
            </a:r>
            <a:endParaRPr lang="en-US" sz="1300" dirty="0"/>
          </a:p>
        </p:txBody>
      </p:sp>
      <p:sp>
        <p:nvSpPr>
          <p:cNvPr id="6" name="Shape 4"/>
          <p:cNvSpPr/>
          <p:nvPr/>
        </p:nvSpPr>
        <p:spPr>
          <a:xfrm>
            <a:off x="548640" y="3017520"/>
            <a:ext cx="11064240" cy="1463040"/>
          </a:xfrm>
          <a:prstGeom prst="roundRect">
            <a:avLst>
              <a:gd name="adj" fmla="val 6250"/>
            </a:avLst>
          </a:prstGeom>
          <a:solidFill>
            <a:srgbClr val="E7E8D1"/>
          </a:solidFill>
          <a:ln/>
        </p:spPr>
      </p:sp>
      <p:sp>
        <p:nvSpPr>
          <p:cNvPr id="7" name="Text 5"/>
          <p:cNvSpPr/>
          <p:nvPr/>
        </p:nvSpPr>
        <p:spPr>
          <a:xfrm>
            <a:off x="777240" y="3127248"/>
            <a:ext cx="3108960" cy="1188720"/>
          </a:xfrm>
          <a:prstGeom prst="rect">
            <a:avLst/>
          </a:prstGeom>
          <a:noFill/>
          <a:ln/>
        </p:spPr>
        <p:txBody>
          <a:bodyPr wrap="square" lIns="0" tIns="0" rIns="0" bIns="0" rtlCol="0" anchor="ctr"/>
          <a:lstStyle/>
          <a:p>
            <a:pPr indent="0" marL="0">
              <a:buNone/>
            </a:pPr>
            <a:r>
              <a:rPr lang="en-US" sz="1500" b="1" dirty="0">
                <a:solidFill>
                  <a:srgbClr val="B85042"/>
                </a:solidFill>
                <a:latin typeface="Cambria" pitchFamily="34" charset="0"/>
                <a:ea typeface="Cambria" pitchFamily="34" charset="-122"/>
                <a:cs typeface="Cambria" pitchFamily="34" charset="-120"/>
              </a:rPr>
              <a:t>本研究への当てはめ</a:t>
            </a:r>
            <a:endParaRPr lang="en-US" sz="1500" dirty="0"/>
          </a:p>
        </p:txBody>
      </p:sp>
      <p:sp>
        <p:nvSpPr>
          <p:cNvPr id="8" name="Text 6"/>
          <p:cNvSpPr/>
          <p:nvPr/>
        </p:nvSpPr>
        <p:spPr>
          <a:xfrm>
            <a:off x="4023360" y="3154680"/>
            <a:ext cx="7315200" cy="1234440"/>
          </a:xfrm>
          <a:prstGeom prst="rect">
            <a:avLst/>
          </a:prstGeom>
          <a:noFill/>
          <a:ln/>
        </p:spPr>
        <p:txBody>
          <a:bodyPr wrap="square" lIns="0" tIns="0" rIns="0" bIns="0" rtlCol="0" anchor="ctr"/>
          <a:lstStyle/>
          <a:p>
            <a:pPr indent="0" marL="0">
              <a:buNone/>
            </a:pPr>
            <a:r>
              <a:rPr lang="en-US" sz="1300" dirty="0">
                <a:solidFill>
                  <a:srgbClr val="333333"/>
                </a:solidFill>
                <a:latin typeface="Calibri" pitchFamily="34" charset="0"/>
                <a:ea typeface="Calibri" pitchFamily="34" charset="-122"/>
                <a:cs typeface="Calibri" pitchFamily="34" charset="-120"/>
              </a:rPr>
              <a:t>精度検証1回は数分を要する重い処理である。オーバーヘッドに対して計算本体が十分に重いため、並列化の効果が得られやすい条件だと見込まれる。</a:t>
            </a:r>
            <a:endParaRPr lang="en-US" sz="1300" dirty="0"/>
          </a:p>
        </p:txBody>
      </p:sp>
      <p:sp>
        <p:nvSpPr>
          <p:cNvPr id="9" name="Shape 7"/>
          <p:cNvSpPr/>
          <p:nvPr/>
        </p:nvSpPr>
        <p:spPr>
          <a:xfrm>
            <a:off x="548640" y="4663440"/>
            <a:ext cx="11064240" cy="1463040"/>
          </a:xfrm>
          <a:prstGeom prst="roundRect">
            <a:avLst>
              <a:gd name="adj" fmla="val 6250"/>
            </a:avLst>
          </a:prstGeom>
          <a:solidFill>
            <a:srgbClr val="B85042"/>
          </a:solidFill>
          <a:ln/>
        </p:spPr>
      </p:sp>
      <p:sp>
        <p:nvSpPr>
          <p:cNvPr id="10" name="Text 8"/>
          <p:cNvSpPr/>
          <p:nvPr/>
        </p:nvSpPr>
        <p:spPr>
          <a:xfrm>
            <a:off x="777240" y="4773168"/>
            <a:ext cx="3108960" cy="1188720"/>
          </a:xfrm>
          <a:prstGeom prst="rect">
            <a:avLst/>
          </a:prstGeom>
          <a:noFill/>
          <a:ln/>
        </p:spPr>
        <p:txBody>
          <a:bodyPr wrap="square" lIns="0" tIns="0" rIns="0" bIns="0" rtlCol="0" anchor="ctr"/>
          <a:lstStyle/>
          <a:p>
            <a:pPr indent="0" marL="0">
              <a:buNone/>
            </a:pPr>
            <a:r>
              <a:rPr lang="en-US" sz="1500" b="1" dirty="0">
                <a:solidFill>
                  <a:srgbClr val="FFFFFF"/>
                </a:solidFill>
                <a:latin typeface="Cambria" pitchFamily="34" charset="0"/>
                <a:ea typeface="Cambria" pitchFamily="34" charset="-122"/>
                <a:cs typeface="Cambria" pitchFamily="34" charset="-120"/>
              </a:rPr>
              <a:t>適用の方針</a:t>
            </a:r>
            <a:endParaRPr lang="en-US" sz="1500" dirty="0"/>
          </a:p>
        </p:txBody>
      </p:sp>
      <p:sp>
        <p:nvSpPr>
          <p:cNvPr id="11" name="Text 9"/>
          <p:cNvSpPr/>
          <p:nvPr/>
        </p:nvSpPr>
        <p:spPr>
          <a:xfrm>
            <a:off x="4023360" y="4800600"/>
            <a:ext cx="7315200" cy="123444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並列化の効果を仮定で判断せず、まず検証1回あたりの処理時間を計測したうえで、並列化する単位とWorker数を決定する。これが第12回の実験から得た最も重要な知見である。</a:t>
            </a:r>
            <a:endParaRPr lang="en-US" sz="13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3B2A26"/>
        </a:solidFill>
      </p:bgPr>
    </p:bg>
    <p:spTree>
      <p:nvGrpSpPr>
        <p:cNvPr id="1" name=""/>
        <p:cNvGrpSpPr/>
        <p:nvPr/>
      </p:nvGrpSpPr>
      <p:grpSpPr>
        <a:xfrm>
          <a:off x="0" y="0"/>
          <a:ext cx="0" cy="0"/>
          <a:chOff x="0" y="0"/>
          <a:chExt cx="0" cy="0"/>
        </a:xfrm>
      </p:grpSpPr>
      <p:sp>
        <p:nvSpPr>
          <p:cNvPr id="2" name="Text 0"/>
          <p:cNvSpPr/>
          <p:nvPr/>
        </p:nvSpPr>
        <p:spPr>
          <a:xfrm>
            <a:off x="731520" y="548640"/>
            <a:ext cx="10698480" cy="731520"/>
          </a:xfrm>
          <a:prstGeom prst="rect">
            <a:avLst/>
          </a:prstGeom>
          <a:noFill/>
          <a:ln/>
        </p:spPr>
        <p:txBody>
          <a:bodyPr wrap="square" lIns="0" tIns="0" rIns="0" bIns="0" rtlCol="0" anchor="ctr"/>
          <a:lstStyle/>
          <a:p>
            <a:pPr indent="0" marL="0">
              <a:buNone/>
            </a:pPr>
            <a:r>
              <a:rPr lang="en-US" sz="3200" b="1" dirty="0">
                <a:solidFill>
                  <a:srgbClr val="FFFFFF"/>
                </a:solidFill>
                <a:latin typeface="Cambria" pitchFamily="34" charset="0"/>
                <a:ea typeface="Cambria" pitchFamily="34" charset="-122"/>
                <a:cs typeface="Cambria" pitchFamily="34" charset="-120"/>
              </a:rPr>
              <a:t>まとめ</a:t>
            </a:r>
            <a:endParaRPr lang="en-US" sz="3200" dirty="0"/>
          </a:p>
        </p:txBody>
      </p:sp>
      <p:sp>
        <p:nvSpPr>
          <p:cNvPr id="3" name="Text 1"/>
          <p:cNvSpPr/>
          <p:nvPr/>
        </p:nvSpPr>
        <p:spPr>
          <a:xfrm>
            <a:off x="822960" y="1554480"/>
            <a:ext cx="10515600" cy="3657600"/>
          </a:xfrm>
          <a:prstGeom prst="rect">
            <a:avLst/>
          </a:prstGeom>
          <a:noFill/>
          <a:ln/>
        </p:spPr>
        <p:txBody>
          <a:bodyPr wrap="square" rtlCol="0" anchor="ctr"/>
          <a:lstStyle/>
          <a:p>
            <a:pPr marL="342900" indent="-342900">
              <a:spcAft>
                <a:spcPts val="1400"/>
              </a:spcAft>
              <a:buSzPct val="100000"/>
              <a:buChar char="•"/>
            </a:pPr>
            <a:r>
              <a:rPr lang="en-US" sz="1700" dirty="0">
                <a:solidFill>
                  <a:srgbClr val="E7E8D1"/>
                </a:solidFill>
                <a:latin typeface="Calibri" pitchFamily="34" charset="0"/>
                <a:ea typeface="Calibri" pitchFamily="34" charset="-122"/>
                <a:cs typeface="Calibri" pitchFamily="34" charset="-120"/>
              </a:rPr>
              <a:t>縄文土器の3Dスキャンデータから縄目文様を全自動で計測する手法を開発しており、テストデータでは精度を確認済みである。</a:t>
            </a:r>
            <a:endParaRPr lang="en-US" sz="1700" dirty="0"/>
          </a:p>
          <a:p>
            <a:pPr marL="342900" indent="-342900">
              <a:spcAft>
                <a:spcPts val="1400"/>
              </a:spcAft>
              <a:buSzPct val="100000"/>
              <a:buChar char="•"/>
            </a:pPr>
            <a:r>
              <a:rPr lang="en-US" sz="1700" dirty="0">
                <a:solidFill>
                  <a:srgbClr val="E7E8D1"/>
                </a:solidFill>
                <a:latin typeface="Calibri" pitchFamily="34" charset="0"/>
                <a:ea typeface="Calibri" pitchFamily="34" charset="-122"/>
                <a:cs typeface="Calibri" pitchFamily="34" charset="-120"/>
              </a:rPr>
              <a:t>研究は今後、手法の信頼性を示すための「精度検証実験の大量実行」の段階に進み、数百条件の逐次実行には1日以上を要する見込みである。</a:t>
            </a:r>
            <a:endParaRPr lang="en-US" sz="1700" dirty="0"/>
          </a:p>
          <a:p>
            <a:pPr marL="342900" indent="-342900">
              <a:spcAft>
                <a:spcPts val="1400"/>
              </a:spcAft>
              <a:buSzPct val="100000"/>
              <a:buChar char="•"/>
            </a:pPr>
            <a:r>
              <a:rPr lang="en-US" sz="1700" dirty="0">
                <a:solidFill>
                  <a:srgbClr val="E7E8D1"/>
                </a:solidFill>
                <a:latin typeface="Calibri" pitchFamily="34" charset="0"/>
                <a:ea typeface="Calibri" pitchFamily="34" charset="-122"/>
                <a:cs typeface="Calibri" pitchFamily="34" charset="-120"/>
              </a:rPr>
              <a:t>各条件の検証は独立した計算であるため、第11・12回で学んだ並列化を適用し、実行時間の大幅な短縮が見込める。</a:t>
            </a:r>
            <a:endParaRPr lang="en-US" sz="1700" dirty="0"/>
          </a:p>
          <a:p>
            <a:pPr marL="342900" indent="-342900">
              <a:buSzPct val="100000"/>
              <a:buChar char="•"/>
            </a:pPr>
            <a:r>
              <a:rPr lang="en-US" sz="1700" dirty="0">
                <a:solidFill>
                  <a:srgbClr val="E7E8D1"/>
                </a:solidFill>
                <a:latin typeface="Calibri" pitchFamily="34" charset="0"/>
                <a:ea typeface="Calibri" pitchFamily="34" charset="-122"/>
                <a:cs typeface="Calibri" pitchFamily="34" charset="-120"/>
              </a:rPr>
              <a:t>適用にあたっては、検証1回あたりの処理時間を計測したうえで並列化の単位を決定するという、第12回の実験で得た知見に基づいて進める。</a:t>
            </a:r>
            <a:endParaRPr lang="en-US" sz="1700" dirty="0"/>
          </a:p>
        </p:txBody>
      </p:sp>
      <p:sp>
        <p:nvSpPr>
          <p:cNvPr id="4" name="Text 2"/>
          <p:cNvSpPr/>
          <p:nvPr/>
        </p:nvSpPr>
        <p:spPr>
          <a:xfrm>
            <a:off x="731520" y="5669280"/>
            <a:ext cx="10698480" cy="548640"/>
          </a:xfrm>
          <a:prstGeom prst="rect">
            <a:avLst/>
          </a:prstGeom>
          <a:noFill/>
          <a:ln/>
        </p:spPr>
        <p:txBody>
          <a:bodyPr wrap="square" lIns="0" tIns="0" rIns="0" bIns="0" rtlCol="0" anchor="ctr"/>
          <a:lstStyle/>
          <a:p>
            <a:pPr algn="ctr" indent="0" marL="0">
              <a:buNone/>
            </a:pPr>
            <a:r>
              <a:rPr lang="en-US" sz="2000" i="1" dirty="0">
                <a:solidFill>
                  <a:srgbClr val="A7BEAE"/>
                </a:solidFill>
                <a:latin typeface="Cambria" pitchFamily="34" charset="0"/>
                <a:ea typeface="Cambria" pitchFamily="34" charset="-122"/>
                <a:cs typeface="Cambria" pitchFamily="34" charset="-120"/>
              </a:rPr>
              <a:t>ご清聴ありがとうございました</a:t>
            </a:r>
            <a:endParaRPr lang="en-US" sz="2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9</Slides>
  <Notes>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9</vt:i4>
      </vt:variant>
    </vt:vector>
  </HeadingPairs>
  <TitlesOfParts>
    <vt:vector size="1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2026-07-20T06:34:20Z</dcterms:created>
  <dcterms:modified xsi:type="dcterms:W3CDTF">2026-07-20T06:34:20Z</dcterms:modified>
</cp:coreProperties>
</file>