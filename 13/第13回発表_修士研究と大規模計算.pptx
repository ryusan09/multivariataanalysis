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第13回の発表を始めます。私の修士研究は、ひとことで言うと「縄文土器の表面にある縄目のもようを、コンピュータで自動的に測る」というものです。
本日は前半で研究の中身を紹介し、後半で、この講義で学んだことを使うと、研究のどこをこれから効率化できそうか、という見通しをお話しします。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まず、どんな研究かを説明します。縄文土器の表面には、縄を転がして付けた縄目のもようが残っています。右の画像が、実際に使っている土器のかけらの3Dスキャンです。
このもようの間隔や、縄が1回転する長さがわかると、どんな縄を使ってどう作られたのか、という考古学の手がかりになります。
ただ、いままでは研究者が目で見て手作業で測っていました。時間がかかりますし、測る人によって結果が変わってしまうという問題があります。
そこで私の研究では、土器を3Dスキャンしたデータをコンピュータに読み込ませて、縄目の間隔や向きを全部自動で測れるようにすることを目指しています。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（約55秒）
処理の流れは5つのステップです。
まず3Dスキャンのデータを読み込み、次に、縄目のもようがある面だけを選び出します。3つ目のステップで、その面のでこぼこを普通の2次元の画像に変換します。ここまでくれば、あとは画像処理の問題になります。
4つ目のステップで、もようの繰り返しの間隔と向きを測り、最後の5つ目で、縄が1回転するごとの区切りの位置を見つけます。
ポイントは、3Dの複雑な形をそのまま扱うのではなく、2Dの画像、さらに1本の波形へと、だんだんシンプルなデータに変換しながら測っていくことです。
プログラムはすでに動いていて、答えがわかっているテスト用のデータでは、正しく測れることを確認しています。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この研究のいちばんの新しさが、最後のステップです。
縄は1回転するごとに同じもようが繰り返されます。右の画像の黒い点は、人が目で見て付けた「縄1回転分の区切り」の位置です。これをコンピュータに見つけさせたい、というわけです。
やり方のイメージは単純で、もようの画像を少しずつずらしながら重ねてみて、「どれだけずらすと一番ぴったり重なるか」を調べます。一番よく重なるずらし幅が、ちょうど縄1回転分の長さになります。
テスト用のデータで確認したところ、正解とのずれは2%未満で、データの2割が欠けていても精度を保てました。用意した16件のテストにすべて合格しています。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（約45秒）
いまどこまでできているかです。本物の土器のデータで動かすと、縄目の間隔が約3.4ミリ、縄1回転分の長さが約44ミリ、区切りの位置が6か所、というように自動で測れています。
ただし課題もあります。いちばん大きいのは、本物の土器については「本当の正解」のデータがまだ手元になく、どれくらい正確に測れているのかを数字で示せていないことです。いま、正解データの計測を指導教員にお願いしています。
また、測るときの細かい設定を人が手で決めている点も、今後自動化したいところです。
ここからが後半の本題で、この研究を、講義で学んだ内容を使ってこれからどう効率化できそうか、という見通しの話です。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効率化の余地についてです。土器のかけら1つで点の数が約700万個という大きなデータですが、いまのプログラムは、これを1台のマシンで順番に処理しています。
土器1つを測るだけならこれでも動きます。ただ、研究はこれから「テストを何百回も回す」「土器を何十個も測る」というフェーズに入っていきます。
つまり、講義で学んだ効率化の考え方が本領を発揮するのはまさにこれからです。次の2枚で、その候補を挙げます。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（約70秒）
これから効率化できそうな場所は、大きく3つあると考えています。
1つ目は、精度テストの大量実行です。今後、ノイズや欠けの量を変えたテストデータで、何百回も精度を測る予定です。それぞれの条件は独立した計算で、お互いの結果を待つ必要がありません。第11回・12回で学んだ並列化がそのまま使える形だと考えています。
2つ目は、手動の設定の自動チューニングです。いまは画像の細かさや探す範囲などを人が手で決めていて、ここに試行錯誤の時間がかかっています。第12回で学んだ遺伝的アルゴリズムのような「よい設定を自動で探す」手法に置き換えれば、この時間をなくせるはずです。
3つ目は、たくさんの土器をまとめて処理する段階です。土器ごとの処理は独立なので手分けできますし、測った値を土器どうしで比べるところでは、講義前半で学んだ統計的な手法が使え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（約60秒）
ただし、手分けすれば必ず速くなるわけではない、というのが第12回の実験で学んだことです。
第12回の遺伝的アルゴリズムの実験では、1つ1つの計算が軽すぎたため、手分けの準備、つまりWorkerの用意やデータの受け渡しのほうに時間がかかって、並列化するとかえって遅くなりました。
これを本研究にあてはめると、土器1つの処理やテスト1回は数分かかる重い計算です。準備のコストより計算そのもののほうがずっと重いので、こちらは手分けの効果が出やすい形だと見込んでいます。
とはいえ、思い込みで並列化はしません。まず1つの計算にかかる時間をきちんと測ってから、手分けする単位を決める。これが第12回の実験から得たいちばんの教訓だと考えています。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（約35秒）
まとめです。私の研究は、縄文土器の縄目もようを3Dスキャンデータから全自動で測る仕組みづくりで、テスト用データでは精度を確認できています。
研究はこれから、テストの大量実行、設定の調整、多数の土器への適用というフェーズに入り、ここに効率化の余地が大きくあります。
具体的には、独立な計算の並列実行と、遺伝的アルゴリズムによる設定の自動チューニングが使えそうだと考えており、その際は「1つの計算の重さを測ってから手分けを決める」という第12回の教訓に従って進めていきます。
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A26"/>
        </a:solidFill>
      </p:bgPr>
    </p:bg>
    <p:spTree>
      <p:nvGrpSpPr>
        <p:cNvPr id="1" name=""/>
        <p:cNvGrpSpPr/>
        <p:nvPr/>
      </p:nvGrpSpPr>
      <p:grpSpPr>
        <a:xfrm>
          <a:off x="0" y="0"/>
          <a:ext cx="0" cy="0"/>
          <a:chOff x="0" y="0"/>
          <a:chExt cx="0" cy="0"/>
        </a:xfrm>
      </p:grpSpPr>
      <p:sp>
        <p:nvSpPr>
          <p:cNvPr id="2" name="Text 0"/>
          <p:cNvSpPr/>
          <p:nvPr/>
        </p:nvSpPr>
        <p:spPr>
          <a:xfrm>
            <a:off x="731520" y="1188720"/>
            <a:ext cx="10698480" cy="457200"/>
          </a:xfrm>
          <a:prstGeom prst="rect">
            <a:avLst/>
          </a:prstGeom>
          <a:noFill/>
          <a:ln/>
        </p:spPr>
        <p:txBody>
          <a:bodyPr wrap="square" lIns="0" tIns="0" rIns="0" bIns="0" rtlCol="0" anchor="ctr"/>
          <a:lstStyle/>
          <a:p>
            <a:pPr indent="0" marL="0">
              <a:buNone/>
            </a:pPr>
            <a:r>
              <a:rPr lang="en-US" sz="1600" dirty="0">
                <a:solidFill>
                  <a:srgbClr val="A7BEAE"/>
                </a:solidFill>
                <a:latin typeface="Calibri" pitchFamily="34" charset="0"/>
                <a:ea typeface="Calibri" pitchFamily="34" charset="-122"/>
                <a:cs typeface="Calibri" pitchFamily="34" charset="-120"/>
              </a:rPr>
              <a:t>多変量解析及び大規模計算論  第13回発表</a:t>
            </a:r>
            <a:endParaRPr lang="en-US" sz="1600" dirty="0"/>
          </a:p>
        </p:txBody>
      </p:sp>
      <p:sp>
        <p:nvSpPr>
          <p:cNvPr id="3" name="Text 1"/>
          <p:cNvSpPr/>
          <p:nvPr/>
        </p:nvSpPr>
        <p:spPr>
          <a:xfrm>
            <a:off x="731520" y="1828800"/>
            <a:ext cx="1069848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縄文土器の縄目もようを</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コンピュータで自動計測する研究</a:t>
            </a:r>
            <a:endParaRPr lang="en-US" sz="4000" dirty="0"/>
          </a:p>
        </p:txBody>
      </p:sp>
      <p:sp>
        <p:nvSpPr>
          <p:cNvPr id="4" name="Text 2"/>
          <p:cNvSpPr/>
          <p:nvPr/>
        </p:nvSpPr>
        <p:spPr>
          <a:xfrm>
            <a:off x="731520" y="3749040"/>
            <a:ext cx="10698480" cy="548640"/>
          </a:xfrm>
          <a:prstGeom prst="rect">
            <a:avLst/>
          </a:prstGeom>
          <a:noFill/>
          <a:ln/>
        </p:spPr>
        <p:txBody>
          <a:bodyPr wrap="square" lIns="0" tIns="0" rIns="0" bIns="0" rtlCol="0" anchor="ctr"/>
          <a:lstStyle/>
          <a:p>
            <a:pPr indent="0" marL="0">
              <a:buNone/>
            </a:pPr>
            <a:r>
              <a:rPr lang="en-US" sz="2000" i="1" dirty="0">
                <a:solidFill>
                  <a:srgbClr val="E7E8D1"/>
                </a:solidFill>
                <a:latin typeface="Calibri" pitchFamily="34" charset="0"/>
                <a:ea typeface="Calibri" pitchFamily="34" charset="-122"/>
                <a:cs typeface="Calibri" pitchFamily="34" charset="-120"/>
              </a:rPr>
              <a:t>— 研究紹介と、講義内容を活かした今後の効率化 —</a:t>
            </a:r>
            <a:endParaRPr lang="en-US" sz="2000" dirty="0"/>
          </a:p>
        </p:txBody>
      </p:sp>
      <p:sp>
        <p:nvSpPr>
          <p:cNvPr id="5" name="Text 3"/>
          <p:cNvSpPr/>
          <p:nvPr/>
        </p:nvSpPr>
        <p:spPr>
          <a:xfrm>
            <a:off x="731520" y="5760720"/>
            <a:ext cx="10698480" cy="365760"/>
          </a:xfrm>
          <a:prstGeom prst="rect">
            <a:avLst/>
          </a:prstGeom>
          <a:noFill/>
          <a:ln/>
        </p:spPr>
        <p:txBody>
          <a:bodyPr wrap="square" lIns="0" tIns="0" rIns="0" bIns="0" rtlCol="0" anchor="ctr"/>
          <a:lstStyle/>
          <a:p>
            <a:pPr indent="0" marL="0">
              <a:buNone/>
            </a:pPr>
            <a:r>
              <a:rPr lang="en-US" sz="1400" dirty="0">
                <a:solidFill>
                  <a:srgbClr val="A7BEAE"/>
                </a:solidFill>
                <a:latin typeface="Calibri" pitchFamily="34" charset="0"/>
                <a:ea typeface="Calibri" pitchFamily="34" charset="-122"/>
                <a:cs typeface="Calibri" pitchFamily="34" charset="-120"/>
              </a:rPr>
              <a:t>愛知工業大学大学院</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どんな研究か</a:t>
            </a:r>
            <a:endParaRPr lang="en-US" sz="3000" dirty="0"/>
          </a:p>
        </p:txBody>
      </p:sp>
      <p:sp>
        <p:nvSpPr>
          <p:cNvPr id="3" name="Shape 1"/>
          <p:cNvSpPr/>
          <p:nvPr/>
        </p:nvSpPr>
        <p:spPr>
          <a:xfrm>
            <a:off x="548640" y="1325880"/>
            <a:ext cx="6400800" cy="1051560"/>
          </a:xfrm>
          <a:prstGeom prst="roundRect">
            <a:avLst>
              <a:gd name="adj" fmla="val 6957"/>
            </a:avLst>
          </a:prstGeom>
          <a:solidFill>
            <a:srgbClr val="E7E8D1"/>
          </a:solidFill>
          <a:ln/>
        </p:spPr>
      </p:sp>
      <p:sp>
        <p:nvSpPr>
          <p:cNvPr id="4" name="Text 2"/>
          <p:cNvSpPr/>
          <p:nvPr/>
        </p:nvSpPr>
        <p:spPr>
          <a:xfrm>
            <a:off x="777240" y="1417320"/>
            <a:ext cx="1828800" cy="365760"/>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背景</a:t>
            </a:r>
            <a:endParaRPr lang="en-US" sz="1600" dirty="0"/>
          </a:p>
        </p:txBody>
      </p:sp>
      <p:sp>
        <p:nvSpPr>
          <p:cNvPr id="5" name="Text 3"/>
          <p:cNvSpPr/>
          <p:nvPr/>
        </p:nvSpPr>
        <p:spPr>
          <a:xfrm>
            <a:off x="777240" y="1709928"/>
            <a:ext cx="5943600" cy="64008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縄文土器の表面には、縄を転がして付けた「縄目もよう」が残っている。もようの間隔や縄1回転分の長さがわかると、どんな縄でどう作られたかの手がかりになる。</a:t>
            </a:r>
            <a:endParaRPr lang="en-US" sz="1250" dirty="0"/>
          </a:p>
        </p:txBody>
      </p:sp>
      <p:sp>
        <p:nvSpPr>
          <p:cNvPr id="6" name="Shape 4"/>
          <p:cNvSpPr/>
          <p:nvPr/>
        </p:nvSpPr>
        <p:spPr>
          <a:xfrm>
            <a:off x="548640" y="2560320"/>
            <a:ext cx="6400800" cy="1051560"/>
          </a:xfrm>
          <a:prstGeom prst="roundRect">
            <a:avLst>
              <a:gd name="adj" fmla="val 6957"/>
            </a:avLst>
          </a:prstGeom>
          <a:solidFill>
            <a:srgbClr val="E7E8D1"/>
          </a:solidFill>
          <a:ln/>
        </p:spPr>
      </p:sp>
      <p:sp>
        <p:nvSpPr>
          <p:cNvPr id="7" name="Text 5"/>
          <p:cNvSpPr/>
          <p:nvPr/>
        </p:nvSpPr>
        <p:spPr>
          <a:xfrm>
            <a:off x="777240" y="2651760"/>
            <a:ext cx="1828800" cy="365760"/>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困りごと</a:t>
            </a:r>
            <a:endParaRPr lang="en-US" sz="1600" dirty="0"/>
          </a:p>
        </p:txBody>
      </p:sp>
      <p:sp>
        <p:nvSpPr>
          <p:cNvPr id="8" name="Text 6"/>
          <p:cNvSpPr/>
          <p:nvPr/>
        </p:nvSpPr>
        <p:spPr>
          <a:xfrm>
            <a:off x="777240" y="2944368"/>
            <a:ext cx="5943600" cy="64008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いままでは研究者が目で見て手作業で測っていた。時間がかかるし、人によって結果が変わってしまう。</a:t>
            </a:r>
            <a:endParaRPr lang="en-US" sz="1250" dirty="0"/>
          </a:p>
        </p:txBody>
      </p:sp>
      <p:sp>
        <p:nvSpPr>
          <p:cNvPr id="9" name="Shape 7"/>
          <p:cNvSpPr/>
          <p:nvPr/>
        </p:nvSpPr>
        <p:spPr>
          <a:xfrm>
            <a:off x="548640" y="3794760"/>
            <a:ext cx="6400800" cy="1051560"/>
          </a:xfrm>
          <a:prstGeom prst="roundRect">
            <a:avLst>
              <a:gd name="adj" fmla="val 6957"/>
            </a:avLst>
          </a:prstGeom>
          <a:solidFill>
            <a:srgbClr val="B85042"/>
          </a:solidFill>
          <a:ln/>
        </p:spPr>
      </p:sp>
      <p:sp>
        <p:nvSpPr>
          <p:cNvPr id="10" name="Text 8"/>
          <p:cNvSpPr/>
          <p:nvPr/>
        </p:nvSpPr>
        <p:spPr>
          <a:xfrm>
            <a:off x="777240" y="3886200"/>
            <a:ext cx="18288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やりたいこと</a:t>
            </a:r>
            <a:endParaRPr lang="en-US" sz="1600" dirty="0"/>
          </a:p>
        </p:txBody>
      </p:sp>
      <p:sp>
        <p:nvSpPr>
          <p:cNvPr id="11" name="Text 9"/>
          <p:cNvSpPr/>
          <p:nvPr/>
        </p:nvSpPr>
        <p:spPr>
          <a:xfrm>
            <a:off x="777240" y="4178808"/>
            <a:ext cx="5943600"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土器を3Dスキャンしたデータをコンピュータに読み込ませて、縄目の間隔・向き・縄1回転分の区切りを、全部自動で測れるようにする。</a:t>
            </a:r>
            <a:endParaRPr lang="en-US" sz="1250" dirty="0"/>
          </a:p>
        </p:txBody>
      </p:sp>
      <p:pic>
        <p:nvPicPr>
          <p:cNvPr id="12" name="Image 0" descr="/Users/ryusan/brain/02_Raw/土器1（同巡点）.png">    </p:cNvPr>
          <p:cNvPicPr>
            <a:picLocks noChangeAspect="1"/>
          </p:cNvPicPr>
          <p:nvPr/>
        </p:nvPicPr>
        <p:blipFill>
          <a:blip r:embed="rId1"/>
          <a:stretch>
            <a:fillRect/>
          </a:stretch>
        </p:blipFill>
        <p:spPr>
          <a:xfrm>
            <a:off x="7315200" y="1463040"/>
            <a:ext cx="4297680" cy="2651760"/>
          </a:xfrm>
          <a:prstGeom prst="rect">
            <a:avLst/>
          </a:prstGeom>
        </p:spPr>
      </p:pic>
      <p:sp>
        <p:nvSpPr>
          <p:cNvPr id="13" name="Text 10"/>
          <p:cNvSpPr/>
          <p:nvPr/>
        </p:nvSpPr>
        <p:spPr>
          <a:xfrm>
            <a:off x="7315200" y="4206240"/>
            <a:ext cx="4297680" cy="320040"/>
          </a:xfrm>
          <a:prstGeom prst="rect">
            <a:avLst/>
          </a:prstGeom>
          <a:noFill/>
          <a:ln/>
        </p:spPr>
        <p:txBody>
          <a:bodyPr wrap="square" lIns="0" tIns="0" rIns="0" bIns="0" rtlCol="0" anchor="ctr"/>
          <a:lstStyle/>
          <a:p>
            <a:pPr indent="0" marL="0">
              <a:buNone/>
            </a:pPr>
            <a:r>
              <a:rPr lang="en-US" sz="1100" dirty="0">
                <a:solidFill>
                  <a:srgbClr val="7A6A62"/>
                </a:solidFill>
                <a:latin typeface="Calibri" pitchFamily="34" charset="0"/>
                <a:ea typeface="Calibri" pitchFamily="34" charset="-122"/>
                <a:cs typeface="Calibri" pitchFamily="34" charset="-120"/>
              </a:rPr>
              <a:t>研究で使っている土器片の3Dスキャンデータ</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処理の流れ（5つのステップ）</a:t>
            </a:r>
            <a:endParaRPr lang="en-US" sz="3000" dirty="0"/>
          </a:p>
        </p:txBody>
      </p:sp>
      <p:sp>
        <p:nvSpPr>
          <p:cNvPr id="3" name="Shape 1"/>
          <p:cNvSpPr/>
          <p:nvPr/>
        </p:nvSpPr>
        <p:spPr>
          <a:xfrm>
            <a:off x="502920" y="1828800"/>
            <a:ext cx="2103120" cy="2377440"/>
          </a:xfrm>
          <a:prstGeom prst="roundRect">
            <a:avLst>
              <a:gd name="adj" fmla="val 4348"/>
            </a:avLst>
          </a:prstGeom>
          <a:solidFill>
            <a:srgbClr val="E7E8D1"/>
          </a:solidFill>
          <a:ln/>
        </p:spPr>
      </p:sp>
      <p:sp>
        <p:nvSpPr>
          <p:cNvPr id="4" name="Text 2"/>
          <p:cNvSpPr/>
          <p:nvPr/>
        </p:nvSpPr>
        <p:spPr>
          <a:xfrm>
            <a:off x="502920" y="1965960"/>
            <a:ext cx="2103120" cy="457200"/>
          </a:xfrm>
          <a:prstGeom prst="rect">
            <a:avLst/>
          </a:prstGeom>
          <a:noFill/>
          <a:ln/>
        </p:spPr>
        <p:txBody>
          <a:bodyPr wrap="square" lIns="0" tIns="0" rIns="0" bIns="0" rtlCol="0" anchor="ctr"/>
          <a:lstStyle/>
          <a:p>
            <a:pPr algn="ctr" indent="0" marL="0">
              <a:buNone/>
            </a:pPr>
            <a:r>
              <a:rPr lang="en-US" sz="2200" b="1" dirty="0">
                <a:solidFill>
                  <a:srgbClr val="B85042"/>
                </a:solidFill>
                <a:latin typeface="Cambria" pitchFamily="34" charset="0"/>
                <a:ea typeface="Cambria" pitchFamily="34" charset="-122"/>
                <a:cs typeface="Cambria" pitchFamily="34" charset="-120"/>
              </a:rPr>
              <a:t>M1</a:t>
            </a:r>
            <a:endParaRPr lang="en-US" sz="2200" dirty="0"/>
          </a:p>
        </p:txBody>
      </p:sp>
      <p:sp>
        <p:nvSpPr>
          <p:cNvPr id="5" name="Text 3"/>
          <p:cNvSpPr/>
          <p:nvPr/>
        </p:nvSpPr>
        <p:spPr>
          <a:xfrm>
            <a:off x="502920" y="2468880"/>
            <a:ext cx="2103120" cy="365760"/>
          </a:xfrm>
          <a:prstGeom prst="rect">
            <a:avLst/>
          </a:prstGeom>
          <a:noFill/>
          <a:ln/>
        </p:spPr>
        <p:txBody>
          <a:bodyPr wrap="square" lIns="0" tIns="0" rIns="0" bIns="0" rtlCol="0" anchor="ctr"/>
          <a:lstStyle/>
          <a:p>
            <a:pPr algn="ctr" indent="0" marL="0">
              <a:buNone/>
            </a:pPr>
            <a:r>
              <a:rPr lang="en-US" sz="1400" b="1" dirty="0">
                <a:solidFill>
                  <a:srgbClr val="333333"/>
                </a:solidFill>
                <a:latin typeface="Calibri" pitchFamily="34" charset="0"/>
                <a:ea typeface="Calibri" pitchFamily="34" charset="-122"/>
                <a:cs typeface="Calibri" pitchFamily="34" charset="-120"/>
              </a:rPr>
              <a:t>読み込み</a:t>
            </a:r>
            <a:endParaRPr lang="en-US" sz="1400" dirty="0"/>
          </a:p>
        </p:txBody>
      </p:sp>
      <p:sp>
        <p:nvSpPr>
          <p:cNvPr id="6" name="Text 4"/>
          <p:cNvSpPr/>
          <p:nvPr/>
        </p:nvSpPr>
        <p:spPr>
          <a:xfrm>
            <a:off x="594360" y="2880360"/>
            <a:ext cx="1920240" cy="1188720"/>
          </a:xfrm>
          <a:prstGeom prst="rect">
            <a:avLst/>
          </a:prstGeom>
          <a:noFill/>
          <a:ln/>
        </p:spPr>
        <p:txBody>
          <a:bodyPr wrap="square" lIns="0" tIns="0" rIns="0" bIns="0"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3Dスキャンデータを</a:t>
            </a:r>
            <a:endParaRPr lang="en-US" sz="1100" dirty="0"/>
          </a:p>
          <a:p>
            <a:pPr algn="ctr" indent="0" marL="0">
              <a:buNone/>
            </a:pPr>
            <a:r>
              <a:rPr lang="en-US" sz="1100" dirty="0">
                <a:solidFill>
                  <a:srgbClr val="333333"/>
                </a:solidFill>
                <a:latin typeface="Calibri" pitchFamily="34" charset="0"/>
                <a:ea typeface="Calibri" pitchFamily="34" charset="-122"/>
                <a:cs typeface="Calibri" pitchFamily="34" charset="-120"/>
              </a:rPr>
              <a:t>読み込む</a:t>
            </a:r>
            <a:endParaRPr lang="en-US" sz="1100" dirty="0"/>
          </a:p>
        </p:txBody>
      </p:sp>
      <p:sp>
        <p:nvSpPr>
          <p:cNvPr id="7" name="Text 5"/>
          <p:cNvSpPr/>
          <p:nvPr/>
        </p:nvSpPr>
        <p:spPr>
          <a:xfrm>
            <a:off x="2569464" y="2788920"/>
            <a:ext cx="365760" cy="457200"/>
          </a:xfrm>
          <a:prstGeom prst="rect">
            <a:avLst/>
          </a:prstGeom>
          <a:noFill/>
          <a:ln/>
        </p:spPr>
        <p:txBody>
          <a:bodyPr wrap="square" lIns="0" tIns="0" rIns="0" bIns="0" rtlCol="0" anchor="ctr"/>
          <a:lstStyle/>
          <a:p>
            <a:pPr algn="ctr" indent="0" marL="0">
              <a:buNone/>
            </a:pPr>
            <a:r>
              <a:rPr lang="en-US" sz="2000" b="1" dirty="0">
                <a:solidFill>
                  <a:srgbClr val="7A6A62"/>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62072" y="1828800"/>
            <a:ext cx="2103120" cy="2377440"/>
          </a:xfrm>
          <a:prstGeom prst="roundRect">
            <a:avLst>
              <a:gd name="adj" fmla="val 4348"/>
            </a:avLst>
          </a:prstGeom>
          <a:solidFill>
            <a:srgbClr val="E7E8D1"/>
          </a:solidFill>
          <a:ln/>
        </p:spPr>
      </p:sp>
      <p:sp>
        <p:nvSpPr>
          <p:cNvPr id="9" name="Text 7"/>
          <p:cNvSpPr/>
          <p:nvPr/>
        </p:nvSpPr>
        <p:spPr>
          <a:xfrm>
            <a:off x="2862072" y="1965960"/>
            <a:ext cx="2103120" cy="457200"/>
          </a:xfrm>
          <a:prstGeom prst="rect">
            <a:avLst/>
          </a:prstGeom>
          <a:noFill/>
          <a:ln/>
        </p:spPr>
        <p:txBody>
          <a:bodyPr wrap="square" lIns="0" tIns="0" rIns="0" bIns="0" rtlCol="0" anchor="ctr"/>
          <a:lstStyle/>
          <a:p>
            <a:pPr algn="ctr" indent="0" marL="0">
              <a:buNone/>
            </a:pPr>
            <a:r>
              <a:rPr lang="en-US" sz="2200" b="1" dirty="0">
                <a:solidFill>
                  <a:srgbClr val="B85042"/>
                </a:solidFill>
                <a:latin typeface="Cambria" pitchFamily="34" charset="0"/>
                <a:ea typeface="Cambria" pitchFamily="34" charset="-122"/>
                <a:cs typeface="Cambria" pitchFamily="34" charset="-120"/>
              </a:rPr>
              <a:t>M2</a:t>
            </a:r>
            <a:endParaRPr lang="en-US" sz="2200" dirty="0"/>
          </a:p>
        </p:txBody>
      </p:sp>
      <p:sp>
        <p:nvSpPr>
          <p:cNvPr id="10" name="Text 8"/>
          <p:cNvSpPr/>
          <p:nvPr/>
        </p:nvSpPr>
        <p:spPr>
          <a:xfrm>
            <a:off x="2862072" y="2468880"/>
            <a:ext cx="2103120" cy="365760"/>
          </a:xfrm>
          <a:prstGeom prst="rect">
            <a:avLst/>
          </a:prstGeom>
          <a:noFill/>
          <a:ln/>
        </p:spPr>
        <p:txBody>
          <a:bodyPr wrap="square" lIns="0" tIns="0" rIns="0" bIns="0" rtlCol="0" anchor="ctr"/>
          <a:lstStyle/>
          <a:p>
            <a:pPr algn="ctr" indent="0" marL="0">
              <a:buNone/>
            </a:pPr>
            <a:r>
              <a:rPr lang="en-US" sz="1400" b="1" dirty="0">
                <a:solidFill>
                  <a:srgbClr val="333333"/>
                </a:solidFill>
                <a:latin typeface="Calibri" pitchFamily="34" charset="0"/>
                <a:ea typeface="Calibri" pitchFamily="34" charset="-122"/>
                <a:cs typeface="Calibri" pitchFamily="34" charset="-120"/>
              </a:rPr>
              <a:t>面の切り出し</a:t>
            </a:r>
            <a:endParaRPr lang="en-US" sz="1400" dirty="0"/>
          </a:p>
        </p:txBody>
      </p:sp>
      <p:sp>
        <p:nvSpPr>
          <p:cNvPr id="11" name="Text 9"/>
          <p:cNvSpPr/>
          <p:nvPr/>
        </p:nvSpPr>
        <p:spPr>
          <a:xfrm>
            <a:off x="2953512" y="2880360"/>
            <a:ext cx="1920240" cy="1188720"/>
          </a:xfrm>
          <a:prstGeom prst="rect">
            <a:avLst/>
          </a:prstGeom>
          <a:noFill/>
          <a:ln/>
        </p:spPr>
        <p:txBody>
          <a:bodyPr wrap="square" lIns="0" tIns="0" rIns="0" bIns="0"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縄目がある面だけを</a:t>
            </a:r>
            <a:endParaRPr lang="en-US" sz="1100" dirty="0"/>
          </a:p>
          <a:p>
            <a:pPr algn="ctr" indent="0" marL="0">
              <a:buNone/>
            </a:pPr>
            <a:r>
              <a:rPr lang="en-US" sz="1100" dirty="0">
                <a:solidFill>
                  <a:srgbClr val="333333"/>
                </a:solidFill>
                <a:latin typeface="Calibri" pitchFamily="34" charset="0"/>
                <a:ea typeface="Calibri" pitchFamily="34" charset="-122"/>
                <a:cs typeface="Calibri" pitchFamily="34" charset="-120"/>
              </a:rPr>
              <a:t>選び出す</a:t>
            </a:r>
            <a:endParaRPr lang="en-US" sz="1100" dirty="0"/>
          </a:p>
        </p:txBody>
      </p:sp>
      <p:sp>
        <p:nvSpPr>
          <p:cNvPr id="12" name="Text 10"/>
          <p:cNvSpPr/>
          <p:nvPr/>
        </p:nvSpPr>
        <p:spPr>
          <a:xfrm>
            <a:off x="4928616" y="2788920"/>
            <a:ext cx="365760" cy="457200"/>
          </a:xfrm>
          <a:prstGeom prst="rect">
            <a:avLst/>
          </a:prstGeom>
          <a:noFill/>
          <a:ln/>
        </p:spPr>
        <p:txBody>
          <a:bodyPr wrap="square" lIns="0" tIns="0" rIns="0" bIns="0" rtlCol="0" anchor="ctr"/>
          <a:lstStyle/>
          <a:p>
            <a:pPr algn="ctr" indent="0" marL="0">
              <a:buNone/>
            </a:pPr>
            <a:r>
              <a:rPr lang="en-US" sz="2000" b="1" dirty="0">
                <a:solidFill>
                  <a:srgbClr val="7A6A62"/>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221224" y="1828800"/>
            <a:ext cx="2103120" cy="2377440"/>
          </a:xfrm>
          <a:prstGeom prst="roundRect">
            <a:avLst>
              <a:gd name="adj" fmla="val 4348"/>
            </a:avLst>
          </a:prstGeom>
          <a:solidFill>
            <a:srgbClr val="E7E8D1"/>
          </a:solidFill>
          <a:ln/>
        </p:spPr>
      </p:sp>
      <p:sp>
        <p:nvSpPr>
          <p:cNvPr id="14" name="Text 12"/>
          <p:cNvSpPr/>
          <p:nvPr/>
        </p:nvSpPr>
        <p:spPr>
          <a:xfrm>
            <a:off x="5221224" y="1965960"/>
            <a:ext cx="2103120" cy="457200"/>
          </a:xfrm>
          <a:prstGeom prst="rect">
            <a:avLst/>
          </a:prstGeom>
          <a:noFill/>
          <a:ln/>
        </p:spPr>
        <p:txBody>
          <a:bodyPr wrap="square" lIns="0" tIns="0" rIns="0" bIns="0" rtlCol="0" anchor="ctr"/>
          <a:lstStyle/>
          <a:p>
            <a:pPr algn="ctr" indent="0" marL="0">
              <a:buNone/>
            </a:pPr>
            <a:r>
              <a:rPr lang="en-US" sz="2200" b="1" dirty="0">
                <a:solidFill>
                  <a:srgbClr val="B85042"/>
                </a:solidFill>
                <a:latin typeface="Cambria" pitchFamily="34" charset="0"/>
                <a:ea typeface="Cambria" pitchFamily="34" charset="-122"/>
                <a:cs typeface="Cambria" pitchFamily="34" charset="-120"/>
              </a:rPr>
              <a:t>M3</a:t>
            </a:r>
            <a:endParaRPr lang="en-US" sz="2200" dirty="0"/>
          </a:p>
        </p:txBody>
      </p:sp>
      <p:sp>
        <p:nvSpPr>
          <p:cNvPr id="15" name="Text 13"/>
          <p:cNvSpPr/>
          <p:nvPr/>
        </p:nvSpPr>
        <p:spPr>
          <a:xfrm>
            <a:off x="5221224" y="2468880"/>
            <a:ext cx="2103120" cy="365760"/>
          </a:xfrm>
          <a:prstGeom prst="rect">
            <a:avLst/>
          </a:prstGeom>
          <a:noFill/>
          <a:ln/>
        </p:spPr>
        <p:txBody>
          <a:bodyPr wrap="square" lIns="0" tIns="0" rIns="0" bIns="0" rtlCol="0" anchor="ctr"/>
          <a:lstStyle/>
          <a:p>
            <a:pPr algn="ctr" indent="0" marL="0">
              <a:buNone/>
            </a:pPr>
            <a:r>
              <a:rPr lang="en-US" sz="1400" b="1" dirty="0">
                <a:solidFill>
                  <a:srgbClr val="333333"/>
                </a:solidFill>
                <a:latin typeface="Calibri" pitchFamily="34" charset="0"/>
                <a:ea typeface="Calibri" pitchFamily="34" charset="-122"/>
                <a:cs typeface="Calibri" pitchFamily="34" charset="-120"/>
              </a:rPr>
              <a:t>画像に変換</a:t>
            </a:r>
            <a:endParaRPr lang="en-US" sz="1400" dirty="0"/>
          </a:p>
        </p:txBody>
      </p:sp>
      <p:sp>
        <p:nvSpPr>
          <p:cNvPr id="16" name="Text 14"/>
          <p:cNvSpPr/>
          <p:nvPr/>
        </p:nvSpPr>
        <p:spPr>
          <a:xfrm>
            <a:off x="5312664" y="2880360"/>
            <a:ext cx="1920240" cy="1188720"/>
          </a:xfrm>
          <a:prstGeom prst="rect">
            <a:avLst/>
          </a:prstGeom>
          <a:noFill/>
          <a:ln/>
        </p:spPr>
        <p:txBody>
          <a:bodyPr wrap="square" lIns="0" tIns="0" rIns="0" bIns="0"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でこぼこを</a:t>
            </a:r>
            <a:endParaRPr lang="en-US" sz="1100" dirty="0"/>
          </a:p>
          <a:p>
            <a:pPr algn="ctr" indent="0" marL="0">
              <a:buNone/>
            </a:pPr>
            <a:r>
              <a:rPr lang="en-US" sz="1100" dirty="0">
                <a:solidFill>
                  <a:srgbClr val="333333"/>
                </a:solidFill>
                <a:latin typeface="Calibri" pitchFamily="34" charset="0"/>
                <a:ea typeface="Calibri" pitchFamily="34" charset="-122"/>
                <a:cs typeface="Calibri" pitchFamily="34" charset="-120"/>
              </a:rPr>
              <a:t>2Dの画像にする</a:t>
            </a:r>
            <a:endParaRPr lang="en-US" sz="1100" dirty="0"/>
          </a:p>
        </p:txBody>
      </p:sp>
      <p:sp>
        <p:nvSpPr>
          <p:cNvPr id="17" name="Text 15"/>
          <p:cNvSpPr/>
          <p:nvPr/>
        </p:nvSpPr>
        <p:spPr>
          <a:xfrm>
            <a:off x="7287768" y="2788920"/>
            <a:ext cx="365760" cy="457200"/>
          </a:xfrm>
          <a:prstGeom prst="rect">
            <a:avLst/>
          </a:prstGeom>
          <a:noFill/>
          <a:ln/>
        </p:spPr>
        <p:txBody>
          <a:bodyPr wrap="square" lIns="0" tIns="0" rIns="0" bIns="0" rtlCol="0" anchor="ctr"/>
          <a:lstStyle/>
          <a:p>
            <a:pPr algn="ctr" indent="0" marL="0">
              <a:buNone/>
            </a:pPr>
            <a:r>
              <a:rPr lang="en-US" sz="2000" b="1" dirty="0">
                <a:solidFill>
                  <a:srgbClr val="7A6A62"/>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7580376" y="1828800"/>
            <a:ext cx="2103120" cy="2377440"/>
          </a:xfrm>
          <a:prstGeom prst="roundRect">
            <a:avLst>
              <a:gd name="adj" fmla="val 4348"/>
            </a:avLst>
          </a:prstGeom>
          <a:solidFill>
            <a:srgbClr val="E7E8D1"/>
          </a:solidFill>
          <a:ln/>
        </p:spPr>
      </p:sp>
      <p:sp>
        <p:nvSpPr>
          <p:cNvPr id="19" name="Text 17"/>
          <p:cNvSpPr/>
          <p:nvPr/>
        </p:nvSpPr>
        <p:spPr>
          <a:xfrm>
            <a:off x="7580376" y="1965960"/>
            <a:ext cx="2103120" cy="457200"/>
          </a:xfrm>
          <a:prstGeom prst="rect">
            <a:avLst/>
          </a:prstGeom>
          <a:noFill/>
          <a:ln/>
        </p:spPr>
        <p:txBody>
          <a:bodyPr wrap="square" lIns="0" tIns="0" rIns="0" bIns="0" rtlCol="0" anchor="ctr"/>
          <a:lstStyle/>
          <a:p>
            <a:pPr algn="ctr" indent="0" marL="0">
              <a:buNone/>
            </a:pPr>
            <a:r>
              <a:rPr lang="en-US" sz="2200" b="1" dirty="0">
                <a:solidFill>
                  <a:srgbClr val="B85042"/>
                </a:solidFill>
                <a:latin typeface="Cambria" pitchFamily="34" charset="0"/>
                <a:ea typeface="Cambria" pitchFamily="34" charset="-122"/>
                <a:cs typeface="Cambria" pitchFamily="34" charset="-120"/>
              </a:rPr>
              <a:t>M4</a:t>
            </a:r>
            <a:endParaRPr lang="en-US" sz="2200" dirty="0"/>
          </a:p>
        </p:txBody>
      </p:sp>
      <p:sp>
        <p:nvSpPr>
          <p:cNvPr id="20" name="Text 18"/>
          <p:cNvSpPr/>
          <p:nvPr/>
        </p:nvSpPr>
        <p:spPr>
          <a:xfrm>
            <a:off x="7580376" y="2468880"/>
            <a:ext cx="2103120" cy="365760"/>
          </a:xfrm>
          <a:prstGeom prst="rect">
            <a:avLst/>
          </a:prstGeom>
          <a:noFill/>
          <a:ln/>
        </p:spPr>
        <p:txBody>
          <a:bodyPr wrap="square" lIns="0" tIns="0" rIns="0" bIns="0" rtlCol="0" anchor="ctr"/>
          <a:lstStyle/>
          <a:p>
            <a:pPr algn="ctr" indent="0" marL="0">
              <a:buNone/>
            </a:pPr>
            <a:r>
              <a:rPr lang="en-US" sz="1400" b="1" dirty="0">
                <a:solidFill>
                  <a:srgbClr val="333333"/>
                </a:solidFill>
                <a:latin typeface="Calibri" pitchFamily="34" charset="0"/>
                <a:ea typeface="Calibri" pitchFamily="34" charset="-122"/>
                <a:cs typeface="Calibri" pitchFamily="34" charset="-120"/>
              </a:rPr>
              <a:t>間隔を測る</a:t>
            </a:r>
            <a:endParaRPr lang="en-US" sz="1400" dirty="0"/>
          </a:p>
        </p:txBody>
      </p:sp>
      <p:sp>
        <p:nvSpPr>
          <p:cNvPr id="21" name="Text 19"/>
          <p:cNvSpPr/>
          <p:nvPr/>
        </p:nvSpPr>
        <p:spPr>
          <a:xfrm>
            <a:off x="7671816" y="2880360"/>
            <a:ext cx="1920240" cy="1188720"/>
          </a:xfrm>
          <a:prstGeom prst="rect">
            <a:avLst/>
          </a:prstGeom>
          <a:noFill/>
          <a:ln/>
        </p:spPr>
        <p:txBody>
          <a:bodyPr wrap="square" lIns="0" tIns="0" rIns="0" bIns="0"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もようの繰り返しの</a:t>
            </a:r>
            <a:endParaRPr lang="en-US" sz="1100" dirty="0"/>
          </a:p>
          <a:p>
            <a:pPr algn="ctr" indent="0" marL="0">
              <a:buNone/>
            </a:pPr>
            <a:r>
              <a:rPr lang="en-US" sz="1100" dirty="0">
                <a:solidFill>
                  <a:srgbClr val="333333"/>
                </a:solidFill>
                <a:latin typeface="Calibri" pitchFamily="34" charset="0"/>
                <a:ea typeface="Calibri" pitchFamily="34" charset="-122"/>
                <a:cs typeface="Calibri" pitchFamily="34" charset="-120"/>
              </a:rPr>
              <a:t>間隔と向きを測る</a:t>
            </a:r>
            <a:endParaRPr lang="en-US" sz="1100" dirty="0"/>
          </a:p>
        </p:txBody>
      </p:sp>
      <p:sp>
        <p:nvSpPr>
          <p:cNvPr id="22" name="Text 20"/>
          <p:cNvSpPr/>
          <p:nvPr/>
        </p:nvSpPr>
        <p:spPr>
          <a:xfrm>
            <a:off x="9646920" y="2788920"/>
            <a:ext cx="365760" cy="457200"/>
          </a:xfrm>
          <a:prstGeom prst="rect">
            <a:avLst/>
          </a:prstGeom>
          <a:noFill/>
          <a:ln/>
        </p:spPr>
        <p:txBody>
          <a:bodyPr wrap="square" lIns="0" tIns="0" rIns="0" bIns="0" rtlCol="0" anchor="ctr"/>
          <a:lstStyle/>
          <a:p>
            <a:pPr algn="ctr" indent="0" marL="0">
              <a:buNone/>
            </a:pPr>
            <a:r>
              <a:rPr lang="en-US" sz="2000" b="1" dirty="0">
                <a:solidFill>
                  <a:srgbClr val="7A6A62"/>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939528" y="1828800"/>
            <a:ext cx="2103120" cy="2377440"/>
          </a:xfrm>
          <a:prstGeom prst="roundRect">
            <a:avLst>
              <a:gd name="adj" fmla="val 4348"/>
            </a:avLst>
          </a:prstGeom>
          <a:solidFill>
            <a:srgbClr val="B85042"/>
          </a:solidFill>
          <a:ln/>
        </p:spPr>
      </p:sp>
      <p:sp>
        <p:nvSpPr>
          <p:cNvPr id="24" name="Text 22"/>
          <p:cNvSpPr/>
          <p:nvPr/>
        </p:nvSpPr>
        <p:spPr>
          <a:xfrm>
            <a:off x="9939528" y="1965960"/>
            <a:ext cx="21031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M5</a:t>
            </a:r>
            <a:endParaRPr lang="en-US" sz="2200" dirty="0"/>
          </a:p>
        </p:txBody>
      </p:sp>
      <p:sp>
        <p:nvSpPr>
          <p:cNvPr id="25" name="Text 23"/>
          <p:cNvSpPr/>
          <p:nvPr/>
        </p:nvSpPr>
        <p:spPr>
          <a:xfrm>
            <a:off x="9939528" y="2468880"/>
            <a:ext cx="2103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回転を見つける</a:t>
            </a:r>
            <a:endParaRPr lang="en-US" sz="1400" dirty="0"/>
          </a:p>
        </p:txBody>
      </p:sp>
      <p:sp>
        <p:nvSpPr>
          <p:cNvPr id="26" name="Text 24"/>
          <p:cNvSpPr/>
          <p:nvPr/>
        </p:nvSpPr>
        <p:spPr>
          <a:xfrm>
            <a:off x="10030968" y="2880360"/>
            <a:ext cx="1920240" cy="11887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縄1回転分の</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区切り位置を見つける</a:t>
            </a:r>
            <a:endParaRPr lang="en-US" sz="1100" dirty="0"/>
          </a:p>
        </p:txBody>
      </p:sp>
      <p:sp>
        <p:nvSpPr>
          <p:cNvPr id="27" name="Text 25"/>
          <p:cNvSpPr/>
          <p:nvPr/>
        </p:nvSpPr>
        <p:spPr>
          <a:xfrm>
            <a:off x="640080" y="4663440"/>
            <a:ext cx="10972800" cy="1280160"/>
          </a:xfrm>
          <a:prstGeom prst="rect">
            <a:avLst/>
          </a:prstGeom>
          <a:noFill/>
          <a:ln/>
        </p:spPr>
        <p:txBody>
          <a:bodyPr wrap="square" rtlCol="0" anchor="ctr"/>
          <a:lstStyle/>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「3Dの形 → 2Dの画像 → 1本の波形」と、だんだんシンプルなデータに変換しながら測っていく。</a:t>
            </a:r>
            <a:endParaRPr lang="en-US" sz="1500" dirty="0"/>
          </a:p>
          <a:p>
            <a:pPr marL="342900" indent="-342900">
              <a:buSzPct val="100000"/>
              <a:buChar char="•"/>
            </a:pPr>
            <a:r>
              <a:rPr lang="en-US" sz="1500" dirty="0">
                <a:solidFill>
                  <a:srgbClr val="333333"/>
                </a:solidFill>
                <a:latin typeface="Calibri" pitchFamily="34" charset="0"/>
                <a:ea typeface="Calibri" pitchFamily="34" charset="-122"/>
                <a:cs typeface="Calibri" pitchFamily="34" charset="-120"/>
              </a:rPr>
              <a:t>プログラムは実装済みで、答えがわかっているテスト用データでは正しく測れることを確認済み。</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いちばんの新しさ: 縄1回転分の区切りを見つける</a:t>
            </a:r>
            <a:endParaRPr lang="en-US" sz="3000" dirty="0"/>
          </a:p>
        </p:txBody>
      </p:sp>
      <p:sp>
        <p:nvSpPr>
          <p:cNvPr id="3" name="Text 1"/>
          <p:cNvSpPr/>
          <p:nvPr/>
        </p:nvSpPr>
        <p:spPr>
          <a:xfrm>
            <a:off x="548640" y="1371600"/>
            <a:ext cx="6035040" cy="2377440"/>
          </a:xfrm>
          <a:prstGeom prst="rect">
            <a:avLst/>
          </a:prstGeom>
          <a:noFill/>
          <a:ln/>
        </p:spPr>
        <p:txBody>
          <a:bodyPr wrap="square" rtlCol="0" anchor="ctr"/>
          <a:lstStyle/>
          <a:p>
            <a:pPr marL="342900" indent="-342900">
              <a:spcAft>
                <a:spcPts val="800"/>
              </a:spcAft>
              <a:buSzPct val="100000"/>
              <a:buChar char="•"/>
            </a:pPr>
            <a:r>
              <a:rPr lang="en-US" sz="1450" dirty="0">
                <a:solidFill>
                  <a:srgbClr val="333333"/>
                </a:solidFill>
                <a:latin typeface="Calibri" pitchFamily="34" charset="0"/>
                <a:ea typeface="Calibri" pitchFamily="34" charset="-122"/>
                <a:cs typeface="Calibri" pitchFamily="34" charset="-120"/>
              </a:rPr>
              <a:t>縄は1回転するごとに同じもようが繰り返される。その「同じもようが現れる点」を自動で見つけたい。</a:t>
            </a:r>
            <a:endParaRPr lang="en-US" sz="1450" dirty="0"/>
          </a:p>
          <a:p>
            <a:pPr marL="342900" indent="-342900">
              <a:spcAft>
                <a:spcPts val="800"/>
              </a:spcAft>
              <a:buSzPct val="100000"/>
              <a:buChar char="•"/>
            </a:pPr>
            <a:r>
              <a:rPr lang="en-US" sz="1450" dirty="0">
                <a:solidFill>
                  <a:srgbClr val="333333"/>
                </a:solidFill>
                <a:latin typeface="Calibri" pitchFamily="34" charset="0"/>
                <a:ea typeface="Calibri" pitchFamily="34" charset="-122"/>
                <a:cs typeface="Calibri" pitchFamily="34" charset="-120"/>
              </a:rPr>
              <a:t>画像をずらしながら重ね、「どれだけずらすと一番よく重なるか」を調べると、1回転分の長さがわかる。</a:t>
            </a:r>
            <a:endParaRPr lang="en-US" sz="1450" dirty="0"/>
          </a:p>
          <a:p>
            <a:pPr marL="342900" indent="-342900">
              <a:spcAft>
                <a:spcPts val="800"/>
              </a:spcAft>
              <a:buSzPct val="100000"/>
              <a:buChar char="•"/>
            </a:pPr>
            <a:r>
              <a:rPr lang="en-US" sz="1450" dirty="0">
                <a:solidFill>
                  <a:srgbClr val="333333"/>
                </a:solidFill>
                <a:latin typeface="Calibri" pitchFamily="34" charset="0"/>
                <a:ea typeface="Calibri" pitchFamily="34" charset="-122"/>
                <a:cs typeface="Calibri" pitchFamily="34" charset="-120"/>
              </a:rPr>
              <a:t>見つけた区切り位置は、元の3Dデータ上の座標として出力する。</a:t>
            </a:r>
            <a:endParaRPr lang="en-US" sz="1450" dirty="0"/>
          </a:p>
          <a:p>
            <a:pPr marL="342900" indent="-342900">
              <a:buSzPct val="100000"/>
              <a:buChar char="•"/>
            </a:pPr>
            <a:r>
              <a:rPr lang="en-US" sz="1450" dirty="0">
                <a:solidFill>
                  <a:srgbClr val="333333"/>
                </a:solidFill>
                <a:latin typeface="Calibri" pitchFamily="34" charset="0"/>
                <a:ea typeface="Calibri" pitchFamily="34" charset="-122"/>
                <a:cs typeface="Calibri" pitchFamily="34" charset="-120"/>
              </a:rPr>
              <a:t>土器は丸く曲がっているので、小さい範囲ごとに平らとみなして処理する工夫をしている。</a:t>
            </a:r>
            <a:endParaRPr lang="en-US" sz="1450" dirty="0"/>
          </a:p>
        </p:txBody>
      </p:sp>
      <p:sp>
        <p:nvSpPr>
          <p:cNvPr id="4" name="Shape 2"/>
          <p:cNvSpPr/>
          <p:nvPr/>
        </p:nvSpPr>
        <p:spPr>
          <a:xfrm>
            <a:off x="548640" y="3931920"/>
            <a:ext cx="6035040" cy="2194560"/>
          </a:xfrm>
          <a:prstGeom prst="roundRect">
            <a:avLst>
              <a:gd name="adj" fmla="val 4167"/>
            </a:avLst>
          </a:prstGeom>
          <a:solidFill>
            <a:srgbClr val="3B2A26"/>
          </a:solidFill>
          <a:ln/>
        </p:spPr>
      </p:sp>
      <p:sp>
        <p:nvSpPr>
          <p:cNvPr id="5" name="Text 3"/>
          <p:cNvSpPr/>
          <p:nvPr/>
        </p:nvSpPr>
        <p:spPr>
          <a:xfrm>
            <a:off x="822960" y="4114800"/>
            <a:ext cx="5486400" cy="365760"/>
          </a:xfrm>
          <a:prstGeom prst="rect">
            <a:avLst/>
          </a:prstGeom>
          <a:noFill/>
          <a:ln/>
        </p:spPr>
        <p:txBody>
          <a:bodyPr wrap="square" lIns="0" tIns="0" rIns="0" bIns="0" rtlCol="0" anchor="ctr"/>
          <a:lstStyle/>
          <a:p>
            <a:pPr indent="0" marL="0">
              <a:buNone/>
            </a:pPr>
            <a:r>
              <a:rPr lang="en-US" sz="1400" b="1" dirty="0">
                <a:solidFill>
                  <a:srgbClr val="E7E8D1"/>
                </a:solidFill>
                <a:latin typeface="Cambria" pitchFamily="34" charset="0"/>
                <a:ea typeface="Cambria" pitchFamily="34" charset="-122"/>
                <a:cs typeface="Cambria" pitchFamily="34" charset="-120"/>
              </a:rPr>
              <a:t>テスト用データでの確認結果</a:t>
            </a:r>
            <a:endParaRPr lang="en-US" sz="1400" dirty="0"/>
          </a:p>
        </p:txBody>
      </p:sp>
      <p:sp>
        <p:nvSpPr>
          <p:cNvPr id="6" name="Text 4"/>
          <p:cNvSpPr/>
          <p:nvPr/>
        </p:nvSpPr>
        <p:spPr>
          <a:xfrm>
            <a:off x="822960" y="4572000"/>
            <a:ext cx="5486400" cy="1463040"/>
          </a:xfrm>
          <a:prstGeom prst="rect">
            <a:avLst/>
          </a:prstGeom>
          <a:noFill/>
          <a:ln/>
        </p:spPr>
        <p:txBody>
          <a:bodyPr wrap="square" rtlCol="0" anchor="ctr"/>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正解と比べたずれは 2% 未満</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データの2割が欠けていても、精度を保てた</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テスト16件すべてに合格</a:t>
            </a:r>
            <a:endParaRPr lang="en-US" sz="1300" dirty="0"/>
          </a:p>
        </p:txBody>
      </p:sp>
      <p:pic>
        <p:nvPicPr>
          <p:cNvPr id="7" name="Image 0" descr="/Users/ryusan/brain/02_Raw/土器3（同巡点）.png">    </p:cNvPr>
          <p:cNvPicPr>
            <a:picLocks noChangeAspect="1"/>
          </p:cNvPicPr>
          <p:nvPr/>
        </p:nvPicPr>
        <p:blipFill>
          <a:blip r:embed="rId1"/>
          <a:stretch>
            <a:fillRect/>
          </a:stretch>
        </p:blipFill>
        <p:spPr>
          <a:xfrm>
            <a:off x="7040880" y="1463040"/>
            <a:ext cx="4572000" cy="3236976"/>
          </a:xfrm>
          <a:prstGeom prst="rect">
            <a:avLst/>
          </a:prstGeom>
        </p:spPr>
      </p:pic>
      <p:sp>
        <p:nvSpPr>
          <p:cNvPr id="8" name="Text 5"/>
          <p:cNvSpPr/>
          <p:nvPr/>
        </p:nvSpPr>
        <p:spPr>
          <a:xfrm>
            <a:off x="7040880" y="4800600"/>
            <a:ext cx="4572000" cy="320040"/>
          </a:xfrm>
          <a:prstGeom prst="rect">
            <a:avLst/>
          </a:prstGeom>
          <a:noFill/>
          <a:ln/>
        </p:spPr>
        <p:txBody>
          <a:bodyPr wrap="square" lIns="0" tIns="0" rIns="0" bIns="0" rtlCol="0" anchor="ctr"/>
          <a:lstStyle/>
          <a:p>
            <a:pPr indent="0" marL="0">
              <a:buNone/>
            </a:pPr>
            <a:r>
              <a:rPr lang="en-US" sz="1100" dirty="0">
                <a:solidFill>
                  <a:srgbClr val="7A6A62"/>
                </a:solidFill>
                <a:latin typeface="Calibri" pitchFamily="34" charset="0"/>
                <a:ea typeface="Calibri" pitchFamily="34" charset="-122"/>
                <a:cs typeface="Calibri" pitchFamily="34" charset="-120"/>
              </a:rPr>
              <a:t>黒い点 = 人が目で見て付けた「縄1回転分の区切り」の位置</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いまどこまでできているか</a:t>
            </a:r>
            <a:endParaRPr lang="en-US" sz="3000" dirty="0"/>
          </a:p>
        </p:txBody>
      </p:sp>
      <p:sp>
        <p:nvSpPr>
          <p:cNvPr id="3" name="Text 1"/>
          <p:cNvSpPr/>
          <p:nvPr/>
        </p:nvSpPr>
        <p:spPr>
          <a:xfrm>
            <a:off x="548640" y="1325880"/>
            <a:ext cx="5943600" cy="365760"/>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本物の土器データで測れた値の例</a:t>
            </a:r>
            <a:endParaRPr lang="en-US" sz="1600" dirty="0"/>
          </a:p>
        </p:txBody>
      </p:sp>
      <p:sp>
        <p:nvSpPr>
          <p:cNvPr id="4" name="Shape 2"/>
          <p:cNvSpPr/>
          <p:nvPr/>
        </p:nvSpPr>
        <p:spPr>
          <a:xfrm>
            <a:off x="548640" y="1783080"/>
            <a:ext cx="5760720" cy="777240"/>
          </a:xfrm>
          <a:prstGeom prst="roundRect">
            <a:avLst>
              <a:gd name="adj" fmla="val 9412"/>
            </a:avLst>
          </a:prstGeom>
          <a:solidFill>
            <a:srgbClr val="E7E8D1"/>
          </a:solidFill>
          <a:ln/>
        </p:spPr>
      </p:sp>
      <p:sp>
        <p:nvSpPr>
          <p:cNvPr id="5" name="Text 3"/>
          <p:cNvSpPr/>
          <p:nvPr/>
        </p:nvSpPr>
        <p:spPr>
          <a:xfrm>
            <a:off x="822960" y="1965960"/>
            <a:ext cx="3108960" cy="45720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縄目の間隔</a:t>
            </a:r>
            <a:endParaRPr lang="en-US" sz="1400" dirty="0"/>
          </a:p>
        </p:txBody>
      </p:sp>
      <p:sp>
        <p:nvSpPr>
          <p:cNvPr id="6" name="Text 4"/>
          <p:cNvSpPr/>
          <p:nvPr/>
        </p:nvSpPr>
        <p:spPr>
          <a:xfrm>
            <a:off x="3931920" y="1901952"/>
            <a:ext cx="2194560" cy="54864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約 3.4 mm</a:t>
            </a:r>
            <a:endParaRPr lang="en-US" sz="2000" dirty="0"/>
          </a:p>
        </p:txBody>
      </p:sp>
      <p:sp>
        <p:nvSpPr>
          <p:cNvPr id="7" name="Shape 5"/>
          <p:cNvSpPr/>
          <p:nvPr/>
        </p:nvSpPr>
        <p:spPr>
          <a:xfrm>
            <a:off x="548640" y="2697480"/>
            <a:ext cx="5760720" cy="777240"/>
          </a:xfrm>
          <a:prstGeom prst="roundRect">
            <a:avLst>
              <a:gd name="adj" fmla="val 9412"/>
            </a:avLst>
          </a:prstGeom>
          <a:solidFill>
            <a:srgbClr val="E7E8D1"/>
          </a:solidFill>
          <a:ln/>
        </p:spPr>
      </p:sp>
      <p:sp>
        <p:nvSpPr>
          <p:cNvPr id="8" name="Text 6"/>
          <p:cNvSpPr/>
          <p:nvPr/>
        </p:nvSpPr>
        <p:spPr>
          <a:xfrm>
            <a:off x="822960" y="2880360"/>
            <a:ext cx="3108960" cy="45720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縄1回転分の長さ</a:t>
            </a:r>
            <a:endParaRPr lang="en-US" sz="1400" dirty="0"/>
          </a:p>
        </p:txBody>
      </p:sp>
      <p:sp>
        <p:nvSpPr>
          <p:cNvPr id="9" name="Text 7"/>
          <p:cNvSpPr/>
          <p:nvPr/>
        </p:nvSpPr>
        <p:spPr>
          <a:xfrm>
            <a:off x="3931920" y="2816352"/>
            <a:ext cx="2194560" cy="54864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約 44 mm</a:t>
            </a:r>
            <a:endParaRPr lang="en-US" sz="2000" dirty="0"/>
          </a:p>
        </p:txBody>
      </p:sp>
      <p:sp>
        <p:nvSpPr>
          <p:cNvPr id="10" name="Shape 8"/>
          <p:cNvSpPr/>
          <p:nvPr/>
        </p:nvSpPr>
        <p:spPr>
          <a:xfrm>
            <a:off x="548640" y="3611880"/>
            <a:ext cx="5760720" cy="777240"/>
          </a:xfrm>
          <a:prstGeom prst="roundRect">
            <a:avLst>
              <a:gd name="adj" fmla="val 9412"/>
            </a:avLst>
          </a:prstGeom>
          <a:solidFill>
            <a:srgbClr val="E7E8D1"/>
          </a:solidFill>
          <a:ln/>
        </p:spPr>
      </p:sp>
      <p:sp>
        <p:nvSpPr>
          <p:cNvPr id="11" name="Text 9"/>
          <p:cNvSpPr/>
          <p:nvPr/>
        </p:nvSpPr>
        <p:spPr>
          <a:xfrm>
            <a:off x="822960" y="3794760"/>
            <a:ext cx="3108960" cy="45720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見つけた区切りの数</a:t>
            </a:r>
            <a:endParaRPr lang="en-US" sz="1400" dirty="0"/>
          </a:p>
        </p:txBody>
      </p:sp>
      <p:sp>
        <p:nvSpPr>
          <p:cNvPr id="12" name="Text 10"/>
          <p:cNvSpPr/>
          <p:nvPr/>
        </p:nvSpPr>
        <p:spPr>
          <a:xfrm>
            <a:off x="3931920" y="3730752"/>
            <a:ext cx="2194560" cy="54864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6 か所</a:t>
            </a:r>
            <a:endParaRPr lang="en-US" sz="2000" dirty="0"/>
          </a:p>
        </p:txBody>
      </p:sp>
      <p:sp>
        <p:nvSpPr>
          <p:cNvPr id="13" name="Text 11"/>
          <p:cNvSpPr/>
          <p:nvPr/>
        </p:nvSpPr>
        <p:spPr>
          <a:xfrm>
            <a:off x="6766560" y="1325880"/>
            <a:ext cx="4846320" cy="365760"/>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これからやること・課題</a:t>
            </a:r>
            <a:endParaRPr lang="en-US" sz="1600" dirty="0"/>
          </a:p>
        </p:txBody>
      </p:sp>
      <p:sp>
        <p:nvSpPr>
          <p:cNvPr id="14" name="Text 12"/>
          <p:cNvSpPr/>
          <p:nvPr/>
        </p:nvSpPr>
        <p:spPr>
          <a:xfrm>
            <a:off x="6766560" y="1783080"/>
            <a:ext cx="4846320" cy="2926080"/>
          </a:xfrm>
          <a:prstGeom prst="rect">
            <a:avLst/>
          </a:prstGeom>
          <a:noFill/>
          <a:ln/>
        </p:spPr>
        <p:txBody>
          <a:bodyPr wrap="square" rtlCol="0" anchor="ctr"/>
          <a:lstStyle/>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本物の土器では「本当の正解」がまだ手元になく、どれくらい正確かを数字で示せていない</a:t>
            </a:r>
            <a:endParaRPr lang="en-US" sz="1350" dirty="0"/>
          </a:p>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正解データの計測を指導教員にお願いしているところ</a:t>
            </a:r>
            <a:endParaRPr lang="en-US" sz="1350" dirty="0"/>
          </a:p>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測るときの細かい設定を、いまは人が手で決めている → 自動にしたい</a:t>
            </a:r>
            <a:endParaRPr lang="en-US" sz="1350" dirty="0"/>
          </a:p>
          <a:p>
            <a:pPr marL="342900" indent="-342900">
              <a:buSzPct val="100000"/>
              <a:buChar char="•"/>
            </a:pPr>
            <a:r>
              <a:rPr lang="en-US" sz="1350" dirty="0">
                <a:solidFill>
                  <a:srgbClr val="333333"/>
                </a:solidFill>
                <a:latin typeface="Calibri" pitchFamily="34" charset="0"/>
                <a:ea typeface="Calibri" pitchFamily="34" charset="-122"/>
                <a:cs typeface="Calibri" pitchFamily="34" charset="-120"/>
              </a:rPr>
              <a:t>土器の丸い曲がりへの対応を、もっとしっかりしたやり方にしたい</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効率化の余地 — データは大きく、いまは1台で順番に計算</a:t>
            </a:r>
            <a:endParaRPr lang="en-US" sz="3000" dirty="0"/>
          </a:p>
        </p:txBody>
      </p:sp>
      <p:sp>
        <p:nvSpPr>
          <p:cNvPr id="3" name="Shape 1"/>
          <p:cNvSpPr/>
          <p:nvPr/>
        </p:nvSpPr>
        <p:spPr>
          <a:xfrm>
            <a:off x="548640" y="1463040"/>
            <a:ext cx="3566160" cy="2011680"/>
          </a:xfrm>
          <a:prstGeom prst="roundRect">
            <a:avLst>
              <a:gd name="adj" fmla="val 4545"/>
            </a:avLst>
          </a:prstGeom>
          <a:solidFill>
            <a:srgbClr val="E7E8D1"/>
          </a:solidFill>
          <a:ln/>
        </p:spPr>
      </p:sp>
      <p:sp>
        <p:nvSpPr>
          <p:cNvPr id="4" name="Text 2"/>
          <p:cNvSpPr/>
          <p:nvPr/>
        </p:nvSpPr>
        <p:spPr>
          <a:xfrm>
            <a:off x="548640" y="1691640"/>
            <a:ext cx="3566160" cy="1005840"/>
          </a:xfrm>
          <a:prstGeom prst="rect">
            <a:avLst/>
          </a:prstGeom>
          <a:noFill/>
          <a:ln/>
        </p:spPr>
        <p:txBody>
          <a:bodyPr wrap="square" lIns="0" tIns="0" rIns="0" bIns="0" rtlCol="0" anchor="ctr"/>
          <a:lstStyle/>
          <a:p>
            <a:pPr algn="ctr" indent="0" marL="0">
              <a:buNone/>
            </a:pPr>
            <a:r>
              <a:rPr lang="en-US" sz="5400" b="1" dirty="0">
                <a:solidFill>
                  <a:srgbClr val="B85042"/>
                </a:solidFill>
                <a:latin typeface="Cambria" pitchFamily="34" charset="0"/>
                <a:ea typeface="Cambria" pitchFamily="34" charset="-122"/>
                <a:cs typeface="Cambria" pitchFamily="34" charset="-120"/>
              </a:rPr>
              <a:t>741万</a:t>
            </a:r>
            <a:endParaRPr lang="en-US" sz="5400" dirty="0"/>
          </a:p>
        </p:txBody>
      </p:sp>
      <p:sp>
        <p:nvSpPr>
          <p:cNvPr id="5" name="Text 3"/>
          <p:cNvSpPr/>
          <p:nvPr/>
        </p:nvSpPr>
        <p:spPr>
          <a:xfrm>
            <a:off x="548640" y="2788920"/>
            <a:ext cx="3566160" cy="457200"/>
          </a:xfrm>
          <a:prstGeom prst="rect">
            <a:avLst/>
          </a:prstGeom>
          <a:noFill/>
          <a:ln/>
        </p:spPr>
        <p:txBody>
          <a:bodyPr wrap="square" lIns="0" tIns="0" rIns="0" bIns="0" rtlCol="0" anchor="ctr"/>
          <a:lstStyle/>
          <a:p>
            <a:pPr algn="ctr" indent="0" marL="0">
              <a:buNone/>
            </a:pPr>
            <a:r>
              <a:rPr lang="en-US" sz="1400" dirty="0">
                <a:solidFill>
                  <a:srgbClr val="333333"/>
                </a:solidFill>
                <a:latin typeface="Calibri" pitchFamily="34" charset="0"/>
                <a:ea typeface="Calibri" pitchFamily="34" charset="-122"/>
                <a:cs typeface="Calibri" pitchFamily="34" charset="-120"/>
              </a:rPr>
              <a:t>土器片1つ分の点の数（1つめ）</a:t>
            </a:r>
            <a:endParaRPr lang="en-US" sz="1400" dirty="0"/>
          </a:p>
        </p:txBody>
      </p:sp>
      <p:sp>
        <p:nvSpPr>
          <p:cNvPr id="6" name="Shape 4"/>
          <p:cNvSpPr/>
          <p:nvPr/>
        </p:nvSpPr>
        <p:spPr>
          <a:xfrm>
            <a:off x="4434840" y="1463040"/>
            <a:ext cx="3566160" cy="2011680"/>
          </a:xfrm>
          <a:prstGeom prst="roundRect">
            <a:avLst>
              <a:gd name="adj" fmla="val 4545"/>
            </a:avLst>
          </a:prstGeom>
          <a:solidFill>
            <a:srgbClr val="E7E8D1"/>
          </a:solidFill>
          <a:ln/>
        </p:spPr>
      </p:sp>
      <p:sp>
        <p:nvSpPr>
          <p:cNvPr id="7" name="Text 5"/>
          <p:cNvSpPr/>
          <p:nvPr/>
        </p:nvSpPr>
        <p:spPr>
          <a:xfrm>
            <a:off x="4434840" y="1691640"/>
            <a:ext cx="3566160" cy="1005840"/>
          </a:xfrm>
          <a:prstGeom prst="rect">
            <a:avLst/>
          </a:prstGeom>
          <a:noFill/>
          <a:ln/>
        </p:spPr>
        <p:txBody>
          <a:bodyPr wrap="square" lIns="0" tIns="0" rIns="0" bIns="0" rtlCol="0" anchor="ctr"/>
          <a:lstStyle/>
          <a:p>
            <a:pPr algn="ctr" indent="0" marL="0">
              <a:buNone/>
            </a:pPr>
            <a:r>
              <a:rPr lang="en-US" sz="5400" b="1" dirty="0">
                <a:solidFill>
                  <a:srgbClr val="B85042"/>
                </a:solidFill>
                <a:latin typeface="Cambria" pitchFamily="34" charset="0"/>
                <a:ea typeface="Cambria" pitchFamily="34" charset="-122"/>
                <a:cs typeface="Cambria" pitchFamily="34" charset="-120"/>
              </a:rPr>
              <a:t>697万</a:t>
            </a:r>
            <a:endParaRPr lang="en-US" sz="5400" dirty="0"/>
          </a:p>
        </p:txBody>
      </p:sp>
      <p:sp>
        <p:nvSpPr>
          <p:cNvPr id="8" name="Text 6"/>
          <p:cNvSpPr/>
          <p:nvPr/>
        </p:nvSpPr>
        <p:spPr>
          <a:xfrm>
            <a:off x="4434840" y="2788920"/>
            <a:ext cx="3566160" cy="457200"/>
          </a:xfrm>
          <a:prstGeom prst="rect">
            <a:avLst/>
          </a:prstGeom>
          <a:noFill/>
          <a:ln/>
        </p:spPr>
        <p:txBody>
          <a:bodyPr wrap="square" lIns="0" tIns="0" rIns="0" bIns="0" rtlCol="0" anchor="ctr"/>
          <a:lstStyle/>
          <a:p>
            <a:pPr algn="ctr" indent="0" marL="0">
              <a:buNone/>
            </a:pPr>
            <a:r>
              <a:rPr lang="en-US" sz="1400" dirty="0">
                <a:solidFill>
                  <a:srgbClr val="333333"/>
                </a:solidFill>
                <a:latin typeface="Calibri" pitchFamily="34" charset="0"/>
                <a:ea typeface="Calibri" pitchFamily="34" charset="-122"/>
                <a:cs typeface="Calibri" pitchFamily="34" charset="-120"/>
              </a:rPr>
              <a:t>土器片1つ分の点の数（2つめ）</a:t>
            </a:r>
            <a:endParaRPr lang="en-US" sz="1400" dirty="0"/>
          </a:p>
        </p:txBody>
      </p:sp>
      <p:sp>
        <p:nvSpPr>
          <p:cNvPr id="9" name="Shape 7"/>
          <p:cNvSpPr/>
          <p:nvPr/>
        </p:nvSpPr>
        <p:spPr>
          <a:xfrm>
            <a:off x="8321040" y="1463040"/>
            <a:ext cx="3566160" cy="2011680"/>
          </a:xfrm>
          <a:prstGeom prst="roundRect">
            <a:avLst>
              <a:gd name="adj" fmla="val 4545"/>
            </a:avLst>
          </a:prstGeom>
          <a:solidFill>
            <a:srgbClr val="E7E8D1"/>
          </a:solidFill>
          <a:ln/>
        </p:spPr>
      </p:sp>
      <p:sp>
        <p:nvSpPr>
          <p:cNvPr id="10" name="Text 8"/>
          <p:cNvSpPr/>
          <p:nvPr/>
        </p:nvSpPr>
        <p:spPr>
          <a:xfrm>
            <a:off x="8321040" y="1691640"/>
            <a:ext cx="3566160" cy="1005840"/>
          </a:xfrm>
          <a:prstGeom prst="rect">
            <a:avLst/>
          </a:prstGeom>
          <a:noFill/>
          <a:ln/>
        </p:spPr>
        <p:txBody>
          <a:bodyPr wrap="square" lIns="0" tIns="0" rIns="0" bIns="0" rtlCol="0" anchor="ctr"/>
          <a:lstStyle/>
          <a:p>
            <a:pPr algn="ctr" indent="0" marL="0">
              <a:buNone/>
            </a:pPr>
            <a:r>
              <a:rPr lang="en-US" sz="5400" b="1" dirty="0">
                <a:solidFill>
                  <a:srgbClr val="A7BEAE"/>
                </a:solidFill>
                <a:latin typeface="Cambria" pitchFamily="34" charset="0"/>
                <a:ea typeface="Cambria" pitchFamily="34" charset="-122"/>
                <a:cs typeface="Cambria" pitchFamily="34" charset="-120"/>
              </a:rPr>
              <a:t>1台</a:t>
            </a:r>
            <a:endParaRPr lang="en-US" sz="5400" dirty="0"/>
          </a:p>
        </p:txBody>
      </p:sp>
      <p:sp>
        <p:nvSpPr>
          <p:cNvPr id="11" name="Text 9"/>
          <p:cNvSpPr/>
          <p:nvPr/>
        </p:nvSpPr>
        <p:spPr>
          <a:xfrm>
            <a:off x="8321040" y="2788920"/>
            <a:ext cx="3566160" cy="457200"/>
          </a:xfrm>
          <a:prstGeom prst="rect">
            <a:avLst/>
          </a:prstGeom>
          <a:noFill/>
          <a:ln/>
        </p:spPr>
        <p:txBody>
          <a:bodyPr wrap="square" lIns="0" tIns="0" rIns="0" bIns="0" rtlCol="0" anchor="ctr"/>
          <a:lstStyle/>
          <a:p>
            <a:pPr algn="ctr" indent="0" marL="0">
              <a:buNone/>
            </a:pPr>
            <a:r>
              <a:rPr lang="en-US" sz="1400" dirty="0">
                <a:solidFill>
                  <a:srgbClr val="333333"/>
                </a:solidFill>
                <a:latin typeface="Calibri" pitchFamily="34" charset="0"/>
                <a:ea typeface="Calibri" pitchFamily="34" charset="-122"/>
                <a:cs typeface="Calibri" pitchFamily="34" charset="-120"/>
              </a:rPr>
              <a:t>いまは並列化なしで順番に処理</a:t>
            </a:r>
            <a:endParaRPr lang="en-US" sz="1400" dirty="0"/>
          </a:p>
        </p:txBody>
      </p:sp>
      <p:sp>
        <p:nvSpPr>
          <p:cNvPr id="12" name="Text 10"/>
          <p:cNvSpPr/>
          <p:nvPr/>
        </p:nvSpPr>
        <p:spPr>
          <a:xfrm>
            <a:off x="640080" y="3931920"/>
            <a:ext cx="10972800" cy="2103120"/>
          </a:xfrm>
          <a:prstGeom prst="rect">
            <a:avLst/>
          </a:prstGeom>
          <a:noFill/>
          <a:ln/>
        </p:spPr>
        <p:txBody>
          <a:bodyPr wrap="square" rtlCol="0" anchor="ctr"/>
          <a:lstStyle/>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土器のかけら1つで約700万個の点。いまのプログラムは、これを1台のマシンで順番に処理している。</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土器1つを測るだけならこれでも動くが、今後は「テストを何百回も回す」「土器を何十個も測る」フェーズに入る。</a:t>
            </a:r>
            <a:endParaRPr lang="en-US" sz="1500" dirty="0"/>
          </a:p>
          <a:p>
            <a:pPr marL="342900" indent="-342900">
              <a:buSzPct val="100000"/>
              <a:buChar char="•"/>
            </a:pPr>
            <a:r>
              <a:rPr lang="en-US" sz="1500" dirty="0">
                <a:solidFill>
                  <a:srgbClr val="333333"/>
                </a:solidFill>
                <a:latin typeface="Calibri" pitchFamily="34" charset="0"/>
                <a:ea typeface="Calibri" pitchFamily="34" charset="-122"/>
                <a:cs typeface="Calibri" pitchFamily="34" charset="-120"/>
              </a:rPr>
              <a:t>つまり、講義で学んだ効率化の考え方が本領を発揮するのはまさにこれから。次の2枚で候補を挙げる。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これから効率化できそうな場所</a:t>
            </a:r>
            <a:endParaRPr lang="en-US" sz="3000" dirty="0"/>
          </a:p>
        </p:txBody>
      </p:sp>
      <p:sp>
        <p:nvSpPr>
          <p:cNvPr id="3" name="Shape 1"/>
          <p:cNvSpPr/>
          <p:nvPr/>
        </p:nvSpPr>
        <p:spPr>
          <a:xfrm>
            <a:off x="548640" y="1691640"/>
            <a:ext cx="685800" cy="685800"/>
          </a:xfrm>
          <a:prstGeom prst="ellipse">
            <a:avLst/>
          </a:prstGeom>
          <a:solidFill>
            <a:srgbClr val="B85042"/>
          </a:solidFill>
          <a:ln/>
        </p:spPr>
      </p:sp>
      <p:sp>
        <p:nvSpPr>
          <p:cNvPr id="4" name="Text 2"/>
          <p:cNvSpPr/>
          <p:nvPr/>
        </p:nvSpPr>
        <p:spPr>
          <a:xfrm>
            <a:off x="548640" y="16916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5" name="Text 3"/>
          <p:cNvSpPr/>
          <p:nvPr/>
        </p:nvSpPr>
        <p:spPr>
          <a:xfrm>
            <a:off x="1508760" y="1417320"/>
            <a:ext cx="10058400" cy="411480"/>
          </a:xfrm>
          <a:prstGeom prst="rect">
            <a:avLst/>
          </a:prstGeom>
          <a:noFill/>
          <a:ln/>
        </p:spPr>
        <p:txBody>
          <a:bodyPr wrap="square" lIns="0" tIns="0" rIns="0" bIns="0" rtlCol="0" anchor="ctr"/>
          <a:lstStyle/>
          <a:p>
            <a:pPr indent="0" marL="0">
              <a:buNone/>
            </a:pPr>
            <a:r>
              <a:rPr lang="en-US" sz="1700" b="1" dirty="0">
                <a:solidFill>
                  <a:srgbClr val="333333"/>
                </a:solidFill>
                <a:latin typeface="Cambria" pitchFamily="34" charset="0"/>
                <a:ea typeface="Cambria" pitchFamily="34" charset="-122"/>
                <a:cs typeface="Cambria" pitchFamily="34" charset="-120"/>
              </a:rPr>
              <a:t>精度テストの大量実行を手分けする</a:t>
            </a:r>
            <a:endParaRPr lang="en-US" sz="1700" dirty="0"/>
          </a:p>
        </p:txBody>
      </p:sp>
      <p:sp>
        <p:nvSpPr>
          <p:cNvPr id="6" name="Text 4"/>
          <p:cNvSpPr/>
          <p:nvPr/>
        </p:nvSpPr>
        <p:spPr>
          <a:xfrm>
            <a:off x="1508760" y="1874520"/>
            <a:ext cx="10058400" cy="100584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ノイズや欠けの量を変えたテストデータで何百回も精度を測る予定。条件ごとに独立した計算なので、第11–12回で学んだ並列化がそのまま使えるはず。</a:t>
            </a:r>
            <a:endParaRPr lang="en-US" sz="1350" dirty="0"/>
          </a:p>
        </p:txBody>
      </p:sp>
      <p:sp>
        <p:nvSpPr>
          <p:cNvPr id="7" name="Shape 5"/>
          <p:cNvSpPr/>
          <p:nvPr/>
        </p:nvSpPr>
        <p:spPr>
          <a:xfrm>
            <a:off x="548640" y="3337560"/>
            <a:ext cx="685800" cy="685800"/>
          </a:xfrm>
          <a:prstGeom prst="ellipse">
            <a:avLst/>
          </a:prstGeom>
          <a:solidFill>
            <a:srgbClr val="B85042"/>
          </a:solidFill>
          <a:ln/>
        </p:spPr>
      </p:sp>
      <p:sp>
        <p:nvSpPr>
          <p:cNvPr id="8" name="Text 6"/>
          <p:cNvSpPr/>
          <p:nvPr/>
        </p:nvSpPr>
        <p:spPr>
          <a:xfrm>
            <a:off x="548640" y="33375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1508760" y="3063240"/>
            <a:ext cx="10058400" cy="411480"/>
          </a:xfrm>
          <a:prstGeom prst="rect">
            <a:avLst/>
          </a:prstGeom>
          <a:noFill/>
          <a:ln/>
        </p:spPr>
        <p:txBody>
          <a:bodyPr wrap="square" lIns="0" tIns="0" rIns="0" bIns="0" rtlCol="0" anchor="ctr"/>
          <a:lstStyle/>
          <a:p>
            <a:pPr indent="0" marL="0">
              <a:buNone/>
            </a:pPr>
            <a:r>
              <a:rPr lang="en-US" sz="1700" b="1" dirty="0">
                <a:solidFill>
                  <a:srgbClr val="333333"/>
                </a:solidFill>
                <a:latin typeface="Cambria" pitchFamily="34" charset="0"/>
                <a:ea typeface="Cambria" pitchFamily="34" charset="-122"/>
                <a:cs typeface="Cambria" pitchFamily="34" charset="-120"/>
              </a:rPr>
              <a:t>手動の設定を自動チューニングに置き換える</a:t>
            </a:r>
            <a:endParaRPr lang="en-US" sz="1700" dirty="0"/>
          </a:p>
        </p:txBody>
      </p:sp>
      <p:sp>
        <p:nvSpPr>
          <p:cNvPr id="10" name="Text 8"/>
          <p:cNvSpPr/>
          <p:nvPr/>
        </p:nvSpPr>
        <p:spPr>
          <a:xfrm>
            <a:off x="1508760" y="3520440"/>
            <a:ext cx="10058400" cy="100584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いまは人が手で決めている設定（画像の細かさ・探す範囲など）を、第12回で学んだ遺伝的アルゴリズムなどに探させれば、人の試行錯誤の時間をなくせるはず。</a:t>
            </a:r>
            <a:endParaRPr lang="en-US" sz="1350" dirty="0"/>
          </a:p>
        </p:txBody>
      </p:sp>
      <p:sp>
        <p:nvSpPr>
          <p:cNvPr id="11" name="Shape 9"/>
          <p:cNvSpPr/>
          <p:nvPr/>
        </p:nvSpPr>
        <p:spPr>
          <a:xfrm>
            <a:off x="548640" y="4983480"/>
            <a:ext cx="685800" cy="685800"/>
          </a:xfrm>
          <a:prstGeom prst="ellipse">
            <a:avLst/>
          </a:prstGeom>
          <a:solidFill>
            <a:srgbClr val="B85042"/>
          </a:solidFill>
          <a:ln/>
        </p:spPr>
      </p:sp>
      <p:sp>
        <p:nvSpPr>
          <p:cNvPr id="12" name="Text 10"/>
          <p:cNvSpPr/>
          <p:nvPr/>
        </p:nvSpPr>
        <p:spPr>
          <a:xfrm>
            <a:off x="548640" y="49834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1508760" y="4709160"/>
            <a:ext cx="10058400" cy="411480"/>
          </a:xfrm>
          <a:prstGeom prst="rect">
            <a:avLst/>
          </a:prstGeom>
          <a:noFill/>
          <a:ln/>
        </p:spPr>
        <p:txBody>
          <a:bodyPr wrap="square" lIns="0" tIns="0" rIns="0" bIns="0" rtlCol="0" anchor="ctr"/>
          <a:lstStyle/>
          <a:p>
            <a:pPr indent="0" marL="0">
              <a:buNone/>
            </a:pPr>
            <a:r>
              <a:rPr lang="en-US" sz="1700" b="1" dirty="0">
                <a:solidFill>
                  <a:srgbClr val="333333"/>
                </a:solidFill>
                <a:latin typeface="Cambria" pitchFamily="34" charset="0"/>
                <a:ea typeface="Cambria" pitchFamily="34" charset="-122"/>
                <a:cs typeface="Cambria" pitchFamily="34" charset="-120"/>
              </a:rPr>
              <a:t>たくさんの土器をまとめて処理する</a:t>
            </a:r>
            <a:endParaRPr lang="en-US" sz="1700" dirty="0"/>
          </a:p>
        </p:txBody>
      </p:sp>
      <p:sp>
        <p:nvSpPr>
          <p:cNvPr id="14" name="Text 12"/>
          <p:cNvSpPr/>
          <p:nvPr/>
        </p:nvSpPr>
        <p:spPr>
          <a:xfrm>
            <a:off x="1508760" y="5166360"/>
            <a:ext cx="10058400" cy="100584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土器ごとの処理は独立なので、何十個も測る段階では手分けして同時に走らせられる。測った値の比較には、講義前半の統計的な手法が使えるはず。</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33333"/>
                </a:solidFill>
                <a:latin typeface="Cambria" pitchFamily="34" charset="0"/>
                <a:ea typeface="Cambria" pitchFamily="34" charset="-122"/>
                <a:cs typeface="Cambria" pitchFamily="34" charset="-120"/>
              </a:rPr>
              <a:t>手分けは本当に効くのか — 第12回の実験からの見通し</a:t>
            </a:r>
            <a:endParaRPr lang="en-US" sz="3000" dirty="0"/>
          </a:p>
        </p:txBody>
      </p:sp>
      <p:sp>
        <p:nvSpPr>
          <p:cNvPr id="3" name="Shape 1"/>
          <p:cNvSpPr/>
          <p:nvPr/>
        </p:nvSpPr>
        <p:spPr>
          <a:xfrm>
            <a:off x="548640" y="1371600"/>
            <a:ext cx="11064240" cy="1463040"/>
          </a:xfrm>
          <a:prstGeom prst="roundRect">
            <a:avLst>
              <a:gd name="adj" fmla="val 6250"/>
            </a:avLst>
          </a:prstGeom>
          <a:solidFill>
            <a:srgbClr val="E7E8D1"/>
          </a:solidFill>
          <a:ln/>
        </p:spPr>
      </p:sp>
      <p:sp>
        <p:nvSpPr>
          <p:cNvPr id="4" name="Text 2"/>
          <p:cNvSpPr/>
          <p:nvPr/>
        </p:nvSpPr>
        <p:spPr>
          <a:xfrm>
            <a:off x="777240" y="1481328"/>
            <a:ext cx="3108960" cy="1188720"/>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第12回の実験でわかったこと</a:t>
            </a:r>
            <a:endParaRPr lang="en-US" sz="1500" dirty="0"/>
          </a:p>
        </p:txBody>
      </p:sp>
      <p:sp>
        <p:nvSpPr>
          <p:cNvPr id="5" name="Text 3"/>
          <p:cNvSpPr/>
          <p:nvPr/>
        </p:nvSpPr>
        <p:spPr>
          <a:xfrm>
            <a:off x="4023360" y="1508760"/>
            <a:ext cx="7315200" cy="1234440"/>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1つ1つの計算が軽すぎると、手分けの準備（Workerの用意やデータの受け渡し）のほうに時間がかかり、並列化してもかえって遅くなった。</a:t>
            </a:r>
            <a:endParaRPr lang="en-US" sz="1300" dirty="0"/>
          </a:p>
        </p:txBody>
      </p:sp>
      <p:sp>
        <p:nvSpPr>
          <p:cNvPr id="6" name="Shape 4"/>
          <p:cNvSpPr/>
          <p:nvPr/>
        </p:nvSpPr>
        <p:spPr>
          <a:xfrm>
            <a:off x="548640" y="3017520"/>
            <a:ext cx="11064240" cy="1463040"/>
          </a:xfrm>
          <a:prstGeom prst="roundRect">
            <a:avLst>
              <a:gd name="adj" fmla="val 6250"/>
            </a:avLst>
          </a:prstGeom>
          <a:solidFill>
            <a:srgbClr val="E7E8D1"/>
          </a:solidFill>
          <a:ln/>
        </p:spPr>
      </p:sp>
      <p:sp>
        <p:nvSpPr>
          <p:cNvPr id="7" name="Text 5"/>
          <p:cNvSpPr/>
          <p:nvPr/>
        </p:nvSpPr>
        <p:spPr>
          <a:xfrm>
            <a:off x="777240" y="3127248"/>
            <a:ext cx="3108960" cy="1188720"/>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本研究にあてはめると</a:t>
            </a:r>
            <a:endParaRPr lang="en-US" sz="1500" dirty="0"/>
          </a:p>
        </p:txBody>
      </p:sp>
      <p:sp>
        <p:nvSpPr>
          <p:cNvPr id="8" name="Text 6"/>
          <p:cNvSpPr/>
          <p:nvPr/>
        </p:nvSpPr>
        <p:spPr>
          <a:xfrm>
            <a:off x="4023360" y="3154680"/>
            <a:ext cx="7315200" cy="1234440"/>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土器1つの処理やテスト1回は、数分かかる重い計算。準備のコストより計算そのものがずっと重いので、手分けの効果が出やすい形だと見込んでいる。</a:t>
            </a:r>
            <a:endParaRPr lang="en-US" sz="1300" dirty="0"/>
          </a:p>
        </p:txBody>
      </p:sp>
      <p:sp>
        <p:nvSpPr>
          <p:cNvPr id="9" name="Shape 7"/>
          <p:cNvSpPr/>
          <p:nvPr/>
        </p:nvSpPr>
        <p:spPr>
          <a:xfrm>
            <a:off x="548640" y="4663440"/>
            <a:ext cx="11064240" cy="1463040"/>
          </a:xfrm>
          <a:prstGeom prst="roundRect">
            <a:avLst>
              <a:gd name="adj" fmla="val 6250"/>
            </a:avLst>
          </a:prstGeom>
          <a:solidFill>
            <a:srgbClr val="B85042"/>
          </a:solidFill>
          <a:ln/>
        </p:spPr>
      </p:sp>
      <p:sp>
        <p:nvSpPr>
          <p:cNvPr id="10" name="Text 8"/>
          <p:cNvSpPr/>
          <p:nvPr/>
        </p:nvSpPr>
        <p:spPr>
          <a:xfrm>
            <a:off x="777240" y="4773168"/>
            <a:ext cx="3108960" cy="11887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進め方</a:t>
            </a:r>
            <a:endParaRPr lang="en-US" sz="1500" dirty="0"/>
          </a:p>
        </p:txBody>
      </p:sp>
      <p:sp>
        <p:nvSpPr>
          <p:cNvPr id="11" name="Text 9"/>
          <p:cNvSpPr/>
          <p:nvPr/>
        </p:nvSpPr>
        <p:spPr>
          <a:xfrm>
            <a:off x="4023360" y="4800600"/>
            <a:ext cx="7315200" cy="12344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思い込みで並列化せず、まず「1つの計算にかかる時間」を測ってから、手分けする単位を決める。これは第12回の実験から得たいちばんの教訓。</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B2A26"/>
        </a:solidFill>
      </p:bgPr>
    </p:bg>
    <p:spTree>
      <p:nvGrpSpPr>
        <p:cNvPr id="1" name=""/>
        <p:cNvGrpSpPr/>
        <p:nvPr/>
      </p:nvGrpSpPr>
      <p:grpSpPr>
        <a:xfrm>
          <a:off x="0" y="0"/>
          <a:ext cx="0" cy="0"/>
          <a:chOff x="0" y="0"/>
          <a:chExt cx="0" cy="0"/>
        </a:xfrm>
      </p:grpSpPr>
      <p:sp>
        <p:nvSpPr>
          <p:cNvPr id="2" name="Text 0"/>
          <p:cNvSpPr/>
          <p:nvPr/>
        </p:nvSpPr>
        <p:spPr>
          <a:xfrm>
            <a:off x="731520" y="548640"/>
            <a:ext cx="1069848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まとめ</a:t>
            </a:r>
            <a:endParaRPr lang="en-US" sz="3200" dirty="0"/>
          </a:p>
        </p:txBody>
      </p:sp>
      <p:sp>
        <p:nvSpPr>
          <p:cNvPr id="3" name="Text 1"/>
          <p:cNvSpPr/>
          <p:nvPr/>
        </p:nvSpPr>
        <p:spPr>
          <a:xfrm>
            <a:off x="822960" y="1554480"/>
            <a:ext cx="10515600" cy="3657600"/>
          </a:xfrm>
          <a:prstGeom prst="rect">
            <a:avLst/>
          </a:prstGeom>
          <a:noFill/>
          <a:ln/>
        </p:spPr>
        <p:txBody>
          <a:bodyPr wrap="square" rtlCol="0" anchor="ctr"/>
          <a:lstStyle/>
          <a:p>
            <a:pPr marL="342900" indent="-342900">
              <a:spcAft>
                <a:spcPts val="1400"/>
              </a:spcAft>
              <a:buSzPct val="100000"/>
              <a:buChar char="•"/>
            </a:pPr>
            <a:r>
              <a:rPr lang="en-US" sz="1700" dirty="0">
                <a:solidFill>
                  <a:srgbClr val="E7E8D1"/>
                </a:solidFill>
                <a:latin typeface="Calibri" pitchFamily="34" charset="0"/>
                <a:ea typeface="Calibri" pitchFamily="34" charset="-122"/>
                <a:cs typeface="Calibri" pitchFamily="34" charset="-120"/>
              </a:rPr>
              <a:t>縄文土器の縄目もようを、3Dスキャンデータから全自動で測る仕組みを作っている。テスト用データでは精度を確認済み。</a:t>
            </a:r>
            <a:endParaRPr lang="en-US" sz="1700" dirty="0"/>
          </a:p>
          <a:p>
            <a:pPr marL="342900" indent="-342900">
              <a:spcAft>
                <a:spcPts val="1400"/>
              </a:spcAft>
              <a:buSzPct val="100000"/>
              <a:buChar char="•"/>
            </a:pPr>
            <a:r>
              <a:rPr lang="en-US" sz="1700" dirty="0">
                <a:solidFill>
                  <a:srgbClr val="E7E8D1"/>
                </a:solidFill>
                <a:latin typeface="Calibri" pitchFamily="34" charset="0"/>
                <a:ea typeface="Calibri" pitchFamily="34" charset="-122"/>
                <a:cs typeface="Calibri" pitchFamily="34" charset="-120"/>
              </a:rPr>
              <a:t>研究はこれから「テストの大量実行」「設定の調整」「多数の土器への適用」のフェーズに入り、ここに効率化の余地が大きい。</a:t>
            </a:r>
            <a:endParaRPr lang="en-US" sz="1700" dirty="0"/>
          </a:p>
          <a:p>
            <a:pPr marL="342900" indent="-342900">
              <a:spcAft>
                <a:spcPts val="1400"/>
              </a:spcAft>
              <a:buSzPct val="100000"/>
              <a:buChar char="•"/>
            </a:pPr>
            <a:r>
              <a:rPr lang="en-US" sz="1700" dirty="0">
                <a:solidFill>
                  <a:srgbClr val="E7E8D1"/>
                </a:solidFill>
                <a:latin typeface="Calibri" pitchFamily="34" charset="0"/>
                <a:ea typeface="Calibri" pitchFamily="34" charset="-122"/>
                <a:cs typeface="Calibri" pitchFamily="34" charset="-120"/>
              </a:rPr>
              <a:t>具体的には、独立な計算の並列実行（第11–12回）と、遺伝的アルゴリズムによる設定の自動チューニング（第12回）が使えそうだと考えている。</a:t>
            </a:r>
            <a:endParaRPr lang="en-US" sz="1700" dirty="0"/>
          </a:p>
          <a:p>
            <a:pPr marL="342900" indent="-342900">
              <a:buSzPct val="100000"/>
              <a:buChar char="•"/>
            </a:pPr>
            <a:r>
              <a:rPr lang="en-US" sz="1700" dirty="0">
                <a:solidFill>
                  <a:srgbClr val="E7E8D1"/>
                </a:solidFill>
                <a:latin typeface="Calibri" pitchFamily="34" charset="0"/>
                <a:ea typeface="Calibri" pitchFamily="34" charset="-122"/>
                <a:cs typeface="Calibri" pitchFamily="34" charset="-120"/>
              </a:rPr>
              <a:t>その際は「1つの計算の重さを測ってから手分けを決める」という第12回の教訓に従って進める。</a:t>
            </a:r>
            <a:endParaRPr lang="en-US" sz="1700" dirty="0"/>
          </a:p>
        </p:txBody>
      </p:sp>
      <p:sp>
        <p:nvSpPr>
          <p:cNvPr id="4" name="Text 2"/>
          <p:cNvSpPr/>
          <p:nvPr/>
        </p:nvSpPr>
        <p:spPr>
          <a:xfrm>
            <a:off x="731520" y="5669280"/>
            <a:ext cx="10698480" cy="548640"/>
          </a:xfrm>
          <a:prstGeom prst="rect">
            <a:avLst/>
          </a:prstGeom>
          <a:noFill/>
          <a:ln/>
        </p:spPr>
        <p:txBody>
          <a:bodyPr wrap="square" lIns="0" tIns="0" rIns="0" bIns="0" rtlCol="0" anchor="ctr"/>
          <a:lstStyle/>
          <a:p>
            <a:pPr algn="ctr" indent="0" marL="0">
              <a:buNone/>
            </a:pPr>
            <a:r>
              <a:rPr lang="en-US" sz="2000" i="1" dirty="0">
                <a:solidFill>
                  <a:srgbClr val="A7BEAE"/>
                </a:solidFill>
                <a:latin typeface="Cambria" pitchFamily="34" charset="0"/>
                <a:ea typeface="Cambria" pitchFamily="34" charset="-122"/>
                <a:cs typeface="Cambria" pitchFamily="34" charset="-120"/>
              </a:rPr>
              <a:t>ご清聴ありがとうございました</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2026-07-19T08:32:46Z</dcterms:created>
  <dcterms:modified xsi:type="dcterms:W3CDTF">2026-07-19T08:32:46Z</dcterms:modified>
</cp:coreProperties>
</file>