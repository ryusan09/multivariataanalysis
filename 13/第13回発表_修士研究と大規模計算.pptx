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（約30秒）
第13回の発表を始めます。私の修士研究は、ひとことで言うと「縄文土器の表面にある縄目のもようを、コンピュータで自動的に測る」というものです。
本日は前半で研究の中身を紹介し、後半で、この講義で学んだことが研究のどこで役に立つのかをお話しします。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（約50秒）
まず、どんな研究かを説明します。縄文土器の表面には、縄を転がして付けた縄目のもようが残っています。右の画像が、実際に使っている土器のかけらの3Dスキャンです。
このもようの間隔や、縄が1回転する長さがわかると、どんな縄を使ってどう作られたのか、という考古学の手がかりになります。
ただ、いままでは研究者が目で見て手作業で測っていました。時間がかかりますし、測る人によって結果が変わってしまうという問題があります。
そこで私の研究では、土器を3Dスキャンしたデータをコンピュータに読み込ませて、縄目の間隔や向きを全部自動で測れるようにすることを目指しています。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（約55秒）
処理の流れは5つのステップです。
まず3Dスキャンのデータを読み込み、次に、縄目のもようがある面だけを選び出します。3つ目のステップで、その面のでこぼこを普通の2次元の画像に変換します。ここまでくれば、あとは画像処理の問題になります。
4つ目のステップで、もようの繰り返しの間隔と向きを測り、最後の5つ目で、縄が1回転するごとの区切りの位置を見つけます。
ポイントは、3Dの複雑な形をそのまま扱うのではなく、2Dの画像、さらに1本の波形へと、だんだんシンプルなデータに変換しながら測っていくことです。
プログラムはすでに動いていて、答えがわかっているテスト用のデータでは、正しく測れることを確認しています。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（約50秒）
この研究のいちばんの新しさが、最後のステップです。
縄は1回転するごとに同じもようが繰り返されます。右の画像の黒い点は、人が目で見て付けた「縄1回転分の区切り」の位置です。これをコンピュータに見つけさせたい、というわけです。
やり方のイメージは単純で、もようの画像を少しずつずらしながら重ねてみて、「どれだけずらすと一番ぴったり重なるか」を調べます。一番よく重なるずらし幅が、ちょうど縄1回転分の長さになります。
テスト用のデータで確認したところ、正解とのずれは2%未満で、データの2割が欠けていても精度を保てました。用意した16件のテストにすべて合格しています。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（約45秒）
いまどこまでできているかです。本物の土器のデータで動かすと、縄目の間隔が約3.4ミリ、縄1回転分の長さが約44ミリ、区切りの位置が6か所、というように自動で測れています。
ただし課題もあります。いちばん大きいのは、本物の土器については「本当の正解」のデータがまだ手元になく、どれくらい正確に測れているのかを数字で示せていないことです。いま、正解データの計測を指導教員にお願いしています。
また、測るときの細かい設定を人が手で決めている点も、今後自動化したいところです。
ここからが後半の本題で、この研究を講義で学んだ内容でどう効率化できるか、という話です。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（約40秒）
なぜ効率化が必要かというと、データがとにかく大きいからです。土器のかけら1つをスキャンしただけで、点の数が約700万個あります。これをまともに全部計算すると、メモリも時間も足りなくなります。
そこで、必要な面だけを切り出す、3Dを2Dの画像に変換する、という2段階で、扱うデータをぐっと小さくしています。
それでも重い計算は残るので、講義で学んだ計算のさせ方の工夫が効いてくる、というのが後半の話です。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（約50秒）
効率化ポイントの1つ目は、講義前半で学んだデータ分析の手法です。
まず主成分分析。土器の面を2Dの画像に変換するとき、面のちょうどいい向きを自動で見つける必要がありますが、そこに主成分分析を使っています。3Dのデータを2Dに減らす主役です。
次にクラスタ分析。土器の表面を、似た向きの面ごとにグループ分けして、縄目のある面だけを選び出しています。計算する範囲を絞る役目です。
そして相関。「ずらして重ねて、どれだけ似ているか」を調べるのは相関係数の考え方そのもので、もようの間隔も縄1回転分の長さも、これで見つけています。
つまり講義前半の手法は、データを減らす、対象を絞る、繰り返しを見つける、という形でこの研究の中心にいます。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（約55秒）
効率化ポイントの2つ目は、講義後半で学んだ大規模計算の考え方です。3つあります。
1つ目は、計算のやり方そのものを変えて速くすることです。「ずらして重ねる」計算はまともにやるととても重いのですが、計算の順番を工夫する定番の方法を使うと、同じ答えをずっと速く出せます。
2つ目は、同時に計算できるところを見つけることです。画像の各マス目の計算や、複数の土器を測る処理は、お互いの結果を待つ必要がありません。これは第12回でやった遺伝的アルゴリズムの個体評価と同じ形なので、手分けして同時に計算できます。
ただし3つ目、手分けにはコストもあります。第12回の実験では、1つ1つの計算が軽すぎると、手分けの準備のほうに時間がかかって、逆に遅くなりました。なので本研究でも、1つの計算の重さを見てから手分けするかどうかを決める方針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（約45秒）
これからの計画は3つです。
1つ目は、たくさんの条件での精度テストです。ノイズや欠けの量を変えたテストデータを大量に作って、どこまで正しく測れるかを調べます。条件ごとに独立した計算なので、手分けして同時に走らせます。
2つ目は、設定の自動チューニングです。いま人が手で決めている設定を、第12回で学んだ遺伝的アルゴリズムなどで自動的に探させます。こちらは1回の試行が重いので、第12回の実験とは逆に、手分けの効果が出やすいと考えています。
3つ目は、たくさんの土器への適用です。自動で測れるようになれば、土器ごとの違いを統計的に比べられるようになります。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（約30秒）
まとめです。私の研究は、縄文土器の縄目もようを3Dスキャンデータから全自動で測る仕組みづくりです。
講義前半のデータ分析の手法が「データを減らして対象を絞る」効率化の中心になっていて、後半の大規模計算の考え方が、巨大なデータを現実的な時間で処理する鍵になっています。
今後は精度テストの並列実行と設定の自動チューニングに、講義の内容を活かしていきます。
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B2A26"/>
        </a:solidFill>
      </p:bgPr>
    </p:bg>
    <p:spTree>
      <p:nvGrpSpPr>
        <p:cNvPr id="1" name=""/>
        <p:cNvGrpSpPr/>
        <p:nvPr/>
      </p:nvGrpSpPr>
      <p:grpSpPr>
        <a:xfrm>
          <a:off x="0" y="0"/>
          <a:ext cx="0" cy="0"/>
          <a:chOff x="0" y="0"/>
          <a:chExt cx="0" cy="0"/>
        </a:xfrm>
      </p:grpSpPr>
      <p:sp>
        <p:nvSpPr>
          <p:cNvPr id="2" name="Text 0"/>
          <p:cNvSpPr/>
          <p:nvPr/>
        </p:nvSpPr>
        <p:spPr>
          <a:xfrm>
            <a:off x="731520" y="1188720"/>
            <a:ext cx="10698480" cy="457200"/>
          </a:xfrm>
          <a:prstGeom prst="rect">
            <a:avLst/>
          </a:prstGeom>
          <a:noFill/>
          <a:ln/>
        </p:spPr>
        <p:txBody>
          <a:bodyPr wrap="square" lIns="0" tIns="0" rIns="0" bIns="0" rtlCol="0" anchor="ctr"/>
          <a:lstStyle/>
          <a:p>
            <a:pPr indent="0" marL="0">
              <a:buNone/>
            </a:pPr>
            <a:r>
              <a:rPr lang="en-US" sz="1600" dirty="0">
                <a:solidFill>
                  <a:srgbClr val="A7BEAE"/>
                </a:solidFill>
                <a:latin typeface="Calibri" pitchFamily="34" charset="0"/>
                <a:ea typeface="Calibri" pitchFamily="34" charset="-122"/>
                <a:cs typeface="Calibri" pitchFamily="34" charset="-120"/>
              </a:rPr>
              <a:t>多変量解析及び大規模計算論  第13回発表</a:t>
            </a:r>
            <a:endParaRPr lang="en-US" sz="1600" dirty="0"/>
          </a:p>
        </p:txBody>
      </p:sp>
      <p:sp>
        <p:nvSpPr>
          <p:cNvPr id="3" name="Text 1"/>
          <p:cNvSpPr/>
          <p:nvPr/>
        </p:nvSpPr>
        <p:spPr>
          <a:xfrm>
            <a:off x="731520" y="1828800"/>
            <a:ext cx="10698480" cy="1828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縄文土器の縄目もようを</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コンピュータで自動計測する研究</a:t>
            </a:r>
            <a:endParaRPr lang="en-US" sz="4000" dirty="0"/>
          </a:p>
        </p:txBody>
      </p:sp>
      <p:sp>
        <p:nvSpPr>
          <p:cNvPr id="4" name="Text 2"/>
          <p:cNvSpPr/>
          <p:nvPr/>
        </p:nvSpPr>
        <p:spPr>
          <a:xfrm>
            <a:off x="731520" y="3749040"/>
            <a:ext cx="10698480" cy="548640"/>
          </a:xfrm>
          <a:prstGeom prst="rect">
            <a:avLst/>
          </a:prstGeom>
          <a:noFill/>
          <a:ln/>
        </p:spPr>
        <p:txBody>
          <a:bodyPr wrap="square" lIns="0" tIns="0" rIns="0" bIns="0" rtlCol="0" anchor="ctr"/>
          <a:lstStyle/>
          <a:p>
            <a:pPr indent="0" marL="0">
              <a:buNone/>
            </a:pPr>
            <a:r>
              <a:rPr lang="en-US" sz="2000" i="1" dirty="0">
                <a:solidFill>
                  <a:srgbClr val="E7E8D1"/>
                </a:solidFill>
                <a:latin typeface="Calibri" pitchFamily="34" charset="0"/>
                <a:ea typeface="Calibri" pitchFamily="34" charset="-122"/>
                <a:cs typeface="Calibri" pitchFamily="34" charset="-120"/>
              </a:rPr>
              <a:t>— 研究紹介と、講義で学んだ手法による効率化 —</a:t>
            </a:r>
            <a:endParaRPr lang="en-US" sz="2000" dirty="0"/>
          </a:p>
        </p:txBody>
      </p:sp>
      <p:sp>
        <p:nvSpPr>
          <p:cNvPr id="5" name="Text 3"/>
          <p:cNvSpPr/>
          <p:nvPr/>
        </p:nvSpPr>
        <p:spPr>
          <a:xfrm>
            <a:off x="731520" y="5760720"/>
            <a:ext cx="10698480" cy="365760"/>
          </a:xfrm>
          <a:prstGeom prst="rect">
            <a:avLst/>
          </a:prstGeom>
          <a:noFill/>
          <a:ln/>
        </p:spPr>
        <p:txBody>
          <a:bodyPr wrap="square" lIns="0" tIns="0" rIns="0" bIns="0" rtlCol="0" anchor="ctr"/>
          <a:lstStyle/>
          <a:p>
            <a:pPr indent="0" marL="0">
              <a:buNone/>
            </a:pPr>
            <a:r>
              <a:rPr lang="en-US" sz="1400" dirty="0">
                <a:solidFill>
                  <a:srgbClr val="A7BEAE"/>
                </a:solidFill>
                <a:latin typeface="Calibri" pitchFamily="34" charset="0"/>
                <a:ea typeface="Calibri" pitchFamily="34" charset="-122"/>
                <a:cs typeface="Calibri" pitchFamily="34" charset="-120"/>
              </a:rPr>
              <a:t>愛知工業大学大学院</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どんな研究か</a:t>
            </a:r>
            <a:endParaRPr lang="en-US" sz="3000" dirty="0"/>
          </a:p>
        </p:txBody>
      </p:sp>
      <p:sp>
        <p:nvSpPr>
          <p:cNvPr id="3" name="Shape 1"/>
          <p:cNvSpPr/>
          <p:nvPr/>
        </p:nvSpPr>
        <p:spPr>
          <a:xfrm>
            <a:off x="548640" y="1325880"/>
            <a:ext cx="6400800" cy="1051560"/>
          </a:xfrm>
          <a:prstGeom prst="roundRect">
            <a:avLst>
              <a:gd name="adj" fmla="val 6957"/>
            </a:avLst>
          </a:prstGeom>
          <a:solidFill>
            <a:srgbClr val="E7E8D1"/>
          </a:solidFill>
          <a:ln/>
        </p:spPr>
      </p:sp>
      <p:sp>
        <p:nvSpPr>
          <p:cNvPr id="4" name="Text 2"/>
          <p:cNvSpPr/>
          <p:nvPr/>
        </p:nvSpPr>
        <p:spPr>
          <a:xfrm>
            <a:off x="777240" y="1417320"/>
            <a:ext cx="1828800" cy="36576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背景</a:t>
            </a:r>
            <a:endParaRPr lang="en-US" sz="1600" dirty="0"/>
          </a:p>
        </p:txBody>
      </p:sp>
      <p:sp>
        <p:nvSpPr>
          <p:cNvPr id="5" name="Text 3"/>
          <p:cNvSpPr/>
          <p:nvPr/>
        </p:nvSpPr>
        <p:spPr>
          <a:xfrm>
            <a:off x="777240" y="1709928"/>
            <a:ext cx="5943600" cy="640080"/>
          </a:xfrm>
          <a:prstGeom prst="rect">
            <a:avLst/>
          </a:prstGeom>
          <a:noFill/>
          <a:ln/>
        </p:spPr>
        <p:txBody>
          <a:bodyPr wrap="square" lIns="0" tIns="0" rIns="0" bIns="0" rtlCol="0" anchor="ctr"/>
          <a:lstStyle/>
          <a:p>
            <a:pPr indent="0" marL="0">
              <a:buNone/>
            </a:pPr>
            <a:r>
              <a:rPr lang="en-US" sz="1250" dirty="0">
                <a:solidFill>
                  <a:srgbClr val="333333"/>
                </a:solidFill>
                <a:latin typeface="Calibri" pitchFamily="34" charset="0"/>
                <a:ea typeface="Calibri" pitchFamily="34" charset="-122"/>
                <a:cs typeface="Calibri" pitchFamily="34" charset="-120"/>
              </a:rPr>
              <a:t>縄文土器の表面には、縄を転がして付けた「縄目もよう」が残っている。もようの間隔や縄1回転分の長さがわかると、どんな縄でどう作られたかの手がかりになる。</a:t>
            </a:r>
            <a:endParaRPr lang="en-US" sz="1250" dirty="0"/>
          </a:p>
        </p:txBody>
      </p:sp>
      <p:sp>
        <p:nvSpPr>
          <p:cNvPr id="6" name="Shape 4"/>
          <p:cNvSpPr/>
          <p:nvPr/>
        </p:nvSpPr>
        <p:spPr>
          <a:xfrm>
            <a:off x="548640" y="2560320"/>
            <a:ext cx="6400800" cy="1051560"/>
          </a:xfrm>
          <a:prstGeom prst="roundRect">
            <a:avLst>
              <a:gd name="adj" fmla="val 6957"/>
            </a:avLst>
          </a:prstGeom>
          <a:solidFill>
            <a:srgbClr val="E7E8D1"/>
          </a:solidFill>
          <a:ln/>
        </p:spPr>
      </p:sp>
      <p:sp>
        <p:nvSpPr>
          <p:cNvPr id="7" name="Text 5"/>
          <p:cNvSpPr/>
          <p:nvPr/>
        </p:nvSpPr>
        <p:spPr>
          <a:xfrm>
            <a:off x="777240" y="2651760"/>
            <a:ext cx="1828800" cy="36576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困りごと</a:t>
            </a:r>
            <a:endParaRPr lang="en-US" sz="1600" dirty="0"/>
          </a:p>
        </p:txBody>
      </p:sp>
      <p:sp>
        <p:nvSpPr>
          <p:cNvPr id="8" name="Text 6"/>
          <p:cNvSpPr/>
          <p:nvPr/>
        </p:nvSpPr>
        <p:spPr>
          <a:xfrm>
            <a:off x="777240" y="2944368"/>
            <a:ext cx="5943600" cy="640080"/>
          </a:xfrm>
          <a:prstGeom prst="rect">
            <a:avLst/>
          </a:prstGeom>
          <a:noFill/>
          <a:ln/>
        </p:spPr>
        <p:txBody>
          <a:bodyPr wrap="square" lIns="0" tIns="0" rIns="0" bIns="0" rtlCol="0" anchor="ctr"/>
          <a:lstStyle/>
          <a:p>
            <a:pPr indent="0" marL="0">
              <a:buNone/>
            </a:pPr>
            <a:r>
              <a:rPr lang="en-US" sz="1250" dirty="0">
                <a:solidFill>
                  <a:srgbClr val="333333"/>
                </a:solidFill>
                <a:latin typeface="Calibri" pitchFamily="34" charset="0"/>
                <a:ea typeface="Calibri" pitchFamily="34" charset="-122"/>
                <a:cs typeface="Calibri" pitchFamily="34" charset="-120"/>
              </a:rPr>
              <a:t>いままでは研究者が目で見て手作業で測っていた。時間がかかるし、人によって結果が変わってしまう。</a:t>
            </a:r>
            <a:endParaRPr lang="en-US" sz="1250" dirty="0"/>
          </a:p>
        </p:txBody>
      </p:sp>
      <p:sp>
        <p:nvSpPr>
          <p:cNvPr id="9" name="Shape 7"/>
          <p:cNvSpPr/>
          <p:nvPr/>
        </p:nvSpPr>
        <p:spPr>
          <a:xfrm>
            <a:off x="548640" y="3794760"/>
            <a:ext cx="6400800" cy="1051560"/>
          </a:xfrm>
          <a:prstGeom prst="roundRect">
            <a:avLst>
              <a:gd name="adj" fmla="val 6957"/>
            </a:avLst>
          </a:prstGeom>
          <a:solidFill>
            <a:srgbClr val="B85042"/>
          </a:solidFill>
          <a:ln/>
        </p:spPr>
      </p:sp>
      <p:sp>
        <p:nvSpPr>
          <p:cNvPr id="10" name="Text 8"/>
          <p:cNvSpPr/>
          <p:nvPr/>
        </p:nvSpPr>
        <p:spPr>
          <a:xfrm>
            <a:off x="777240" y="3886200"/>
            <a:ext cx="182880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やりたいこと</a:t>
            </a:r>
            <a:endParaRPr lang="en-US" sz="1600" dirty="0"/>
          </a:p>
        </p:txBody>
      </p:sp>
      <p:sp>
        <p:nvSpPr>
          <p:cNvPr id="11" name="Text 9"/>
          <p:cNvSpPr/>
          <p:nvPr/>
        </p:nvSpPr>
        <p:spPr>
          <a:xfrm>
            <a:off x="777240" y="4178808"/>
            <a:ext cx="5943600" cy="64008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土器を3Dスキャンしたデータをコンピュータに読み込ませて、縄目の間隔・向き・縄1回転分の区切りを、全部自動で測れるようにする。</a:t>
            </a:r>
            <a:endParaRPr lang="en-US" sz="1250" dirty="0"/>
          </a:p>
        </p:txBody>
      </p:sp>
      <p:pic>
        <p:nvPicPr>
          <p:cNvPr id="12" name="Image 0" descr="/Users/ryusan/brain/02_Raw/土器1（同巡点）.png">    </p:cNvPr>
          <p:cNvPicPr>
            <a:picLocks noChangeAspect="1"/>
          </p:cNvPicPr>
          <p:nvPr/>
        </p:nvPicPr>
        <p:blipFill>
          <a:blip r:embed="rId1"/>
          <a:stretch>
            <a:fillRect/>
          </a:stretch>
        </p:blipFill>
        <p:spPr>
          <a:xfrm>
            <a:off x="7315200" y="1463040"/>
            <a:ext cx="4297680" cy="2651760"/>
          </a:xfrm>
          <a:prstGeom prst="rect">
            <a:avLst/>
          </a:prstGeom>
        </p:spPr>
      </p:pic>
      <p:sp>
        <p:nvSpPr>
          <p:cNvPr id="13" name="Text 10"/>
          <p:cNvSpPr/>
          <p:nvPr/>
        </p:nvSpPr>
        <p:spPr>
          <a:xfrm>
            <a:off x="7315200" y="4206240"/>
            <a:ext cx="4297680" cy="320040"/>
          </a:xfrm>
          <a:prstGeom prst="rect">
            <a:avLst/>
          </a:prstGeom>
          <a:noFill/>
          <a:ln/>
        </p:spPr>
        <p:txBody>
          <a:bodyPr wrap="square" lIns="0" tIns="0" rIns="0" bIns="0" rtlCol="0" anchor="ctr"/>
          <a:lstStyle/>
          <a:p>
            <a:pPr indent="0" marL="0">
              <a:buNone/>
            </a:pPr>
            <a:r>
              <a:rPr lang="en-US" sz="1100" dirty="0">
                <a:solidFill>
                  <a:srgbClr val="7A6A62"/>
                </a:solidFill>
                <a:latin typeface="Calibri" pitchFamily="34" charset="0"/>
                <a:ea typeface="Calibri" pitchFamily="34" charset="-122"/>
                <a:cs typeface="Calibri" pitchFamily="34" charset="-120"/>
              </a:rPr>
              <a:t>研究で使っている土器片の3Dスキャンデータ</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処理の流れ（5つのステップ）</a:t>
            </a:r>
            <a:endParaRPr lang="en-US" sz="3000" dirty="0"/>
          </a:p>
        </p:txBody>
      </p:sp>
      <p:sp>
        <p:nvSpPr>
          <p:cNvPr id="3" name="Shape 1"/>
          <p:cNvSpPr/>
          <p:nvPr/>
        </p:nvSpPr>
        <p:spPr>
          <a:xfrm>
            <a:off x="502920" y="1828800"/>
            <a:ext cx="2103120" cy="2377440"/>
          </a:xfrm>
          <a:prstGeom prst="roundRect">
            <a:avLst>
              <a:gd name="adj" fmla="val 4348"/>
            </a:avLst>
          </a:prstGeom>
          <a:solidFill>
            <a:srgbClr val="E7E8D1"/>
          </a:solidFill>
          <a:ln/>
        </p:spPr>
      </p:sp>
      <p:sp>
        <p:nvSpPr>
          <p:cNvPr id="4" name="Text 2"/>
          <p:cNvSpPr/>
          <p:nvPr/>
        </p:nvSpPr>
        <p:spPr>
          <a:xfrm>
            <a:off x="502920" y="1965960"/>
            <a:ext cx="2103120" cy="457200"/>
          </a:xfrm>
          <a:prstGeom prst="rect">
            <a:avLst/>
          </a:prstGeom>
          <a:noFill/>
          <a:ln/>
        </p:spPr>
        <p:txBody>
          <a:bodyPr wrap="square" lIns="0" tIns="0" rIns="0" bIns="0" rtlCol="0" anchor="ctr"/>
          <a:lstStyle/>
          <a:p>
            <a:pPr algn="ctr" indent="0" marL="0">
              <a:buNone/>
            </a:pPr>
            <a:r>
              <a:rPr lang="en-US" sz="2200" b="1" dirty="0">
                <a:solidFill>
                  <a:srgbClr val="B85042"/>
                </a:solidFill>
                <a:latin typeface="Cambria" pitchFamily="34" charset="0"/>
                <a:ea typeface="Cambria" pitchFamily="34" charset="-122"/>
                <a:cs typeface="Cambria" pitchFamily="34" charset="-120"/>
              </a:rPr>
              <a:t>M1</a:t>
            </a:r>
            <a:endParaRPr lang="en-US" sz="2200" dirty="0"/>
          </a:p>
        </p:txBody>
      </p:sp>
      <p:sp>
        <p:nvSpPr>
          <p:cNvPr id="5" name="Text 3"/>
          <p:cNvSpPr/>
          <p:nvPr/>
        </p:nvSpPr>
        <p:spPr>
          <a:xfrm>
            <a:off x="502920" y="2468880"/>
            <a:ext cx="2103120" cy="365760"/>
          </a:xfrm>
          <a:prstGeom prst="rect">
            <a:avLst/>
          </a:prstGeom>
          <a:noFill/>
          <a:ln/>
        </p:spPr>
        <p:txBody>
          <a:bodyPr wrap="square" lIns="0" tIns="0" rIns="0" bIns="0" rtlCol="0" anchor="ctr"/>
          <a:lstStyle/>
          <a:p>
            <a:pPr algn="ctr" indent="0" marL="0">
              <a:buNone/>
            </a:pPr>
            <a:r>
              <a:rPr lang="en-US" sz="1400" b="1" dirty="0">
                <a:solidFill>
                  <a:srgbClr val="333333"/>
                </a:solidFill>
                <a:latin typeface="Calibri" pitchFamily="34" charset="0"/>
                <a:ea typeface="Calibri" pitchFamily="34" charset="-122"/>
                <a:cs typeface="Calibri" pitchFamily="34" charset="-120"/>
              </a:rPr>
              <a:t>読み込み</a:t>
            </a:r>
            <a:endParaRPr lang="en-US" sz="1400" dirty="0"/>
          </a:p>
        </p:txBody>
      </p:sp>
      <p:sp>
        <p:nvSpPr>
          <p:cNvPr id="6" name="Text 4"/>
          <p:cNvSpPr/>
          <p:nvPr/>
        </p:nvSpPr>
        <p:spPr>
          <a:xfrm>
            <a:off x="594360" y="2880360"/>
            <a:ext cx="1920240" cy="1188720"/>
          </a:xfrm>
          <a:prstGeom prst="rect">
            <a:avLst/>
          </a:prstGeom>
          <a:noFill/>
          <a:ln/>
        </p:spPr>
        <p:txBody>
          <a:bodyPr wrap="square" lIns="0" tIns="0" rIns="0" bIns="0"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3Dスキャンデータを</a:t>
            </a:r>
            <a:endParaRPr lang="en-US" sz="1100" dirty="0"/>
          </a:p>
          <a:p>
            <a:pPr algn="ctr" indent="0" marL="0">
              <a:buNone/>
            </a:pPr>
            <a:r>
              <a:rPr lang="en-US" sz="1100" dirty="0">
                <a:solidFill>
                  <a:srgbClr val="333333"/>
                </a:solidFill>
                <a:latin typeface="Calibri" pitchFamily="34" charset="0"/>
                <a:ea typeface="Calibri" pitchFamily="34" charset="-122"/>
                <a:cs typeface="Calibri" pitchFamily="34" charset="-120"/>
              </a:rPr>
              <a:t>読み込む</a:t>
            </a:r>
            <a:endParaRPr lang="en-US" sz="1100" dirty="0"/>
          </a:p>
        </p:txBody>
      </p:sp>
      <p:sp>
        <p:nvSpPr>
          <p:cNvPr id="7" name="Text 5"/>
          <p:cNvSpPr/>
          <p:nvPr/>
        </p:nvSpPr>
        <p:spPr>
          <a:xfrm>
            <a:off x="2569464" y="2788920"/>
            <a:ext cx="365760" cy="457200"/>
          </a:xfrm>
          <a:prstGeom prst="rect">
            <a:avLst/>
          </a:prstGeom>
          <a:noFill/>
          <a:ln/>
        </p:spPr>
        <p:txBody>
          <a:bodyPr wrap="square" lIns="0" tIns="0" rIns="0" bIns="0" rtlCol="0" anchor="ctr"/>
          <a:lstStyle/>
          <a:p>
            <a:pPr algn="ctr" indent="0" marL="0">
              <a:buNone/>
            </a:pPr>
            <a:r>
              <a:rPr lang="en-US" sz="2000" b="1" dirty="0">
                <a:solidFill>
                  <a:srgbClr val="7A6A62"/>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2862072" y="1828800"/>
            <a:ext cx="2103120" cy="2377440"/>
          </a:xfrm>
          <a:prstGeom prst="roundRect">
            <a:avLst>
              <a:gd name="adj" fmla="val 4348"/>
            </a:avLst>
          </a:prstGeom>
          <a:solidFill>
            <a:srgbClr val="E7E8D1"/>
          </a:solidFill>
          <a:ln/>
        </p:spPr>
      </p:sp>
      <p:sp>
        <p:nvSpPr>
          <p:cNvPr id="9" name="Text 7"/>
          <p:cNvSpPr/>
          <p:nvPr/>
        </p:nvSpPr>
        <p:spPr>
          <a:xfrm>
            <a:off x="2862072" y="1965960"/>
            <a:ext cx="2103120" cy="457200"/>
          </a:xfrm>
          <a:prstGeom prst="rect">
            <a:avLst/>
          </a:prstGeom>
          <a:noFill/>
          <a:ln/>
        </p:spPr>
        <p:txBody>
          <a:bodyPr wrap="square" lIns="0" tIns="0" rIns="0" bIns="0" rtlCol="0" anchor="ctr"/>
          <a:lstStyle/>
          <a:p>
            <a:pPr algn="ctr" indent="0" marL="0">
              <a:buNone/>
            </a:pPr>
            <a:r>
              <a:rPr lang="en-US" sz="2200" b="1" dirty="0">
                <a:solidFill>
                  <a:srgbClr val="B85042"/>
                </a:solidFill>
                <a:latin typeface="Cambria" pitchFamily="34" charset="0"/>
                <a:ea typeface="Cambria" pitchFamily="34" charset="-122"/>
                <a:cs typeface="Cambria" pitchFamily="34" charset="-120"/>
              </a:rPr>
              <a:t>M2</a:t>
            </a:r>
            <a:endParaRPr lang="en-US" sz="2200" dirty="0"/>
          </a:p>
        </p:txBody>
      </p:sp>
      <p:sp>
        <p:nvSpPr>
          <p:cNvPr id="10" name="Text 8"/>
          <p:cNvSpPr/>
          <p:nvPr/>
        </p:nvSpPr>
        <p:spPr>
          <a:xfrm>
            <a:off x="2862072" y="2468880"/>
            <a:ext cx="2103120" cy="365760"/>
          </a:xfrm>
          <a:prstGeom prst="rect">
            <a:avLst/>
          </a:prstGeom>
          <a:noFill/>
          <a:ln/>
        </p:spPr>
        <p:txBody>
          <a:bodyPr wrap="square" lIns="0" tIns="0" rIns="0" bIns="0" rtlCol="0" anchor="ctr"/>
          <a:lstStyle/>
          <a:p>
            <a:pPr algn="ctr" indent="0" marL="0">
              <a:buNone/>
            </a:pPr>
            <a:r>
              <a:rPr lang="en-US" sz="1400" b="1" dirty="0">
                <a:solidFill>
                  <a:srgbClr val="333333"/>
                </a:solidFill>
                <a:latin typeface="Calibri" pitchFamily="34" charset="0"/>
                <a:ea typeface="Calibri" pitchFamily="34" charset="-122"/>
                <a:cs typeface="Calibri" pitchFamily="34" charset="-120"/>
              </a:rPr>
              <a:t>面の切り出し</a:t>
            </a:r>
            <a:endParaRPr lang="en-US" sz="1400" dirty="0"/>
          </a:p>
        </p:txBody>
      </p:sp>
      <p:sp>
        <p:nvSpPr>
          <p:cNvPr id="11" name="Text 9"/>
          <p:cNvSpPr/>
          <p:nvPr/>
        </p:nvSpPr>
        <p:spPr>
          <a:xfrm>
            <a:off x="2953512" y="2880360"/>
            <a:ext cx="1920240" cy="1188720"/>
          </a:xfrm>
          <a:prstGeom prst="rect">
            <a:avLst/>
          </a:prstGeom>
          <a:noFill/>
          <a:ln/>
        </p:spPr>
        <p:txBody>
          <a:bodyPr wrap="square" lIns="0" tIns="0" rIns="0" bIns="0"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縄目がある面だけを</a:t>
            </a:r>
            <a:endParaRPr lang="en-US" sz="1100" dirty="0"/>
          </a:p>
          <a:p>
            <a:pPr algn="ctr" indent="0" marL="0">
              <a:buNone/>
            </a:pPr>
            <a:r>
              <a:rPr lang="en-US" sz="1100" dirty="0">
                <a:solidFill>
                  <a:srgbClr val="333333"/>
                </a:solidFill>
                <a:latin typeface="Calibri" pitchFamily="34" charset="0"/>
                <a:ea typeface="Calibri" pitchFamily="34" charset="-122"/>
                <a:cs typeface="Calibri" pitchFamily="34" charset="-120"/>
              </a:rPr>
              <a:t>選び出す</a:t>
            </a:r>
            <a:endParaRPr lang="en-US" sz="1100" dirty="0"/>
          </a:p>
        </p:txBody>
      </p:sp>
      <p:sp>
        <p:nvSpPr>
          <p:cNvPr id="12" name="Text 10"/>
          <p:cNvSpPr/>
          <p:nvPr/>
        </p:nvSpPr>
        <p:spPr>
          <a:xfrm>
            <a:off x="4928616" y="2788920"/>
            <a:ext cx="365760" cy="457200"/>
          </a:xfrm>
          <a:prstGeom prst="rect">
            <a:avLst/>
          </a:prstGeom>
          <a:noFill/>
          <a:ln/>
        </p:spPr>
        <p:txBody>
          <a:bodyPr wrap="square" lIns="0" tIns="0" rIns="0" bIns="0" rtlCol="0" anchor="ctr"/>
          <a:lstStyle/>
          <a:p>
            <a:pPr algn="ctr" indent="0" marL="0">
              <a:buNone/>
            </a:pPr>
            <a:r>
              <a:rPr lang="en-US" sz="2000" b="1" dirty="0">
                <a:solidFill>
                  <a:srgbClr val="7A6A62"/>
                </a:solidFill>
                <a:latin typeface="Calibri" pitchFamily="34" charset="0"/>
                <a:ea typeface="Calibri" pitchFamily="34" charset="-122"/>
                <a:cs typeface="Calibri" pitchFamily="34" charset="-120"/>
              </a:rPr>
              <a:t>→</a:t>
            </a:r>
            <a:endParaRPr lang="en-US" sz="2000" dirty="0"/>
          </a:p>
        </p:txBody>
      </p:sp>
      <p:sp>
        <p:nvSpPr>
          <p:cNvPr id="13" name="Shape 11"/>
          <p:cNvSpPr/>
          <p:nvPr/>
        </p:nvSpPr>
        <p:spPr>
          <a:xfrm>
            <a:off x="5221224" y="1828800"/>
            <a:ext cx="2103120" cy="2377440"/>
          </a:xfrm>
          <a:prstGeom prst="roundRect">
            <a:avLst>
              <a:gd name="adj" fmla="val 4348"/>
            </a:avLst>
          </a:prstGeom>
          <a:solidFill>
            <a:srgbClr val="E7E8D1"/>
          </a:solidFill>
          <a:ln/>
        </p:spPr>
      </p:sp>
      <p:sp>
        <p:nvSpPr>
          <p:cNvPr id="14" name="Text 12"/>
          <p:cNvSpPr/>
          <p:nvPr/>
        </p:nvSpPr>
        <p:spPr>
          <a:xfrm>
            <a:off x="5221224" y="1965960"/>
            <a:ext cx="2103120" cy="457200"/>
          </a:xfrm>
          <a:prstGeom prst="rect">
            <a:avLst/>
          </a:prstGeom>
          <a:noFill/>
          <a:ln/>
        </p:spPr>
        <p:txBody>
          <a:bodyPr wrap="square" lIns="0" tIns="0" rIns="0" bIns="0" rtlCol="0" anchor="ctr"/>
          <a:lstStyle/>
          <a:p>
            <a:pPr algn="ctr" indent="0" marL="0">
              <a:buNone/>
            </a:pPr>
            <a:r>
              <a:rPr lang="en-US" sz="2200" b="1" dirty="0">
                <a:solidFill>
                  <a:srgbClr val="B85042"/>
                </a:solidFill>
                <a:latin typeface="Cambria" pitchFamily="34" charset="0"/>
                <a:ea typeface="Cambria" pitchFamily="34" charset="-122"/>
                <a:cs typeface="Cambria" pitchFamily="34" charset="-120"/>
              </a:rPr>
              <a:t>M3</a:t>
            </a:r>
            <a:endParaRPr lang="en-US" sz="2200" dirty="0"/>
          </a:p>
        </p:txBody>
      </p:sp>
      <p:sp>
        <p:nvSpPr>
          <p:cNvPr id="15" name="Text 13"/>
          <p:cNvSpPr/>
          <p:nvPr/>
        </p:nvSpPr>
        <p:spPr>
          <a:xfrm>
            <a:off x="5221224" y="2468880"/>
            <a:ext cx="2103120" cy="365760"/>
          </a:xfrm>
          <a:prstGeom prst="rect">
            <a:avLst/>
          </a:prstGeom>
          <a:noFill/>
          <a:ln/>
        </p:spPr>
        <p:txBody>
          <a:bodyPr wrap="square" lIns="0" tIns="0" rIns="0" bIns="0" rtlCol="0" anchor="ctr"/>
          <a:lstStyle/>
          <a:p>
            <a:pPr algn="ctr" indent="0" marL="0">
              <a:buNone/>
            </a:pPr>
            <a:r>
              <a:rPr lang="en-US" sz="1400" b="1" dirty="0">
                <a:solidFill>
                  <a:srgbClr val="333333"/>
                </a:solidFill>
                <a:latin typeface="Calibri" pitchFamily="34" charset="0"/>
                <a:ea typeface="Calibri" pitchFamily="34" charset="-122"/>
                <a:cs typeface="Calibri" pitchFamily="34" charset="-120"/>
              </a:rPr>
              <a:t>画像に変換</a:t>
            </a:r>
            <a:endParaRPr lang="en-US" sz="1400" dirty="0"/>
          </a:p>
        </p:txBody>
      </p:sp>
      <p:sp>
        <p:nvSpPr>
          <p:cNvPr id="16" name="Text 14"/>
          <p:cNvSpPr/>
          <p:nvPr/>
        </p:nvSpPr>
        <p:spPr>
          <a:xfrm>
            <a:off x="5312664" y="2880360"/>
            <a:ext cx="1920240" cy="1188720"/>
          </a:xfrm>
          <a:prstGeom prst="rect">
            <a:avLst/>
          </a:prstGeom>
          <a:noFill/>
          <a:ln/>
        </p:spPr>
        <p:txBody>
          <a:bodyPr wrap="square" lIns="0" tIns="0" rIns="0" bIns="0"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でこぼこを</a:t>
            </a:r>
            <a:endParaRPr lang="en-US" sz="1100" dirty="0"/>
          </a:p>
          <a:p>
            <a:pPr algn="ctr" indent="0" marL="0">
              <a:buNone/>
            </a:pPr>
            <a:r>
              <a:rPr lang="en-US" sz="1100" dirty="0">
                <a:solidFill>
                  <a:srgbClr val="333333"/>
                </a:solidFill>
                <a:latin typeface="Calibri" pitchFamily="34" charset="0"/>
                <a:ea typeface="Calibri" pitchFamily="34" charset="-122"/>
                <a:cs typeface="Calibri" pitchFamily="34" charset="-120"/>
              </a:rPr>
              <a:t>2Dの画像にする</a:t>
            </a:r>
            <a:endParaRPr lang="en-US" sz="1100" dirty="0"/>
          </a:p>
        </p:txBody>
      </p:sp>
      <p:sp>
        <p:nvSpPr>
          <p:cNvPr id="17" name="Text 15"/>
          <p:cNvSpPr/>
          <p:nvPr/>
        </p:nvSpPr>
        <p:spPr>
          <a:xfrm>
            <a:off x="7287768" y="2788920"/>
            <a:ext cx="365760" cy="457200"/>
          </a:xfrm>
          <a:prstGeom prst="rect">
            <a:avLst/>
          </a:prstGeom>
          <a:noFill/>
          <a:ln/>
        </p:spPr>
        <p:txBody>
          <a:bodyPr wrap="square" lIns="0" tIns="0" rIns="0" bIns="0" rtlCol="0" anchor="ctr"/>
          <a:lstStyle/>
          <a:p>
            <a:pPr algn="ctr" indent="0" marL="0">
              <a:buNone/>
            </a:pPr>
            <a:r>
              <a:rPr lang="en-US" sz="2000" b="1" dirty="0">
                <a:solidFill>
                  <a:srgbClr val="7A6A62"/>
                </a:solidFill>
                <a:latin typeface="Calibri" pitchFamily="34" charset="0"/>
                <a:ea typeface="Calibri" pitchFamily="34" charset="-122"/>
                <a:cs typeface="Calibri" pitchFamily="34" charset="-120"/>
              </a:rPr>
              <a:t>→</a:t>
            </a:r>
            <a:endParaRPr lang="en-US" sz="2000" dirty="0"/>
          </a:p>
        </p:txBody>
      </p:sp>
      <p:sp>
        <p:nvSpPr>
          <p:cNvPr id="18" name="Shape 16"/>
          <p:cNvSpPr/>
          <p:nvPr/>
        </p:nvSpPr>
        <p:spPr>
          <a:xfrm>
            <a:off x="7580376" y="1828800"/>
            <a:ext cx="2103120" cy="2377440"/>
          </a:xfrm>
          <a:prstGeom prst="roundRect">
            <a:avLst>
              <a:gd name="adj" fmla="val 4348"/>
            </a:avLst>
          </a:prstGeom>
          <a:solidFill>
            <a:srgbClr val="E7E8D1"/>
          </a:solidFill>
          <a:ln/>
        </p:spPr>
      </p:sp>
      <p:sp>
        <p:nvSpPr>
          <p:cNvPr id="19" name="Text 17"/>
          <p:cNvSpPr/>
          <p:nvPr/>
        </p:nvSpPr>
        <p:spPr>
          <a:xfrm>
            <a:off x="7580376" y="1965960"/>
            <a:ext cx="2103120" cy="457200"/>
          </a:xfrm>
          <a:prstGeom prst="rect">
            <a:avLst/>
          </a:prstGeom>
          <a:noFill/>
          <a:ln/>
        </p:spPr>
        <p:txBody>
          <a:bodyPr wrap="square" lIns="0" tIns="0" rIns="0" bIns="0" rtlCol="0" anchor="ctr"/>
          <a:lstStyle/>
          <a:p>
            <a:pPr algn="ctr" indent="0" marL="0">
              <a:buNone/>
            </a:pPr>
            <a:r>
              <a:rPr lang="en-US" sz="2200" b="1" dirty="0">
                <a:solidFill>
                  <a:srgbClr val="B85042"/>
                </a:solidFill>
                <a:latin typeface="Cambria" pitchFamily="34" charset="0"/>
                <a:ea typeface="Cambria" pitchFamily="34" charset="-122"/>
                <a:cs typeface="Cambria" pitchFamily="34" charset="-120"/>
              </a:rPr>
              <a:t>M4</a:t>
            </a:r>
            <a:endParaRPr lang="en-US" sz="2200" dirty="0"/>
          </a:p>
        </p:txBody>
      </p:sp>
      <p:sp>
        <p:nvSpPr>
          <p:cNvPr id="20" name="Text 18"/>
          <p:cNvSpPr/>
          <p:nvPr/>
        </p:nvSpPr>
        <p:spPr>
          <a:xfrm>
            <a:off x="7580376" y="2468880"/>
            <a:ext cx="2103120" cy="365760"/>
          </a:xfrm>
          <a:prstGeom prst="rect">
            <a:avLst/>
          </a:prstGeom>
          <a:noFill/>
          <a:ln/>
        </p:spPr>
        <p:txBody>
          <a:bodyPr wrap="square" lIns="0" tIns="0" rIns="0" bIns="0" rtlCol="0" anchor="ctr"/>
          <a:lstStyle/>
          <a:p>
            <a:pPr algn="ctr" indent="0" marL="0">
              <a:buNone/>
            </a:pPr>
            <a:r>
              <a:rPr lang="en-US" sz="1400" b="1" dirty="0">
                <a:solidFill>
                  <a:srgbClr val="333333"/>
                </a:solidFill>
                <a:latin typeface="Calibri" pitchFamily="34" charset="0"/>
                <a:ea typeface="Calibri" pitchFamily="34" charset="-122"/>
                <a:cs typeface="Calibri" pitchFamily="34" charset="-120"/>
              </a:rPr>
              <a:t>間隔を測る</a:t>
            </a:r>
            <a:endParaRPr lang="en-US" sz="1400" dirty="0"/>
          </a:p>
        </p:txBody>
      </p:sp>
      <p:sp>
        <p:nvSpPr>
          <p:cNvPr id="21" name="Text 19"/>
          <p:cNvSpPr/>
          <p:nvPr/>
        </p:nvSpPr>
        <p:spPr>
          <a:xfrm>
            <a:off x="7671816" y="2880360"/>
            <a:ext cx="1920240" cy="1188720"/>
          </a:xfrm>
          <a:prstGeom prst="rect">
            <a:avLst/>
          </a:prstGeom>
          <a:noFill/>
          <a:ln/>
        </p:spPr>
        <p:txBody>
          <a:bodyPr wrap="square" lIns="0" tIns="0" rIns="0" bIns="0"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もようの繰り返しの</a:t>
            </a:r>
            <a:endParaRPr lang="en-US" sz="1100" dirty="0"/>
          </a:p>
          <a:p>
            <a:pPr algn="ctr" indent="0" marL="0">
              <a:buNone/>
            </a:pPr>
            <a:r>
              <a:rPr lang="en-US" sz="1100" dirty="0">
                <a:solidFill>
                  <a:srgbClr val="333333"/>
                </a:solidFill>
                <a:latin typeface="Calibri" pitchFamily="34" charset="0"/>
                <a:ea typeface="Calibri" pitchFamily="34" charset="-122"/>
                <a:cs typeface="Calibri" pitchFamily="34" charset="-120"/>
              </a:rPr>
              <a:t>間隔と向きを測る</a:t>
            </a:r>
            <a:endParaRPr lang="en-US" sz="1100" dirty="0"/>
          </a:p>
        </p:txBody>
      </p:sp>
      <p:sp>
        <p:nvSpPr>
          <p:cNvPr id="22" name="Text 20"/>
          <p:cNvSpPr/>
          <p:nvPr/>
        </p:nvSpPr>
        <p:spPr>
          <a:xfrm>
            <a:off x="9646920" y="2788920"/>
            <a:ext cx="365760" cy="457200"/>
          </a:xfrm>
          <a:prstGeom prst="rect">
            <a:avLst/>
          </a:prstGeom>
          <a:noFill/>
          <a:ln/>
        </p:spPr>
        <p:txBody>
          <a:bodyPr wrap="square" lIns="0" tIns="0" rIns="0" bIns="0" rtlCol="0" anchor="ctr"/>
          <a:lstStyle/>
          <a:p>
            <a:pPr algn="ctr" indent="0" marL="0">
              <a:buNone/>
            </a:pPr>
            <a:r>
              <a:rPr lang="en-US" sz="2000" b="1" dirty="0">
                <a:solidFill>
                  <a:srgbClr val="7A6A62"/>
                </a:solidFill>
                <a:latin typeface="Calibri" pitchFamily="34" charset="0"/>
                <a:ea typeface="Calibri" pitchFamily="34" charset="-122"/>
                <a:cs typeface="Calibri" pitchFamily="34" charset="-120"/>
              </a:rPr>
              <a:t>→</a:t>
            </a:r>
            <a:endParaRPr lang="en-US" sz="2000" dirty="0"/>
          </a:p>
        </p:txBody>
      </p:sp>
      <p:sp>
        <p:nvSpPr>
          <p:cNvPr id="23" name="Shape 21"/>
          <p:cNvSpPr/>
          <p:nvPr/>
        </p:nvSpPr>
        <p:spPr>
          <a:xfrm>
            <a:off x="9939528" y="1828800"/>
            <a:ext cx="2103120" cy="2377440"/>
          </a:xfrm>
          <a:prstGeom prst="roundRect">
            <a:avLst>
              <a:gd name="adj" fmla="val 4348"/>
            </a:avLst>
          </a:prstGeom>
          <a:solidFill>
            <a:srgbClr val="B85042"/>
          </a:solidFill>
          <a:ln/>
        </p:spPr>
      </p:sp>
      <p:sp>
        <p:nvSpPr>
          <p:cNvPr id="24" name="Text 22"/>
          <p:cNvSpPr/>
          <p:nvPr/>
        </p:nvSpPr>
        <p:spPr>
          <a:xfrm>
            <a:off x="9939528" y="1965960"/>
            <a:ext cx="210312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M5</a:t>
            </a:r>
            <a:endParaRPr lang="en-US" sz="2200" dirty="0"/>
          </a:p>
        </p:txBody>
      </p:sp>
      <p:sp>
        <p:nvSpPr>
          <p:cNvPr id="25" name="Text 23"/>
          <p:cNvSpPr/>
          <p:nvPr/>
        </p:nvSpPr>
        <p:spPr>
          <a:xfrm>
            <a:off x="9939528" y="2468880"/>
            <a:ext cx="210312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回転を見つける</a:t>
            </a:r>
            <a:endParaRPr lang="en-US" sz="1400" dirty="0"/>
          </a:p>
        </p:txBody>
      </p:sp>
      <p:sp>
        <p:nvSpPr>
          <p:cNvPr id="26" name="Text 24"/>
          <p:cNvSpPr/>
          <p:nvPr/>
        </p:nvSpPr>
        <p:spPr>
          <a:xfrm>
            <a:off x="10030968" y="2880360"/>
            <a:ext cx="1920240" cy="118872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縄1回転分の</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区切り位置を見つける</a:t>
            </a:r>
            <a:endParaRPr lang="en-US" sz="1100" dirty="0"/>
          </a:p>
        </p:txBody>
      </p:sp>
      <p:sp>
        <p:nvSpPr>
          <p:cNvPr id="27" name="Text 25"/>
          <p:cNvSpPr/>
          <p:nvPr/>
        </p:nvSpPr>
        <p:spPr>
          <a:xfrm>
            <a:off x="640080" y="4663440"/>
            <a:ext cx="10972800" cy="1280160"/>
          </a:xfrm>
          <a:prstGeom prst="rect">
            <a:avLst/>
          </a:prstGeom>
          <a:noFill/>
          <a:ln/>
        </p:spPr>
        <p:txBody>
          <a:bodyPr wrap="square" rtlCol="0" anchor="ctr"/>
          <a:lstStyle/>
          <a:p>
            <a:pPr marL="342900" indent="-342900">
              <a:spcAft>
                <a:spcPts val="800"/>
              </a:spcAft>
              <a:buSzPct val="100000"/>
              <a:buChar char="•"/>
            </a:pPr>
            <a:r>
              <a:rPr lang="en-US" sz="1500" dirty="0">
                <a:solidFill>
                  <a:srgbClr val="333333"/>
                </a:solidFill>
                <a:latin typeface="Calibri" pitchFamily="34" charset="0"/>
                <a:ea typeface="Calibri" pitchFamily="34" charset="-122"/>
                <a:cs typeface="Calibri" pitchFamily="34" charset="-120"/>
              </a:rPr>
              <a:t>「3Dの形 → 2Dの画像 → 1本の波形」と、だんだんシンプルなデータに変換しながら測っていく。</a:t>
            </a:r>
            <a:endParaRPr lang="en-US" sz="1500" dirty="0"/>
          </a:p>
          <a:p>
            <a:pPr marL="342900" indent="-342900">
              <a:buSzPct val="100000"/>
              <a:buChar char="•"/>
            </a:pPr>
            <a:r>
              <a:rPr lang="en-US" sz="1500" dirty="0">
                <a:solidFill>
                  <a:srgbClr val="333333"/>
                </a:solidFill>
                <a:latin typeface="Calibri" pitchFamily="34" charset="0"/>
                <a:ea typeface="Calibri" pitchFamily="34" charset="-122"/>
                <a:cs typeface="Calibri" pitchFamily="34" charset="-120"/>
              </a:rPr>
              <a:t>プログラムは実装済みで、答えがわかっているテスト用データでは正しく測れることを確認済み。</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いちばんの新しさ: 縄1回転分の区切りを見つける</a:t>
            </a:r>
            <a:endParaRPr lang="en-US" sz="3000" dirty="0"/>
          </a:p>
        </p:txBody>
      </p:sp>
      <p:sp>
        <p:nvSpPr>
          <p:cNvPr id="3" name="Text 1"/>
          <p:cNvSpPr/>
          <p:nvPr/>
        </p:nvSpPr>
        <p:spPr>
          <a:xfrm>
            <a:off x="548640" y="1371600"/>
            <a:ext cx="6035040" cy="2377440"/>
          </a:xfrm>
          <a:prstGeom prst="rect">
            <a:avLst/>
          </a:prstGeom>
          <a:noFill/>
          <a:ln/>
        </p:spPr>
        <p:txBody>
          <a:bodyPr wrap="square" rtlCol="0" anchor="ctr"/>
          <a:lstStyle/>
          <a:p>
            <a:pPr marL="342900" indent="-342900">
              <a:spcAft>
                <a:spcPts val="800"/>
              </a:spcAft>
              <a:buSzPct val="100000"/>
              <a:buChar char="•"/>
            </a:pPr>
            <a:r>
              <a:rPr lang="en-US" sz="1450" dirty="0">
                <a:solidFill>
                  <a:srgbClr val="333333"/>
                </a:solidFill>
                <a:latin typeface="Calibri" pitchFamily="34" charset="0"/>
                <a:ea typeface="Calibri" pitchFamily="34" charset="-122"/>
                <a:cs typeface="Calibri" pitchFamily="34" charset="-120"/>
              </a:rPr>
              <a:t>縄は1回転するごとに同じもようが繰り返される。その「同じもようが現れる点」を自動で見つけたい。</a:t>
            </a:r>
            <a:endParaRPr lang="en-US" sz="1450" dirty="0"/>
          </a:p>
          <a:p>
            <a:pPr marL="342900" indent="-342900">
              <a:spcAft>
                <a:spcPts val="800"/>
              </a:spcAft>
              <a:buSzPct val="100000"/>
              <a:buChar char="•"/>
            </a:pPr>
            <a:r>
              <a:rPr lang="en-US" sz="1450" dirty="0">
                <a:solidFill>
                  <a:srgbClr val="333333"/>
                </a:solidFill>
                <a:latin typeface="Calibri" pitchFamily="34" charset="0"/>
                <a:ea typeface="Calibri" pitchFamily="34" charset="-122"/>
                <a:cs typeface="Calibri" pitchFamily="34" charset="-120"/>
              </a:rPr>
              <a:t>画像をずらしながら重ね、「どれだけずらすと一番よく重なるか」を調べると、1回転分の長さがわかる。</a:t>
            </a:r>
            <a:endParaRPr lang="en-US" sz="1450" dirty="0"/>
          </a:p>
          <a:p>
            <a:pPr marL="342900" indent="-342900">
              <a:spcAft>
                <a:spcPts val="800"/>
              </a:spcAft>
              <a:buSzPct val="100000"/>
              <a:buChar char="•"/>
            </a:pPr>
            <a:r>
              <a:rPr lang="en-US" sz="1450" dirty="0">
                <a:solidFill>
                  <a:srgbClr val="333333"/>
                </a:solidFill>
                <a:latin typeface="Calibri" pitchFamily="34" charset="0"/>
                <a:ea typeface="Calibri" pitchFamily="34" charset="-122"/>
                <a:cs typeface="Calibri" pitchFamily="34" charset="-120"/>
              </a:rPr>
              <a:t>見つけた区切り位置は、元の3Dデータ上の座標として出力する。</a:t>
            </a:r>
            <a:endParaRPr lang="en-US" sz="1450" dirty="0"/>
          </a:p>
          <a:p>
            <a:pPr marL="342900" indent="-342900">
              <a:buSzPct val="100000"/>
              <a:buChar char="•"/>
            </a:pPr>
            <a:r>
              <a:rPr lang="en-US" sz="1450" dirty="0">
                <a:solidFill>
                  <a:srgbClr val="333333"/>
                </a:solidFill>
                <a:latin typeface="Calibri" pitchFamily="34" charset="0"/>
                <a:ea typeface="Calibri" pitchFamily="34" charset="-122"/>
                <a:cs typeface="Calibri" pitchFamily="34" charset="-120"/>
              </a:rPr>
              <a:t>土器は丸く曲がっているので、小さい範囲ごとに平らとみなして処理する工夫をしている。</a:t>
            </a:r>
            <a:endParaRPr lang="en-US" sz="1450" dirty="0"/>
          </a:p>
        </p:txBody>
      </p:sp>
      <p:sp>
        <p:nvSpPr>
          <p:cNvPr id="4" name="Shape 2"/>
          <p:cNvSpPr/>
          <p:nvPr/>
        </p:nvSpPr>
        <p:spPr>
          <a:xfrm>
            <a:off x="548640" y="3931920"/>
            <a:ext cx="6035040" cy="2194560"/>
          </a:xfrm>
          <a:prstGeom prst="roundRect">
            <a:avLst>
              <a:gd name="adj" fmla="val 4167"/>
            </a:avLst>
          </a:prstGeom>
          <a:solidFill>
            <a:srgbClr val="3B2A26"/>
          </a:solidFill>
          <a:ln/>
        </p:spPr>
      </p:sp>
      <p:sp>
        <p:nvSpPr>
          <p:cNvPr id="5" name="Text 3"/>
          <p:cNvSpPr/>
          <p:nvPr/>
        </p:nvSpPr>
        <p:spPr>
          <a:xfrm>
            <a:off x="822960" y="4114800"/>
            <a:ext cx="5486400" cy="365760"/>
          </a:xfrm>
          <a:prstGeom prst="rect">
            <a:avLst/>
          </a:prstGeom>
          <a:noFill/>
          <a:ln/>
        </p:spPr>
        <p:txBody>
          <a:bodyPr wrap="square" lIns="0" tIns="0" rIns="0" bIns="0" rtlCol="0" anchor="ctr"/>
          <a:lstStyle/>
          <a:p>
            <a:pPr indent="0" marL="0">
              <a:buNone/>
            </a:pPr>
            <a:r>
              <a:rPr lang="en-US" sz="1400" b="1" dirty="0">
                <a:solidFill>
                  <a:srgbClr val="E7E8D1"/>
                </a:solidFill>
                <a:latin typeface="Cambria" pitchFamily="34" charset="0"/>
                <a:ea typeface="Cambria" pitchFamily="34" charset="-122"/>
                <a:cs typeface="Cambria" pitchFamily="34" charset="-120"/>
              </a:rPr>
              <a:t>テスト用データでの確認結果</a:t>
            </a:r>
            <a:endParaRPr lang="en-US" sz="1400" dirty="0"/>
          </a:p>
        </p:txBody>
      </p:sp>
      <p:sp>
        <p:nvSpPr>
          <p:cNvPr id="6" name="Text 4"/>
          <p:cNvSpPr/>
          <p:nvPr/>
        </p:nvSpPr>
        <p:spPr>
          <a:xfrm>
            <a:off x="822960" y="4572000"/>
            <a:ext cx="5486400" cy="1463040"/>
          </a:xfrm>
          <a:prstGeom prst="rect">
            <a:avLst/>
          </a:prstGeom>
          <a:noFill/>
          <a:ln/>
        </p:spPr>
        <p:txBody>
          <a:bodyPr wrap="square" rtlCol="0" anchor="ctr"/>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正解と比べたずれは 2% 未満</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データの2割が欠けていても、精度を保てた</a:t>
            </a:r>
            <a:endParaRPr lang="en-US" sz="1300" dirty="0"/>
          </a:p>
          <a:p>
            <a:pPr marL="342900" indent="-342900">
              <a:buSzPct val="100000"/>
              <a:buChar char="•"/>
            </a:pPr>
            <a:r>
              <a:rPr lang="en-US" sz="1300" dirty="0">
                <a:solidFill>
                  <a:srgbClr val="FFFFFF"/>
                </a:solidFill>
                <a:latin typeface="Calibri" pitchFamily="34" charset="0"/>
                <a:ea typeface="Calibri" pitchFamily="34" charset="-122"/>
                <a:cs typeface="Calibri" pitchFamily="34" charset="-120"/>
              </a:rPr>
              <a:t>テスト16件すべてに合格</a:t>
            </a:r>
            <a:endParaRPr lang="en-US" sz="1300" dirty="0"/>
          </a:p>
        </p:txBody>
      </p:sp>
      <p:pic>
        <p:nvPicPr>
          <p:cNvPr id="7" name="Image 0" descr="/Users/ryusan/brain/02_Raw/土器3（同巡点）.png">    </p:cNvPr>
          <p:cNvPicPr>
            <a:picLocks noChangeAspect="1"/>
          </p:cNvPicPr>
          <p:nvPr/>
        </p:nvPicPr>
        <p:blipFill>
          <a:blip r:embed="rId1"/>
          <a:stretch>
            <a:fillRect/>
          </a:stretch>
        </p:blipFill>
        <p:spPr>
          <a:xfrm>
            <a:off x="7040880" y="1463040"/>
            <a:ext cx="4572000" cy="3236976"/>
          </a:xfrm>
          <a:prstGeom prst="rect">
            <a:avLst/>
          </a:prstGeom>
        </p:spPr>
      </p:pic>
      <p:sp>
        <p:nvSpPr>
          <p:cNvPr id="8" name="Text 5"/>
          <p:cNvSpPr/>
          <p:nvPr/>
        </p:nvSpPr>
        <p:spPr>
          <a:xfrm>
            <a:off x="7040880" y="4800600"/>
            <a:ext cx="4572000" cy="320040"/>
          </a:xfrm>
          <a:prstGeom prst="rect">
            <a:avLst/>
          </a:prstGeom>
          <a:noFill/>
          <a:ln/>
        </p:spPr>
        <p:txBody>
          <a:bodyPr wrap="square" lIns="0" tIns="0" rIns="0" bIns="0" rtlCol="0" anchor="ctr"/>
          <a:lstStyle/>
          <a:p>
            <a:pPr indent="0" marL="0">
              <a:buNone/>
            </a:pPr>
            <a:r>
              <a:rPr lang="en-US" sz="1100" dirty="0">
                <a:solidFill>
                  <a:srgbClr val="7A6A62"/>
                </a:solidFill>
                <a:latin typeface="Calibri" pitchFamily="34" charset="0"/>
                <a:ea typeface="Calibri" pitchFamily="34" charset="-122"/>
                <a:cs typeface="Calibri" pitchFamily="34" charset="-120"/>
              </a:rPr>
              <a:t>黒い点 = 人が目で見て付けた「縄1回転分の区切り」の位置</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いまどこまでできているか</a:t>
            </a:r>
            <a:endParaRPr lang="en-US" sz="3000" dirty="0"/>
          </a:p>
        </p:txBody>
      </p:sp>
      <p:sp>
        <p:nvSpPr>
          <p:cNvPr id="3" name="Text 1"/>
          <p:cNvSpPr/>
          <p:nvPr/>
        </p:nvSpPr>
        <p:spPr>
          <a:xfrm>
            <a:off x="548640" y="1325880"/>
            <a:ext cx="5943600" cy="36576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本物の土器データで測れた値の例</a:t>
            </a:r>
            <a:endParaRPr lang="en-US" sz="1600" dirty="0"/>
          </a:p>
        </p:txBody>
      </p:sp>
      <p:sp>
        <p:nvSpPr>
          <p:cNvPr id="4" name="Shape 2"/>
          <p:cNvSpPr/>
          <p:nvPr/>
        </p:nvSpPr>
        <p:spPr>
          <a:xfrm>
            <a:off x="548640" y="1783080"/>
            <a:ext cx="5760720" cy="777240"/>
          </a:xfrm>
          <a:prstGeom prst="roundRect">
            <a:avLst>
              <a:gd name="adj" fmla="val 9412"/>
            </a:avLst>
          </a:prstGeom>
          <a:solidFill>
            <a:srgbClr val="E7E8D1"/>
          </a:solidFill>
          <a:ln/>
        </p:spPr>
      </p:sp>
      <p:sp>
        <p:nvSpPr>
          <p:cNvPr id="5" name="Text 3"/>
          <p:cNvSpPr/>
          <p:nvPr/>
        </p:nvSpPr>
        <p:spPr>
          <a:xfrm>
            <a:off x="822960" y="1965960"/>
            <a:ext cx="3108960" cy="45720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縄目の間隔</a:t>
            </a:r>
            <a:endParaRPr lang="en-US" sz="1400" dirty="0"/>
          </a:p>
        </p:txBody>
      </p:sp>
      <p:sp>
        <p:nvSpPr>
          <p:cNvPr id="6" name="Text 4"/>
          <p:cNvSpPr/>
          <p:nvPr/>
        </p:nvSpPr>
        <p:spPr>
          <a:xfrm>
            <a:off x="3931920" y="1901952"/>
            <a:ext cx="2194560" cy="54864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約 3.4 mm</a:t>
            </a:r>
            <a:endParaRPr lang="en-US" sz="2000" dirty="0"/>
          </a:p>
        </p:txBody>
      </p:sp>
      <p:sp>
        <p:nvSpPr>
          <p:cNvPr id="7" name="Shape 5"/>
          <p:cNvSpPr/>
          <p:nvPr/>
        </p:nvSpPr>
        <p:spPr>
          <a:xfrm>
            <a:off x="548640" y="2697480"/>
            <a:ext cx="5760720" cy="777240"/>
          </a:xfrm>
          <a:prstGeom prst="roundRect">
            <a:avLst>
              <a:gd name="adj" fmla="val 9412"/>
            </a:avLst>
          </a:prstGeom>
          <a:solidFill>
            <a:srgbClr val="E7E8D1"/>
          </a:solidFill>
          <a:ln/>
        </p:spPr>
      </p:sp>
      <p:sp>
        <p:nvSpPr>
          <p:cNvPr id="8" name="Text 6"/>
          <p:cNvSpPr/>
          <p:nvPr/>
        </p:nvSpPr>
        <p:spPr>
          <a:xfrm>
            <a:off x="822960" y="2880360"/>
            <a:ext cx="3108960" cy="45720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縄1回転分の長さ</a:t>
            </a:r>
            <a:endParaRPr lang="en-US" sz="1400" dirty="0"/>
          </a:p>
        </p:txBody>
      </p:sp>
      <p:sp>
        <p:nvSpPr>
          <p:cNvPr id="9" name="Text 7"/>
          <p:cNvSpPr/>
          <p:nvPr/>
        </p:nvSpPr>
        <p:spPr>
          <a:xfrm>
            <a:off x="3931920" y="2816352"/>
            <a:ext cx="2194560" cy="54864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約 44 mm</a:t>
            </a:r>
            <a:endParaRPr lang="en-US" sz="2000" dirty="0"/>
          </a:p>
        </p:txBody>
      </p:sp>
      <p:sp>
        <p:nvSpPr>
          <p:cNvPr id="10" name="Shape 8"/>
          <p:cNvSpPr/>
          <p:nvPr/>
        </p:nvSpPr>
        <p:spPr>
          <a:xfrm>
            <a:off x="548640" y="3611880"/>
            <a:ext cx="5760720" cy="777240"/>
          </a:xfrm>
          <a:prstGeom prst="roundRect">
            <a:avLst>
              <a:gd name="adj" fmla="val 9412"/>
            </a:avLst>
          </a:prstGeom>
          <a:solidFill>
            <a:srgbClr val="E7E8D1"/>
          </a:solidFill>
          <a:ln/>
        </p:spPr>
      </p:sp>
      <p:sp>
        <p:nvSpPr>
          <p:cNvPr id="11" name="Text 9"/>
          <p:cNvSpPr/>
          <p:nvPr/>
        </p:nvSpPr>
        <p:spPr>
          <a:xfrm>
            <a:off x="822960" y="3794760"/>
            <a:ext cx="3108960" cy="45720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見つけた区切りの数</a:t>
            </a:r>
            <a:endParaRPr lang="en-US" sz="1400" dirty="0"/>
          </a:p>
        </p:txBody>
      </p:sp>
      <p:sp>
        <p:nvSpPr>
          <p:cNvPr id="12" name="Text 10"/>
          <p:cNvSpPr/>
          <p:nvPr/>
        </p:nvSpPr>
        <p:spPr>
          <a:xfrm>
            <a:off x="3931920" y="3730752"/>
            <a:ext cx="2194560" cy="548640"/>
          </a:xfrm>
          <a:prstGeom prst="rect">
            <a:avLst/>
          </a:prstGeom>
          <a:noFill/>
          <a:ln/>
        </p:spPr>
        <p:txBody>
          <a:bodyPr wrap="square" lIns="0" tIns="0" rIns="0" bIns="0" rtlCol="0" anchor="ctr"/>
          <a:lstStyle/>
          <a:p>
            <a:pPr indent="0" marL="0">
              <a:buNone/>
            </a:pPr>
            <a:r>
              <a:rPr lang="en-US" sz="2000" b="1" dirty="0">
                <a:solidFill>
                  <a:srgbClr val="B85042"/>
                </a:solidFill>
                <a:latin typeface="Cambria" pitchFamily="34" charset="0"/>
                <a:ea typeface="Cambria" pitchFamily="34" charset="-122"/>
                <a:cs typeface="Cambria" pitchFamily="34" charset="-120"/>
              </a:rPr>
              <a:t>6 か所</a:t>
            </a:r>
            <a:endParaRPr lang="en-US" sz="2000" dirty="0"/>
          </a:p>
        </p:txBody>
      </p:sp>
      <p:sp>
        <p:nvSpPr>
          <p:cNvPr id="13" name="Text 11"/>
          <p:cNvSpPr/>
          <p:nvPr/>
        </p:nvSpPr>
        <p:spPr>
          <a:xfrm>
            <a:off x="6766560" y="1325880"/>
            <a:ext cx="4846320" cy="36576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これからやること・課題</a:t>
            </a:r>
            <a:endParaRPr lang="en-US" sz="1600" dirty="0"/>
          </a:p>
        </p:txBody>
      </p:sp>
      <p:sp>
        <p:nvSpPr>
          <p:cNvPr id="14" name="Text 12"/>
          <p:cNvSpPr/>
          <p:nvPr/>
        </p:nvSpPr>
        <p:spPr>
          <a:xfrm>
            <a:off x="6766560" y="1783080"/>
            <a:ext cx="4846320" cy="2926080"/>
          </a:xfrm>
          <a:prstGeom prst="rect">
            <a:avLst/>
          </a:prstGeom>
          <a:noFill/>
          <a:ln/>
        </p:spPr>
        <p:txBody>
          <a:bodyPr wrap="square" rtlCol="0" anchor="ctr"/>
          <a:lstStyle/>
          <a:p>
            <a:pPr marL="342900" indent="-342900">
              <a:spcAft>
                <a:spcPts val="800"/>
              </a:spcAft>
              <a:buSzPct val="100000"/>
              <a:buChar char="•"/>
            </a:pPr>
            <a:r>
              <a:rPr lang="en-US" sz="1350" dirty="0">
                <a:solidFill>
                  <a:srgbClr val="333333"/>
                </a:solidFill>
                <a:latin typeface="Calibri" pitchFamily="34" charset="0"/>
                <a:ea typeface="Calibri" pitchFamily="34" charset="-122"/>
                <a:cs typeface="Calibri" pitchFamily="34" charset="-120"/>
              </a:rPr>
              <a:t>本物の土器では「本当の正解」がまだ手元になく、どれくらい正確かを数字で示せていない</a:t>
            </a:r>
            <a:endParaRPr lang="en-US" sz="1350" dirty="0"/>
          </a:p>
          <a:p>
            <a:pPr marL="342900" indent="-342900">
              <a:spcAft>
                <a:spcPts val="800"/>
              </a:spcAft>
              <a:buSzPct val="100000"/>
              <a:buChar char="•"/>
            </a:pPr>
            <a:r>
              <a:rPr lang="en-US" sz="1350" dirty="0">
                <a:solidFill>
                  <a:srgbClr val="333333"/>
                </a:solidFill>
                <a:latin typeface="Calibri" pitchFamily="34" charset="0"/>
                <a:ea typeface="Calibri" pitchFamily="34" charset="-122"/>
                <a:cs typeface="Calibri" pitchFamily="34" charset="-120"/>
              </a:rPr>
              <a:t>正解データの計測を指導教員にお願いしているところ</a:t>
            </a:r>
            <a:endParaRPr lang="en-US" sz="1350" dirty="0"/>
          </a:p>
          <a:p>
            <a:pPr marL="342900" indent="-342900">
              <a:spcAft>
                <a:spcPts val="800"/>
              </a:spcAft>
              <a:buSzPct val="100000"/>
              <a:buChar char="•"/>
            </a:pPr>
            <a:r>
              <a:rPr lang="en-US" sz="1350" dirty="0">
                <a:solidFill>
                  <a:srgbClr val="333333"/>
                </a:solidFill>
                <a:latin typeface="Calibri" pitchFamily="34" charset="0"/>
                <a:ea typeface="Calibri" pitchFamily="34" charset="-122"/>
                <a:cs typeface="Calibri" pitchFamily="34" charset="-120"/>
              </a:rPr>
              <a:t>測るときの細かい設定を、いまは人が手で決めている → 自動にしたい</a:t>
            </a:r>
            <a:endParaRPr lang="en-US" sz="1350" dirty="0"/>
          </a:p>
          <a:p>
            <a:pPr marL="342900" indent="-342900">
              <a:buSzPct val="100000"/>
              <a:buChar char="•"/>
            </a:pPr>
            <a:r>
              <a:rPr lang="en-US" sz="1350" dirty="0">
                <a:solidFill>
                  <a:srgbClr val="333333"/>
                </a:solidFill>
                <a:latin typeface="Calibri" pitchFamily="34" charset="0"/>
                <a:ea typeface="Calibri" pitchFamily="34" charset="-122"/>
                <a:cs typeface="Calibri" pitchFamily="34" charset="-120"/>
              </a:rPr>
              <a:t>土器の丸い曲がりへの対応を、もっとしっかりしたやり方にしたい</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効率化が必要な理由 — データがとにかく大きい</a:t>
            </a:r>
            <a:endParaRPr lang="en-US" sz="3000" dirty="0"/>
          </a:p>
        </p:txBody>
      </p:sp>
      <p:sp>
        <p:nvSpPr>
          <p:cNvPr id="3" name="Shape 1"/>
          <p:cNvSpPr/>
          <p:nvPr/>
        </p:nvSpPr>
        <p:spPr>
          <a:xfrm>
            <a:off x="548640" y="1463040"/>
            <a:ext cx="3566160" cy="2011680"/>
          </a:xfrm>
          <a:prstGeom prst="roundRect">
            <a:avLst>
              <a:gd name="adj" fmla="val 4545"/>
            </a:avLst>
          </a:prstGeom>
          <a:solidFill>
            <a:srgbClr val="E7E8D1"/>
          </a:solidFill>
          <a:ln/>
        </p:spPr>
      </p:sp>
      <p:sp>
        <p:nvSpPr>
          <p:cNvPr id="4" name="Text 2"/>
          <p:cNvSpPr/>
          <p:nvPr/>
        </p:nvSpPr>
        <p:spPr>
          <a:xfrm>
            <a:off x="548640" y="1691640"/>
            <a:ext cx="3566160" cy="1005840"/>
          </a:xfrm>
          <a:prstGeom prst="rect">
            <a:avLst/>
          </a:prstGeom>
          <a:noFill/>
          <a:ln/>
        </p:spPr>
        <p:txBody>
          <a:bodyPr wrap="square" lIns="0" tIns="0" rIns="0" bIns="0" rtlCol="0" anchor="ctr"/>
          <a:lstStyle/>
          <a:p>
            <a:pPr algn="ctr" indent="0" marL="0">
              <a:buNone/>
            </a:pPr>
            <a:r>
              <a:rPr lang="en-US" sz="5400" b="1" dirty="0">
                <a:solidFill>
                  <a:srgbClr val="B85042"/>
                </a:solidFill>
                <a:latin typeface="Cambria" pitchFamily="34" charset="0"/>
                <a:ea typeface="Cambria" pitchFamily="34" charset="-122"/>
                <a:cs typeface="Cambria" pitchFamily="34" charset="-120"/>
              </a:rPr>
              <a:t>741万</a:t>
            </a:r>
            <a:endParaRPr lang="en-US" sz="5400" dirty="0"/>
          </a:p>
        </p:txBody>
      </p:sp>
      <p:sp>
        <p:nvSpPr>
          <p:cNvPr id="5" name="Text 3"/>
          <p:cNvSpPr/>
          <p:nvPr/>
        </p:nvSpPr>
        <p:spPr>
          <a:xfrm>
            <a:off x="548640" y="2788920"/>
            <a:ext cx="3566160" cy="457200"/>
          </a:xfrm>
          <a:prstGeom prst="rect">
            <a:avLst/>
          </a:prstGeom>
          <a:noFill/>
          <a:ln/>
        </p:spPr>
        <p:txBody>
          <a:bodyPr wrap="square" lIns="0" tIns="0" rIns="0" bIns="0" rtlCol="0" anchor="ctr"/>
          <a:lstStyle/>
          <a:p>
            <a:pPr algn="ctr" indent="0" marL="0">
              <a:buNone/>
            </a:pPr>
            <a:r>
              <a:rPr lang="en-US" sz="1400" dirty="0">
                <a:solidFill>
                  <a:srgbClr val="333333"/>
                </a:solidFill>
                <a:latin typeface="Calibri" pitchFamily="34" charset="0"/>
                <a:ea typeface="Calibri" pitchFamily="34" charset="-122"/>
                <a:cs typeface="Calibri" pitchFamily="34" charset="-120"/>
              </a:rPr>
              <a:t>土器片1つ分の点の数（1つめ）</a:t>
            </a:r>
            <a:endParaRPr lang="en-US" sz="1400" dirty="0"/>
          </a:p>
        </p:txBody>
      </p:sp>
      <p:sp>
        <p:nvSpPr>
          <p:cNvPr id="6" name="Shape 4"/>
          <p:cNvSpPr/>
          <p:nvPr/>
        </p:nvSpPr>
        <p:spPr>
          <a:xfrm>
            <a:off x="4434840" y="1463040"/>
            <a:ext cx="3566160" cy="2011680"/>
          </a:xfrm>
          <a:prstGeom prst="roundRect">
            <a:avLst>
              <a:gd name="adj" fmla="val 4545"/>
            </a:avLst>
          </a:prstGeom>
          <a:solidFill>
            <a:srgbClr val="E7E8D1"/>
          </a:solidFill>
          <a:ln/>
        </p:spPr>
      </p:sp>
      <p:sp>
        <p:nvSpPr>
          <p:cNvPr id="7" name="Text 5"/>
          <p:cNvSpPr/>
          <p:nvPr/>
        </p:nvSpPr>
        <p:spPr>
          <a:xfrm>
            <a:off x="4434840" y="1691640"/>
            <a:ext cx="3566160" cy="1005840"/>
          </a:xfrm>
          <a:prstGeom prst="rect">
            <a:avLst/>
          </a:prstGeom>
          <a:noFill/>
          <a:ln/>
        </p:spPr>
        <p:txBody>
          <a:bodyPr wrap="square" lIns="0" tIns="0" rIns="0" bIns="0" rtlCol="0" anchor="ctr"/>
          <a:lstStyle/>
          <a:p>
            <a:pPr algn="ctr" indent="0" marL="0">
              <a:buNone/>
            </a:pPr>
            <a:r>
              <a:rPr lang="en-US" sz="5400" b="1" dirty="0">
                <a:solidFill>
                  <a:srgbClr val="B85042"/>
                </a:solidFill>
                <a:latin typeface="Cambria" pitchFamily="34" charset="0"/>
                <a:ea typeface="Cambria" pitchFamily="34" charset="-122"/>
                <a:cs typeface="Cambria" pitchFamily="34" charset="-120"/>
              </a:rPr>
              <a:t>697万</a:t>
            </a:r>
            <a:endParaRPr lang="en-US" sz="5400" dirty="0"/>
          </a:p>
        </p:txBody>
      </p:sp>
      <p:sp>
        <p:nvSpPr>
          <p:cNvPr id="8" name="Text 6"/>
          <p:cNvSpPr/>
          <p:nvPr/>
        </p:nvSpPr>
        <p:spPr>
          <a:xfrm>
            <a:off x="4434840" y="2788920"/>
            <a:ext cx="3566160" cy="457200"/>
          </a:xfrm>
          <a:prstGeom prst="rect">
            <a:avLst/>
          </a:prstGeom>
          <a:noFill/>
          <a:ln/>
        </p:spPr>
        <p:txBody>
          <a:bodyPr wrap="square" lIns="0" tIns="0" rIns="0" bIns="0" rtlCol="0" anchor="ctr"/>
          <a:lstStyle/>
          <a:p>
            <a:pPr algn="ctr" indent="0" marL="0">
              <a:buNone/>
            </a:pPr>
            <a:r>
              <a:rPr lang="en-US" sz="1400" dirty="0">
                <a:solidFill>
                  <a:srgbClr val="333333"/>
                </a:solidFill>
                <a:latin typeface="Calibri" pitchFamily="34" charset="0"/>
                <a:ea typeface="Calibri" pitchFamily="34" charset="-122"/>
                <a:cs typeface="Calibri" pitchFamily="34" charset="-120"/>
              </a:rPr>
              <a:t>土器片1つ分の点の数（2つめ）</a:t>
            </a:r>
            <a:endParaRPr lang="en-US" sz="1400" dirty="0"/>
          </a:p>
        </p:txBody>
      </p:sp>
      <p:sp>
        <p:nvSpPr>
          <p:cNvPr id="9" name="Shape 7"/>
          <p:cNvSpPr/>
          <p:nvPr/>
        </p:nvSpPr>
        <p:spPr>
          <a:xfrm>
            <a:off x="8321040" y="1463040"/>
            <a:ext cx="3566160" cy="2011680"/>
          </a:xfrm>
          <a:prstGeom prst="roundRect">
            <a:avLst>
              <a:gd name="adj" fmla="val 4545"/>
            </a:avLst>
          </a:prstGeom>
          <a:solidFill>
            <a:srgbClr val="E7E8D1"/>
          </a:solidFill>
          <a:ln/>
        </p:spPr>
      </p:sp>
      <p:sp>
        <p:nvSpPr>
          <p:cNvPr id="10" name="Text 8"/>
          <p:cNvSpPr/>
          <p:nvPr/>
        </p:nvSpPr>
        <p:spPr>
          <a:xfrm>
            <a:off x="8321040" y="1691640"/>
            <a:ext cx="3566160" cy="1005840"/>
          </a:xfrm>
          <a:prstGeom prst="rect">
            <a:avLst/>
          </a:prstGeom>
          <a:noFill/>
          <a:ln/>
        </p:spPr>
        <p:txBody>
          <a:bodyPr wrap="square" lIns="0" tIns="0" rIns="0" bIns="0" rtlCol="0" anchor="ctr"/>
          <a:lstStyle/>
          <a:p>
            <a:pPr algn="ctr" indent="0" marL="0">
              <a:buNone/>
            </a:pPr>
            <a:r>
              <a:rPr lang="en-US" sz="5400" b="1" dirty="0">
                <a:solidFill>
                  <a:srgbClr val="A7BEAE"/>
                </a:solidFill>
                <a:latin typeface="Cambria" pitchFamily="34" charset="0"/>
                <a:ea typeface="Cambria" pitchFamily="34" charset="-122"/>
                <a:cs typeface="Cambria" pitchFamily="34" charset="-120"/>
              </a:rPr>
              <a:t>0.2 mm</a:t>
            </a:r>
            <a:endParaRPr lang="en-US" sz="5400" dirty="0"/>
          </a:p>
        </p:txBody>
      </p:sp>
      <p:sp>
        <p:nvSpPr>
          <p:cNvPr id="11" name="Text 9"/>
          <p:cNvSpPr/>
          <p:nvPr/>
        </p:nvSpPr>
        <p:spPr>
          <a:xfrm>
            <a:off x="8321040" y="2788920"/>
            <a:ext cx="3566160" cy="457200"/>
          </a:xfrm>
          <a:prstGeom prst="rect">
            <a:avLst/>
          </a:prstGeom>
          <a:noFill/>
          <a:ln/>
        </p:spPr>
        <p:txBody>
          <a:bodyPr wrap="square" lIns="0" tIns="0" rIns="0" bIns="0" rtlCol="0" anchor="ctr"/>
          <a:lstStyle/>
          <a:p>
            <a:pPr algn="ctr" indent="0" marL="0">
              <a:buNone/>
            </a:pPr>
            <a:r>
              <a:rPr lang="en-US" sz="1400" dirty="0">
                <a:solidFill>
                  <a:srgbClr val="333333"/>
                </a:solidFill>
                <a:latin typeface="Calibri" pitchFamily="34" charset="0"/>
                <a:ea typeface="Calibri" pitchFamily="34" charset="-122"/>
                <a:cs typeface="Calibri" pitchFamily="34" charset="-120"/>
              </a:rPr>
              <a:t>画像に変換するときの細かさ</a:t>
            </a:r>
            <a:endParaRPr lang="en-US" sz="1400" dirty="0"/>
          </a:p>
        </p:txBody>
      </p:sp>
      <p:sp>
        <p:nvSpPr>
          <p:cNvPr id="12" name="Text 10"/>
          <p:cNvSpPr/>
          <p:nvPr/>
        </p:nvSpPr>
        <p:spPr>
          <a:xfrm>
            <a:off x="640080" y="3931920"/>
            <a:ext cx="10972800" cy="2103120"/>
          </a:xfrm>
          <a:prstGeom prst="rect">
            <a:avLst/>
          </a:prstGeom>
          <a:noFill/>
          <a:ln/>
        </p:spPr>
        <p:txBody>
          <a:bodyPr wrap="square" rtlCol="0" anchor="ctr"/>
          <a:lstStyle/>
          <a:p>
            <a:pPr marL="342900" indent="-342900">
              <a:spcAft>
                <a:spcPts val="800"/>
              </a:spcAft>
              <a:buSzPct val="100000"/>
              <a:buChar char="•"/>
            </a:pPr>
            <a:r>
              <a:rPr lang="en-US" sz="1500" dirty="0">
                <a:solidFill>
                  <a:srgbClr val="333333"/>
                </a:solidFill>
                <a:latin typeface="Calibri" pitchFamily="34" charset="0"/>
                <a:ea typeface="Calibri" pitchFamily="34" charset="-122"/>
                <a:cs typeface="Calibri" pitchFamily="34" charset="-120"/>
              </a:rPr>
              <a:t>土器のかけら1つで約700万個の点。まともに全部計算すると、メモリも時間も足りなくなる規模。</a:t>
            </a:r>
            <a:endParaRPr lang="en-US" sz="1500" dirty="0"/>
          </a:p>
          <a:p>
            <a:pPr marL="342900" indent="-342900">
              <a:spcAft>
                <a:spcPts val="800"/>
              </a:spcAft>
              <a:buSzPct val="100000"/>
              <a:buChar char="•"/>
            </a:pPr>
            <a:r>
              <a:rPr lang="en-US" sz="1500" dirty="0">
                <a:solidFill>
                  <a:srgbClr val="333333"/>
                </a:solidFill>
                <a:latin typeface="Calibri" pitchFamily="34" charset="0"/>
                <a:ea typeface="Calibri" pitchFamily="34" charset="-122"/>
                <a:cs typeface="Calibri" pitchFamily="34" charset="-120"/>
              </a:rPr>
              <a:t>だから「必要な面だけ切り出す」「3Dを2Dの画像に変換する」ことで、扱うデータをぐっと小さくしている。</a:t>
            </a:r>
            <a:endParaRPr lang="en-US" sz="1500" dirty="0"/>
          </a:p>
          <a:p>
            <a:pPr marL="342900" indent="-342900">
              <a:buSzPct val="100000"/>
              <a:buChar char="•"/>
            </a:pPr>
            <a:r>
              <a:rPr lang="en-US" sz="1500" dirty="0">
                <a:solidFill>
                  <a:srgbClr val="333333"/>
                </a:solidFill>
                <a:latin typeface="Calibri" pitchFamily="34" charset="0"/>
                <a:ea typeface="Calibri" pitchFamily="34" charset="-122"/>
                <a:cs typeface="Calibri" pitchFamily="34" charset="-120"/>
              </a:rPr>
              <a:t>それでも重い計算は残るので、講義で学んだ「計算のさせ方の工夫」が効いてくる。</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効率化ポイント①  講義前半（データ分析）の手法</a:t>
            </a:r>
            <a:endParaRPr lang="en-US" sz="3000" dirty="0"/>
          </a:p>
        </p:txBody>
      </p:sp>
      <p:sp>
        <p:nvSpPr>
          <p:cNvPr id="3" name="Shape 1"/>
          <p:cNvSpPr/>
          <p:nvPr/>
        </p:nvSpPr>
        <p:spPr>
          <a:xfrm>
            <a:off x="548640" y="1371600"/>
            <a:ext cx="5394960" cy="2194560"/>
          </a:xfrm>
          <a:prstGeom prst="roundRect">
            <a:avLst>
              <a:gd name="adj" fmla="val 4167"/>
            </a:avLst>
          </a:prstGeom>
          <a:solidFill>
            <a:srgbClr val="E7E8D1"/>
          </a:solidFill>
          <a:ln/>
        </p:spPr>
      </p:sp>
      <p:sp>
        <p:nvSpPr>
          <p:cNvPr id="4" name="Text 2"/>
          <p:cNvSpPr/>
          <p:nvPr/>
        </p:nvSpPr>
        <p:spPr>
          <a:xfrm>
            <a:off x="777240" y="1508760"/>
            <a:ext cx="4937760" cy="41148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主成分分析（第4回）</a:t>
            </a:r>
            <a:endParaRPr lang="en-US" sz="1600" dirty="0"/>
          </a:p>
        </p:txBody>
      </p:sp>
      <p:sp>
        <p:nvSpPr>
          <p:cNvPr id="5" name="Text 3"/>
          <p:cNvSpPr/>
          <p:nvPr/>
        </p:nvSpPr>
        <p:spPr>
          <a:xfrm>
            <a:off x="777240" y="1965960"/>
            <a:ext cx="4937760" cy="1463040"/>
          </a:xfrm>
          <a:prstGeom prst="rect">
            <a:avLst/>
          </a:prstGeom>
          <a:noFill/>
          <a:ln/>
        </p:spPr>
        <p:txBody>
          <a:bodyPr wrap="square" lIns="0" tIns="0" rIns="0" bIns="0" rtlCol="0" anchor="ctr"/>
          <a:lstStyle/>
          <a:p>
            <a:pPr indent="0" marL="0">
              <a:buNone/>
            </a:pPr>
            <a:r>
              <a:rPr lang="en-US" sz="1250" dirty="0">
                <a:solidFill>
                  <a:srgbClr val="333333"/>
                </a:solidFill>
                <a:latin typeface="Calibri" pitchFamily="34" charset="0"/>
                <a:ea typeface="Calibri" pitchFamily="34" charset="-122"/>
                <a:cs typeface="Calibri" pitchFamily="34" charset="-120"/>
              </a:rPr>
              <a:t>土器の面のちょうどいい「向き」を自動で見つけて、3Dのでこぼこを2Dの画像に変換するのに使っている。データを減らす主役。</a:t>
            </a:r>
            <a:endParaRPr lang="en-US" sz="1250" dirty="0"/>
          </a:p>
        </p:txBody>
      </p:sp>
      <p:sp>
        <p:nvSpPr>
          <p:cNvPr id="6" name="Shape 4"/>
          <p:cNvSpPr/>
          <p:nvPr/>
        </p:nvSpPr>
        <p:spPr>
          <a:xfrm>
            <a:off x="6263640" y="1371600"/>
            <a:ext cx="5394960" cy="2194560"/>
          </a:xfrm>
          <a:prstGeom prst="roundRect">
            <a:avLst>
              <a:gd name="adj" fmla="val 4167"/>
            </a:avLst>
          </a:prstGeom>
          <a:solidFill>
            <a:srgbClr val="E7E8D1"/>
          </a:solidFill>
          <a:ln/>
        </p:spPr>
      </p:sp>
      <p:sp>
        <p:nvSpPr>
          <p:cNvPr id="7" name="Text 5"/>
          <p:cNvSpPr/>
          <p:nvPr/>
        </p:nvSpPr>
        <p:spPr>
          <a:xfrm>
            <a:off x="6492240" y="1508760"/>
            <a:ext cx="4937760" cy="41148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クラスタ分析（第5回）</a:t>
            </a:r>
            <a:endParaRPr lang="en-US" sz="1600" dirty="0"/>
          </a:p>
        </p:txBody>
      </p:sp>
      <p:sp>
        <p:nvSpPr>
          <p:cNvPr id="8" name="Text 6"/>
          <p:cNvSpPr/>
          <p:nvPr/>
        </p:nvSpPr>
        <p:spPr>
          <a:xfrm>
            <a:off x="6492240" y="1965960"/>
            <a:ext cx="4937760" cy="1463040"/>
          </a:xfrm>
          <a:prstGeom prst="rect">
            <a:avLst/>
          </a:prstGeom>
          <a:noFill/>
          <a:ln/>
        </p:spPr>
        <p:txBody>
          <a:bodyPr wrap="square" lIns="0" tIns="0" rIns="0" bIns="0" rtlCol="0" anchor="ctr"/>
          <a:lstStyle/>
          <a:p>
            <a:pPr indent="0" marL="0">
              <a:buNone/>
            </a:pPr>
            <a:r>
              <a:rPr lang="en-US" sz="1250" dirty="0">
                <a:solidFill>
                  <a:srgbClr val="333333"/>
                </a:solidFill>
                <a:latin typeface="Calibri" pitchFamily="34" charset="0"/>
                <a:ea typeface="Calibri" pitchFamily="34" charset="-122"/>
                <a:cs typeface="Calibri" pitchFamily="34" charset="-120"/>
              </a:rPr>
              <a:t>似た向きを向いている面ごとにグループ分けして、「縄目がある面」だけを選び出すのに使っている。計算する範囲を絞る役目。</a:t>
            </a:r>
            <a:endParaRPr lang="en-US" sz="1250" dirty="0"/>
          </a:p>
        </p:txBody>
      </p:sp>
      <p:sp>
        <p:nvSpPr>
          <p:cNvPr id="9" name="Shape 7"/>
          <p:cNvSpPr/>
          <p:nvPr/>
        </p:nvSpPr>
        <p:spPr>
          <a:xfrm>
            <a:off x="548640" y="3794760"/>
            <a:ext cx="5394960" cy="2194560"/>
          </a:xfrm>
          <a:prstGeom prst="roundRect">
            <a:avLst>
              <a:gd name="adj" fmla="val 4167"/>
            </a:avLst>
          </a:prstGeom>
          <a:solidFill>
            <a:srgbClr val="E7E8D1"/>
          </a:solidFill>
          <a:ln/>
        </p:spPr>
      </p:sp>
      <p:sp>
        <p:nvSpPr>
          <p:cNvPr id="10" name="Text 8"/>
          <p:cNvSpPr/>
          <p:nvPr/>
        </p:nvSpPr>
        <p:spPr>
          <a:xfrm>
            <a:off x="777240" y="3931920"/>
            <a:ext cx="4937760" cy="411480"/>
          </a:xfrm>
          <a:prstGeom prst="rect">
            <a:avLst/>
          </a:prstGeom>
          <a:noFill/>
          <a:ln/>
        </p:spPr>
        <p:txBody>
          <a:bodyPr wrap="square" lIns="0" tIns="0" rIns="0" bIns="0" rtlCol="0" anchor="ctr"/>
          <a:lstStyle/>
          <a:p>
            <a:pPr indent="0" marL="0">
              <a:buNone/>
            </a:pPr>
            <a:r>
              <a:rPr lang="en-US" sz="1600" b="1" dirty="0">
                <a:solidFill>
                  <a:srgbClr val="B85042"/>
                </a:solidFill>
                <a:latin typeface="Cambria" pitchFamily="34" charset="0"/>
                <a:ea typeface="Cambria" pitchFamily="34" charset="-122"/>
                <a:cs typeface="Cambria" pitchFamily="34" charset="-120"/>
              </a:rPr>
              <a:t>相関（第2回）</a:t>
            </a:r>
            <a:endParaRPr lang="en-US" sz="1600" dirty="0"/>
          </a:p>
        </p:txBody>
      </p:sp>
      <p:sp>
        <p:nvSpPr>
          <p:cNvPr id="11" name="Text 9"/>
          <p:cNvSpPr/>
          <p:nvPr/>
        </p:nvSpPr>
        <p:spPr>
          <a:xfrm>
            <a:off x="777240" y="4389120"/>
            <a:ext cx="4937760" cy="1463040"/>
          </a:xfrm>
          <a:prstGeom prst="rect">
            <a:avLst/>
          </a:prstGeom>
          <a:noFill/>
          <a:ln/>
        </p:spPr>
        <p:txBody>
          <a:bodyPr wrap="square" lIns="0" tIns="0" rIns="0" bIns="0" rtlCol="0" anchor="ctr"/>
          <a:lstStyle/>
          <a:p>
            <a:pPr indent="0" marL="0">
              <a:buNone/>
            </a:pPr>
            <a:r>
              <a:rPr lang="en-US" sz="1250" dirty="0">
                <a:solidFill>
                  <a:srgbClr val="333333"/>
                </a:solidFill>
                <a:latin typeface="Calibri" pitchFamily="34" charset="0"/>
                <a:ea typeface="Calibri" pitchFamily="34" charset="-122"/>
                <a:cs typeface="Calibri" pitchFamily="34" charset="-120"/>
              </a:rPr>
              <a:t>「ずらして重ねてどれだけ似ているか」は、相関係数の考え方そのもの。もようの間隔と縄1回転分の長さは、これで見つけている。</a:t>
            </a:r>
            <a:endParaRPr lang="en-US" sz="1250" dirty="0"/>
          </a:p>
        </p:txBody>
      </p:sp>
      <p:sp>
        <p:nvSpPr>
          <p:cNvPr id="12" name="Shape 10"/>
          <p:cNvSpPr/>
          <p:nvPr/>
        </p:nvSpPr>
        <p:spPr>
          <a:xfrm>
            <a:off x="6263640" y="3794760"/>
            <a:ext cx="5394960" cy="2194560"/>
          </a:xfrm>
          <a:prstGeom prst="roundRect">
            <a:avLst>
              <a:gd name="adj" fmla="val 4167"/>
            </a:avLst>
          </a:prstGeom>
          <a:solidFill>
            <a:srgbClr val="B85042"/>
          </a:solidFill>
          <a:ln/>
        </p:spPr>
      </p:sp>
      <p:sp>
        <p:nvSpPr>
          <p:cNvPr id="13" name="Text 11"/>
          <p:cNvSpPr/>
          <p:nvPr/>
        </p:nvSpPr>
        <p:spPr>
          <a:xfrm>
            <a:off x="6492240" y="3931920"/>
            <a:ext cx="4937760" cy="41148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まとめると</a:t>
            </a:r>
            <a:endParaRPr lang="en-US" sz="1600" dirty="0"/>
          </a:p>
        </p:txBody>
      </p:sp>
      <p:sp>
        <p:nvSpPr>
          <p:cNvPr id="14" name="Text 12"/>
          <p:cNvSpPr/>
          <p:nvPr/>
        </p:nvSpPr>
        <p:spPr>
          <a:xfrm>
            <a:off x="6492240" y="4389120"/>
            <a:ext cx="4937760" cy="146304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講義前半で学んだ手法は、本研究では「データを減らす」「対象を絞る」「繰り返しを見つける」という形で、パイプラインの中心にいる。</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効率化ポイント②  講義後半（大規模計算）の考え方</a:t>
            </a:r>
            <a:endParaRPr lang="en-US" sz="3000" dirty="0"/>
          </a:p>
        </p:txBody>
      </p:sp>
      <p:sp>
        <p:nvSpPr>
          <p:cNvPr id="3" name="Shape 1"/>
          <p:cNvSpPr/>
          <p:nvPr/>
        </p:nvSpPr>
        <p:spPr>
          <a:xfrm>
            <a:off x="548640" y="1371600"/>
            <a:ext cx="11064240" cy="1463040"/>
          </a:xfrm>
          <a:prstGeom prst="roundRect">
            <a:avLst>
              <a:gd name="adj" fmla="val 6250"/>
            </a:avLst>
          </a:prstGeom>
          <a:solidFill>
            <a:srgbClr val="E7E8D1"/>
          </a:solidFill>
          <a:ln/>
        </p:spPr>
      </p:sp>
      <p:sp>
        <p:nvSpPr>
          <p:cNvPr id="4" name="Text 2"/>
          <p:cNvSpPr/>
          <p:nvPr/>
        </p:nvSpPr>
        <p:spPr>
          <a:xfrm>
            <a:off x="777240" y="1481328"/>
            <a:ext cx="3108960" cy="1188720"/>
          </a:xfrm>
          <a:prstGeom prst="rect">
            <a:avLst/>
          </a:prstGeom>
          <a:noFill/>
          <a:ln/>
        </p:spPr>
        <p:txBody>
          <a:bodyPr wrap="square" lIns="0" tIns="0" rIns="0" bIns="0" rtlCol="0" anchor="ctr"/>
          <a:lstStyle/>
          <a:p>
            <a:pPr indent="0" marL="0">
              <a:buNone/>
            </a:pPr>
            <a:r>
              <a:rPr lang="en-US" sz="1500" b="1" dirty="0">
                <a:solidFill>
                  <a:srgbClr val="B85042"/>
                </a:solidFill>
                <a:latin typeface="Cambria" pitchFamily="34" charset="0"/>
                <a:ea typeface="Cambria" pitchFamily="34" charset="-122"/>
                <a:cs typeface="Cambria" pitchFamily="34" charset="-120"/>
              </a:rPr>
              <a:t>計算のやり方を変えて速くする</a:t>
            </a:r>
            <a:endParaRPr lang="en-US" sz="1500" dirty="0"/>
          </a:p>
        </p:txBody>
      </p:sp>
      <p:sp>
        <p:nvSpPr>
          <p:cNvPr id="5" name="Text 3"/>
          <p:cNvSpPr/>
          <p:nvPr/>
        </p:nvSpPr>
        <p:spPr>
          <a:xfrm>
            <a:off x="4023360" y="1508760"/>
            <a:ext cx="7315200" cy="1234440"/>
          </a:xfrm>
          <a:prstGeom prst="rect">
            <a:avLst/>
          </a:prstGeom>
          <a:noFill/>
          <a:ln/>
        </p:spPr>
        <p:txBody>
          <a:bodyPr wrap="square" lIns="0" tIns="0" rIns="0" bIns="0" rtlCol="0" anchor="ctr"/>
          <a:lstStyle/>
          <a:p>
            <a:pPr indent="0" marL="0">
              <a:buNone/>
            </a:pPr>
            <a:r>
              <a:rPr lang="en-US" sz="1300" dirty="0">
                <a:solidFill>
                  <a:srgbClr val="333333"/>
                </a:solidFill>
                <a:latin typeface="Calibri" pitchFamily="34" charset="0"/>
                <a:ea typeface="Calibri" pitchFamily="34" charset="-122"/>
                <a:cs typeface="Calibri" pitchFamily="34" charset="-120"/>
              </a:rPr>
              <a:t>「ずらして重ねる」計算は、まともにやるととても重い。計算の順番を工夫する定番の方法（FFT）を使うと、同じ答えをずっと速く出せる。</a:t>
            </a:r>
            <a:endParaRPr lang="en-US" sz="1300" dirty="0"/>
          </a:p>
        </p:txBody>
      </p:sp>
      <p:sp>
        <p:nvSpPr>
          <p:cNvPr id="6" name="Shape 4"/>
          <p:cNvSpPr/>
          <p:nvPr/>
        </p:nvSpPr>
        <p:spPr>
          <a:xfrm>
            <a:off x="548640" y="3017520"/>
            <a:ext cx="11064240" cy="1463040"/>
          </a:xfrm>
          <a:prstGeom prst="roundRect">
            <a:avLst>
              <a:gd name="adj" fmla="val 6250"/>
            </a:avLst>
          </a:prstGeom>
          <a:solidFill>
            <a:srgbClr val="E7E8D1"/>
          </a:solidFill>
          <a:ln/>
        </p:spPr>
      </p:sp>
      <p:sp>
        <p:nvSpPr>
          <p:cNvPr id="7" name="Text 5"/>
          <p:cNvSpPr/>
          <p:nvPr/>
        </p:nvSpPr>
        <p:spPr>
          <a:xfrm>
            <a:off x="777240" y="3127248"/>
            <a:ext cx="3108960" cy="1188720"/>
          </a:xfrm>
          <a:prstGeom prst="rect">
            <a:avLst/>
          </a:prstGeom>
          <a:noFill/>
          <a:ln/>
        </p:spPr>
        <p:txBody>
          <a:bodyPr wrap="square" lIns="0" tIns="0" rIns="0" bIns="0" rtlCol="0" anchor="ctr"/>
          <a:lstStyle/>
          <a:p>
            <a:pPr indent="0" marL="0">
              <a:buNone/>
            </a:pPr>
            <a:r>
              <a:rPr lang="en-US" sz="1500" b="1" dirty="0">
                <a:solidFill>
                  <a:srgbClr val="B85042"/>
                </a:solidFill>
                <a:latin typeface="Cambria" pitchFamily="34" charset="0"/>
                <a:ea typeface="Cambria" pitchFamily="34" charset="-122"/>
                <a:cs typeface="Cambria" pitchFamily="34" charset="-120"/>
              </a:rPr>
              <a:t>同時に計算できる所を見つける</a:t>
            </a:r>
            <a:endParaRPr lang="en-US" sz="1500" dirty="0"/>
          </a:p>
        </p:txBody>
      </p:sp>
      <p:sp>
        <p:nvSpPr>
          <p:cNvPr id="8" name="Text 6"/>
          <p:cNvSpPr/>
          <p:nvPr/>
        </p:nvSpPr>
        <p:spPr>
          <a:xfrm>
            <a:off x="4023360" y="3154680"/>
            <a:ext cx="7315200" cy="1234440"/>
          </a:xfrm>
          <a:prstGeom prst="rect">
            <a:avLst/>
          </a:prstGeom>
          <a:noFill/>
          <a:ln/>
        </p:spPr>
        <p:txBody>
          <a:bodyPr wrap="square" lIns="0" tIns="0" rIns="0" bIns="0" rtlCol="0" anchor="ctr"/>
          <a:lstStyle/>
          <a:p>
            <a:pPr indent="0" marL="0">
              <a:buNone/>
            </a:pPr>
            <a:r>
              <a:rPr lang="en-US" sz="1300" dirty="0">
                <a:solidFill>
                  <a:srgbClr val="333333"/>
                </a:solidFill>
                <a:latin typeface="Calibri" pitchFamily="34" charset="0"/>
                <a:ea typeface="Calibri" pitchFamily="34" charset="-122"/>
                <a:cs typeface="Calibri" pitchFamily="34" charset="-120"/>
              </a:rPr>
              <a:t>画像の各マス目の計算や、複数の土器を測る処理は、お互いの結果を待つ必要がない。第12回の遺伝的アルゴリズムの個体評価と同じで、手分けして同時に計算できる。</a:t>
            </a:r>
            <a:endParaRPr lang="en-US" sz="1300" dirty="0"/>
          </a:p>
        </p:txBody>
      </p:sp>
      <p:sp>
        <p:nvSpPr>
          <p:cNvPr id="9" name="Shape 7"/>
          <p:cNvSpPr/>
          <p:nvPr/>
        </p:nvSpPr>
        <p:spPr>
          <a:xfrm>
            <a:off x="548640" y="4663440"/>
            <a:ext cx="11064240" cy="1463040"/>
          </a:xfrm>
          <a:prstGeom prst="roundRect">
            <a:avLst>
              <a:gd name="adj" fmla="val 6250"/>
            </a:avLst>
          </a:prstGeom>
          <a:solidFill>
            <a:srgbClr val="B85042"/>
          </a:solidFill>
          <a:ln/>
        </p:spPr>
      </p:sp>
      <p:sp>
        <p:nvSpPr>
          <p:cNvPr id="10" name="Text 8"/>
          <p:cNvSpPr/>
          <p:nvPr/>
        </p:nvSpPr>
        <p:spPr>
          <a:xfrm>
            <a:off x="777240" y="4773168"/>
            <a:ext cx="3108960" cy="118872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手分けにはコストもある</a:t>
            </a:r>
            <a:endParaRPr lang="en-US" sz="1500" dirty="0"/>
          </a:p>
        </p:txBody>
      </p:sp>
      <p:sp>
        <p:nvSpPr>
          <p:cNvPr id="11" name="Text 9"/>
          <p:cNvSpPr/>
          <p:nvPr/>
        </p:nvSpPr>
        <p:spPr>
          <a:xfrm>
            <a:off x="4023360" y="4800600"/>
            <a:ext cx="7315200" cy="12344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第12回の実験では、1つ1つの計算が軽すぎると、手分けの準備のほうに時間がかかって逆に遅くなった。本研究でも「1つの計算の重さ」を見てから手分けするか決める。</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33333"/>
                </a:solidFill>
                <a:latin typeface="Cambria" pitchFamily="34" charset="0"/>
                <a:ea typeface="Cambria" pitchFamily="34" charset="-122"/>
                <a:cs typeface="Cambria" pitchFamily="34" charset="-120"/>
              </a:rPr>
              <a:t>これからの計画</a:t>
            </a:r>
            <a:endParaRPr lang="en-US" sz="3000" dirty="0"/>
          </a:p>
        </p:txBody>
      </p:sp>
      <p:sp>
        <p:nvSpPr>
          <p:cNvPr id="3" name="Shape 1"/>
          <p:cNvSpPr/>
          <p:nvPr/>
        </p:nvSpPr>
        <p:spPr>
          <a:xfrm>
            <a:off x="548640" y="1691640"/>
            <a:ext cx="685800" cy="685800"/>
          </a:xfrm>
          <a:prstGeom prst="ellipse">
            <a:avLst/>
          </a:prstGeom>
          <a:solidFill>
            <a:srgbClr val="B85042"/>
          </a:solidFill>
          <a:ln/>
        </p:spPr>
      </p:sp>
      <p:sp>
        <p:nvSpPr>
          <p:cNvPr id="4" name="Text 2"/>
          <p:cNvSpPr/>
          <p:nvPr/>
        </p:nvSpPr>
        <p:spPr>
          <a:xfrm>
            <a:off x="548640" y="169164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5" name="Text 3"/>
          <p:cNvSpPr/>
          <p:nvPr/>
        </p:nvSpPr>
        <p:spPr>
          <a:xfrm>
            <a:off x="1508760" y="1417320"/>
            <a:ext cx="10058400" cy="411480"/>
          </a:xfrm>
          <a:prstGeom prst="rect">
            <a:avLst/>
          </a:prstGeom>
          <a:noFill/>
          <a:ln/>
        </p:spPr>
        <p:txBody>
          <a:bodyPr wrap="square" lIns="0" tIns="0" rIns="0" bIns="0" rtlCol="0" anchor="ctr"/>
          <a:lstStyle/>
          <a:p>
            <a:pPr indent="0" marL="0">
              <a:buNone/>
            </a:pPr>
            <a:r>
              <a:rPr lang="en-US" sz="1700" b="1" dirty="0">
                <a:solidFill>
                  <a:srgbClr val="333333"/>
                </a:solidFill>
                <a:latin typeface="Cambria" pitchFamily="34" charset="0"/>
                <a:ea typeface="Cambria" pitchFamily="34" charset="-122"/>
                <a:cs typeface="Cambria" pitchFamily="34" charset="-120"/>
              </a:rPr>
              <a:t>たくさんの条件で精度テスト</a:t>
            </a:r>
            <a:endParaRPr lang="en-US" sz="1700" dirty="0"/>
          </a:p>
        </p:txBody>
      </p:sp>
      <p:sp>
        <p:nvSpPr>
          <p:cNvPr id="6" name="Text 4"/>
          <p:cNvSpPr/>
          <p:nvPr/>
        </p:nvSpPr>
        <p:spPr>
          <a:xfrm>
            <a:off x="1508760" y="1874520"/>
            <a:ext cx="10058400" cy="1005840"/>
          </a:xfrm>
          <a:prstGeom prst="rect">
            <a:avLst/>
          </a:prstGeom>
          <a:noFill/>
          <a:ln/>
        </p:spPr>
        <p:txBody>
          <a:bodyPr wrap="square" lIns="0" tIns="0" rIns="0" bIns="0" rtlCol="0" anchor="ctr"/>
          <a:lstStyle/>
          <a:p>
            <a:pPr indent="0" marL="0">
              <a:buNone/>
            </a:pPr>
            <a:r>
              <a:rPr lang="en-US" sz="1350" dirty="0">
                <a:solidFill>
                  <a:srgbClr val="333333"/>
                </a:solidFill>
                <a:latin typeface="Calibri" pitchFamily="34" charset="0"/>
                <a:ea typeface="Calibri" pitchFamily="34" charset="-122"/>
                <a:cs typeface="Calibri" pitchFamily="34" charset="-120"/>
              </a:rPr>
              <a:t>ノイズや欠けの量を変えたテストデータを大量に作って、どこまで正しく測れるか調べる。条件ごとに独立した計算なので、手分けして同時に走らせる。</a:t>
            </a:r>
            <a:endParaRPr lang="en-US" sz="1350" dirty="0"/>
          </a:p>
        </p:txBody>
      </p:sp>
      <p:sp>
        <p:nvSpPr>
          <p:cNvPr id="7" name="Shape 5"/>
          <p:cNvSpPr/>
          <p:nvPr/>
        </p:nvSpPr>
        <p:spPr>
          <a:xfrm>
            <a:off x="548640" y="3337560"/>
            <a:ext cx="685800" cy="685800"/>
          </a:xfrm>
          <a:prstGeom prst="ellipse">
            <a:avLst/>
          </a:prstGeom>
          <a:solidFill>
            <a:srgbClr val="B85042"/>
          </a:solidFill>
          <a:ln/>
        </p:spPr>
      </p:sp>
      <p:sp>
        <p:nvSpPr>
          <p:cNvPr id="8" name="Text 6"/>
          <p:cNvSpPr/>
          <p:nvPr/>
        </p:nvSpPr>
        <p:spPr>
          <a:xfrm>
            <a:off x="548640" y="333756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9" name="Text 7"/>
          <p:cNvSpPr/>
          <p:nvPr/>
        </p:nvSpPr>
        <p:spPr>
          <a:xfrm>
            <a:off x="1508760" y="3063240"/>
            <a:ext cx="10058400" cy="411480"/>
          </a:xfrm>
          <a:prstGeom prst="rect">
            <a:avLst/>
          </a:prstGeom>
          <a:noFill/>
          <a:ln/>
        </p:spPr>
        <p:txBody>
          <a:bodyPr wrap="square" lIns="0" tIns="0" rIns="0" bIns="0" rtlCol="0" anchor="ctr"/>
          <a:lstStyle/>
          <a:p>
            <a:pPr indent="0" marL="0">
              <a:buNone/>
            </a:pPr>
            <a:r>
              <a:rPr lang="en-US" sz="1700" b="1" dirty="0">
                <a:solidFill>
                  <a:srgbClr val="333333"/>
                </a:solidFill>
                <a:latin typeface="Cambria" pitchFamily="34" charset="0"/>
                <a:ea typeface="Cambria" pitchFamily="34" charset="-122"/>
                <a:cs typeface="Cambria" pitchFamily="34" charset="-120"/>
              </a:rPr>
              <a:t>設定の自動チューニング</a:t>
            </a:r>
            <a:endParaRPr lang="en-US" sz="1700" dirty="0"/>
          </a:p>
        </p:txBody>
      </p:sp>
      <p:sp>
        <p:nvSpPr>
          <p:cNvPr id="10" name="Text 8"/>
          <p:cNvSpPr/>
          <p:nvPr/>
        </p:nvSpPr>
        <p:spPr>
          <a:xfrm>
            <a:off x="1508760" y="3520440"/>
            <a:ext cx="10058400" cy="1005840"/>
          </a:xfrm>
          <a:prstGeom prst="rect">
            <a:avLst/>
          </a:prstGeom>
          <a:noFill/>
          <a:ln/>
        </p:spPr>
        <p:txBody>
          <a:bodyPr wrap="square" lIns="0" tIns="0" rIns="0" bIns="0" rtlCol="0" anchor="ctr"/>
          <a:lstStyle/>
          <a:p>
            <a:pPr indent="0" marL="0">
              <a:buNone/>
            </a:pPr>
            <a:r>
              <a:rPr lang="en-US" sz="1350" dirty="0">
                <a:solidFill>
                  <a:srgbClr val="333333"/>
                </a:solidFill>
                <a:latin typeface="Calibri" pitchFamily="34" charset="0"/>
                <a:ea typeface="Calibri" pitchFamily="34" charset="-122"/>
                <a:cs typeface="Calibri" pitchFamily="34" charset="-120"/>
              </a:rPr>
              <a:t>いま人が手で決めている設定を、第12回で学んだ遺伝的アルゴリズムなどで自動的に探させる。1回の試行が重い処理なので、今度は手分けの効果が出やすいはず。</a:t>
            </a:r>
            <a:endParaRPr lang="en-US" sz="1350" dirty="0"/>
          </a:p>
        </p:txBody>
      </p:sp>
      <p:sp>
        <p:nvSpPr>
          <p:cNvPr id="11" name="Shape 9"/>
          <p:cNvSpPr/>
          <p:nvPr/>
        </p:nvSpPr>
        <p:spPr>
          <a:xfrm>
            <a:off x="548640" y="4983480"/>
            <a:ext cx="685800" cy="685800"/>
          </a:xfrm>
          <a:prstGeom prst="ellipse">
            <a:avLst/>
          </a:prstGeom>
          <a:solidFill>
            <a:srgbClr val="B85042"/>
          </a:solidFill>
          <a:ln/>
        </p:spPr>
      </p:sp>
      <p:sp>
        <p:nvSpPr>
          <p:cNvPr id="12" name="Text 10"/>
          <p:cNvSpPr/>
          <p:nvPr/>
        </p:nvSpPr>
        <p:spPr>
          <a:xfrm>
            <a:off x="548640" y="49834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3" name="Text 11"/>
          <p:cNvSpPr/>
          <p:nvPr/>
        </p:nvSpPr>
        <p:spPr>
          <a:xfrm>
            <a:off x="1508760" y="4709160"/>
            <a:ext cx="10058400" cy="411480"/>
          </a:xfrm>
          <a:prstGeom prst="rect">
            <a:avLst/>
          </a:prstGeom>
          <a:noFill/>
          <a:ln/>
        </p:spPr>
        <p:txBody>
          <a:bodyPr wrap="square" lIns="0" tIns="0" rIns="0" bIns="0" rtlCol="0" anchor="ctr"/>
          <a:lstStyle/>
          <a:p>
            <a:pPr indent="0" marL="0">
              <a:buNone/>
            </a:pPr>
            <a:r>
              <a:rPr lang="en-US" sz="1700" b="1" dirty="0">
                <a:solidFill>
                  <a:srgbClr val="333333"/>
                </a:solidFill>
                <a:latin typeface="Cambria" pitchFamily="34" charset="0"/>
                <a:ea typeface="Cambria" pitchFamily="34" charset="-122"/>
                <a:cs typeface="Cambria" pitchFamily="34" charset="-120"/>
              </a:rPr>
              <a:t>たくさんの土器への適用</a:t>
            </a:r>
            <a:endParaRPr lang="en-US" sz="1700" dirty="0"/>
          </a:p>
        </p:txBody>
      </p:sp>
      <p:sp>
        <p:nvSpPr>
          <p:cNvPr id="14" name="Text 12"/>
          <p:cNvSpPr/>
          <p:nvPr/>
        </p:nvSpPr>
        <p:spPr>
          <a:xfrm>
            <a:off x="1508760" y="5166360"/>
            <a:ext cx="10058400" cy="1005840"/>
          </a:xfrm>
          <a:prstGeom prst="rect">
            <a:avLst/>
          </a:prstGeom>
          <a:noFill/>
          <a:ln/>
        </p:spPr>
        <p:txBody>
          <a:bodyPr wrap="square" lIns="0" tIns="0" rIns="0" bIns="0" rtlCol="0" anchor="ctr"/>
          <a:lstStyle/>
          <a:p>
            <a:pPr indent="0" marL="0">
              <a:buNone/>
            </a:pPr>
            <a:r>
              <a:rPr lang="en-US" sz="1350" dirty="0">
                <a:solidFill>
                  <a:srgbClr val="333333"/>
                </a:solidFill>
                <a:latin typeface="Calibri" pitchFamily="34" charset="0"/>
                <a:ea typeface="Calibri" pitchFamily="34" charset="-122"/>
                <a:cs typeface="Calibri" pitchFamily="34" charset="-120"/>
              </a:rPr>
              <a:t>複数の土器を自動で測って、測った値どうしを比べる。土器ごとの違いを統計的に調べていく。</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3B2A26"/>
        </a:solidFill>
      </p:bgPr>
    </p:bg>
    <p:spTree>
      <p:nvGrpSpPr>
        <p:cNvPr id="1" name=""/>
        <p:cNvGrpSpPr/>
        <p:nvPr/>
      </p:nvGrpSpPr>
      <p:grpSpPr>
        <a:xfrm>
          <a:off x="0" y="0"/>
          <a:ext cx="0" cy="0"/>
          <a:chOff x="0" y="0"/>
          <a:chExt cx="0" cy="0"/>
        </a:xfrm>
      </p:grpSpPr>
      <p:sp>
        <p:nvSpPr>
          <p:cNvPr id="2" name="Text 0"/>
          <p:cNvSpPr/>
          <p:nvPr/>
        </p:nvSpPr>
        <p:spPr>
          <a:xfrm>
            <a:off x="731520" y="548640"/>
            <a:ext cx="1069848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まとめ</a:t>
            </a:r>
            <a:endParaRPr lang="en-US" sz="3200" dirty="0"/>
          </a:p>
        </p:txBody>
      </p:sp>
      <p:sp>
        <p:nvSpPr>
          <p:cNvPr id="3" name="Text 1"/>
          <p:cNvSpPr/>
          <p:nvPr/>
        </p:nvSpPr>
        <p:spPr>
          <a:xfrm>
            <a:off x="822960" y="1554480"/>
            <a:ext cx="10515600" cy="3657600"/>
          </a:xfrm>
          <a:prstGeom prst="rect">
            <a:avLst/>
          </a:prstGeom>
          <a:noFill/>
          <a:ln/>
        </p:spPr>
        <p:txBody>
          <a:bodyPr wrap="square" rtlCol="0" anchor="ctr"/>
          <a:lstStyle/>
          <a:p>
            <a:pPr marL="342900" indent="-342900">
              <a:spcAft>
                <a:spcPts val="1400"/>
              </a:spcAft>
              <a:buSzPct val="100000"/>
              <a:buChar char="•"/>
            </a:pPr>
            <a:r>
              <a:rPr lang="en-US" sz="1700" dirty="0">
                <a:solidFill>
                  <a:srgbClr val="E7E8D1"/>
                </a:solidFill>
                <a:latin typeface="Calibri" pitchFamily="34" charset="0"/>
                <a:ea typeface="Calibri" pitchFamily="34" charset="-122"/>
                <a:cs typeface="Calibri" pitchFamily="34" charset="-120"/>
              </a:rPr>
              <a:t>縄文土器の縄目もようを、3Dスキャンデータから全自動で測る仕組みを作っている。</a:t>
            </a:r>
            <a:endParaRPr lang="en-US" sz="1700" dirty="0"/>
          </a:p>
          <a:p>
            <a:pPr marL="342900" indent="-342900">
              <a:spcAft>
                <a:spcPts val="1400"/>
              </a:spcAft>
              <a:buSzPct val="100000"/>
              <a:buChar char="•"/>
            </a:pPr>
            <a:r>
              <a:rPr lang="en-US" sz="1700" dirty="0">
                <a:solidFill>
                  <a:srgbClr val="E7E8D1"/>
                </a:solidFill>
                <a:latin typeface="Calibri" pitchFamily="34" charset="0"/>
                <a:ea typeface="Calibri" pitchFamily="34" charset="-122"/>
                <a:cs typeface="Calibri" pitchFamily="34" charset="-120"/>
              </a:rPr>
              <a:t>講義前半のデータ分析の手法（主成分分析・クラスタ分析・相関）が、「データを減らして対象を絞る」効率化の中心になっている。</a:t>
            </a:r>
            <a:endParaRPr lang="en-US" sz="1700" dirty="0"/>
          </a:p>
          <a:p>
            <a:pPr marL="342900" indent="-342900">
              <a:spcAft>
                <a:spcPts val="1400"/>
              </a:spcAft>
              <a:buSzPct val="100000"/>
              <a:buChar char="•"/>
            </a:pPr>
            <a:r>
              <a:rPr lang="en-US" sz="1700" dirty="0">
                <a:solidFill>
                  <a:srgbClr val="E7E8D1"/>
                </a:solidFill>
                <a:latin typeface="Calibri" pitchFamily="34" charset="0"/>
                <a:ea typeface="Calibri" pitchFamily="34" charset="-122"/>
                <a:cs typeface="Calibri" pitchFamily="34" charset="-120"/>
              </a:rPr>
              <a:t>講義後半の大規模計算の考え方（速い計算方法・手分けとそのコスト）が、巨大なデータを現実的な時間で処理する鍵になっている。</a:t>
            </a:r>
            <a:endParaRPr lang="en-US" sz="1700" dirty="0"/>
          </a:p>
          <a:p>
            <a:pPr marL="342900" indent="-342900">
              <a:buSzPct val="100000"/>
              <a:buChar char="•"/>
            </a:pPr>
            <a:r>
              <a:rPr lang="en-US" sz="1700" dirty="0">
                <a:solidFill>
                  <a:srgbClr val="E7E8D1"/>
                </a:solidFill>
                <a:latin typeface="Calibri" pitchFamily="34" charset="0"/>
                <a:ea typeface="Calibri" pitchFamily="34" charset="-122"/>
                <a:cs typeface="Calibri" pitchFamily="34" charset="-120"/>
              </a:rPr>
              <a:t>今後は精度テストの並列実行と、設定の自動チューニングに講義の内容を活かしていく。</a:t>
            </a:r>
            <a:endParaRPr lang="en-US" sz="1700" dirty="0"/>
          </a:p>
        </p:txBody>
      </p:sp>
      <p:sp>
        <p:nvSpPr>
          <p:cNvPr id="4" name="Text 2"/>
          <p:cNvSpPr/>
          <p:nvPr/>
        </p:nvSpPr>
        <p:spPr>
          <a:xfrm>
            <a:off x="731520" y="5669280"/>
            <a:ext cx="10698480" cy="548640"/>
          </a:xfrm>
          <a:prstGeom prst="rect">
            <a:avLst/>
          </a:prstGeom>
          <a:noFill/>
          <a:ln/>
        </p:spPr>
        <p:txBody>
          <a:bodyPr wrap="square" lIns="0" tIns="0" rIns="0" bIns="0" rtlCol="0" anchor="ctr"/>
          <a:lstStyle/>
          <a:p>
            <a:pPr algn="ctr" indent="0" marL="0">
              <a:buNone/>
            </a:pPr>
            <a:r>
              <a:rPr lang="en-US" sz="2000" i="1" dirty="0">
                <a:solidFill>
                  <a:srgbClr val="A7BEAE"/>
                </a:solidFill>
                <a:latin typeface="Cambria" pitchFamily="34" charset="0"/>
                <a:ea typeface="Cambria" pitchFamily="34" charset="-122"/>
                <a:cs typeface="Cambria" pitchFamily="34" charset="-120"/>
              </a:rPr>
              <a:t>ご清聴ありがとうございました</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2026-07-17T07:54:48Z</dcterms:created>
  <dcterms:modified xsi:type="dcterms:W3CDTF">2026-07-17T07:54:48Z</dcterms:modified>
</cp:coreProperties>
</file>