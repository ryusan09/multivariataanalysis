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それでは発表を始めます。私の修士研究のテーマは、縄文土器の3Dスキャンデータから、表面の縄目文様を自動計測することです。
本日は、前半で研究の概要を紹介し、後半で、本講義で学んだ内容を応用して研究のどこを今後効率化できるか、その見通しについて述べます。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まず研究の背景です。縄文土器の表面には、縄を転がして付けた縄目文様が残っています。右の図が、実際に研究で使用している土器片の3Dスキャンデータです。
この文様の間隔や、縄が1回転する長さは、製作に使われた縄の種類や製作技法を知るための、考古学的に重要な手がかりとなります。
しかし従来は、研究者が目視と手作業で計測してきたため、時間を要するうえ、計測者によって結果が異なり、再現性に乏しいという課題がありました。
そこで本研究では、土器の3Dスキャンデータを入力として、縄目の間隔・向き・縄1回転分の区切り位置を全自動で計測する手法の確立を目的としています。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（約55秒）
提案手法の処理の流れです。5つの段階で構成しています。
まず3Dスキャンデータを読み込み、次に、縄目文様のある面だけを抽出します。第3段階で、その面の凹凸を2次元の画像に変換します。ここまで変換すれば、以降は画像処理の問題として扱えます。
第4段階で文様の繰り返しの間隔と向きを計測し、最後の第5段階で、縄が1回転するごとの区切り位置を検出します。
本手法のポイントは、3次元の複雑な形状をそのまま扱うのではなく、2次元の画像、さらに1次元の波形へと、段階的に単純なデータに変換しながら計測することです。
現在、全段階を実装済みで、正解が既知のテストデータで正しく計測できることを確認しています。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本研究の新規性にあたるのが、最後の第5段階です。
縄は1回転するごとに同一の文様を繰り返します。右の図の黒い点は、人が目視で付けた「縄1回転分の区切り」の位置で、これを自動で検出することが目標です。
手法の考え方としては、文様の画像を少しずつずらして重ね合わせ、最も一致するずらし幅を求めます。このずらし幅が、ちょうど縄1回転分の長さに対応します。
テストデータによる検証では、既知の正解に対する誤差は2%未満であり、データの20%が欠損していても精度を維持できました。用意した16件のテストすべてに合格しています。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（約45秒）
現状の結果です。実際の土器片データに適用したところ、縄目の間隔が約3.4ミリ、縄1回転分の長さが約44ミリ、区切り位置が6か所、と自動で計測できています。
一方で課題も残っています。最も大きいのは、実データに対する正解値がまだ手元になく、計測精度を定量的に評価できていない点です。現在、指導教員に正解値の計測を依頼しています。
また、計測時のパラメータを手動で設定している点も、今後自動化が必要です。
ここからが後半の本題です。本講義で学んだ内容を応用して、この研究を今後どのように効率化できるか、その見通しを述べます。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まず、効率化の余地についてです。土器片1つのメッシュは約700万頂点に及ぶ大規模なデータですが、現在のプログラムは、これを1台の計算機で逐次的に処理しています。
土器1点を計測するだけであれば、現状でも実用的な時間で動作します。しかし研究は今後、精度検証の大量実行や、多数の土器への適用という段階に進みます。
したがって、講義で学んだ効率化の考え方が有効になるのは、まさにこれからです。次の2枚で、その候補を検討します。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（約70秒）
今後効率化が見込める処理として、3つの候補を考えています。
1つ目は、精度検証実験の並列実行です。今後、ノイズや欠損の量を変えたテストデータで、数百回規模の精度検証を行う予定です。各条件は互いに独立した計算で、他の結果を待つ必要がありません。第11回・12回で学んだ並列化を、直接適用できる形だと考えています。
2つ目は、パラメータの自動チューニングです。現在は画像の解像度や探索範囲などを手動で設定しており、ここに試行錯誤の時間を要しています。第12回で学んだ遺伝的アルゴリズムのような最適化手法で自動探索させることで、この時間を削減できると考えています。
3つ目は、多数の土器への一括適用です。土器ごとの計測処理は独立であるため並列実行が可能であり、得られた計測値の比較・分析には、講義前半で学んだ統計的手法が適用できると見込んでいます。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（約60秒）
ただし、並列化すれば必ず速くなるわけではない、というのが第12回の実験で得られた知見です。
第12回の遺伝的アルゴリズムの実験では、1つあたりの計算が軽かったため、Workerの準備やデータの受け渡しといったオーバーヘッドが計算時間を上回り、並列化によってかえって処理時間が増加しました。
これを本研究に当てはめると、土器1点の計測や精度検証1回は、数分を要する重い処理です。オーバーヘッドに対して計算本体が十分に重いため、並列化の効果が得られやすい条件だと見込んでいます。
とはいえ、効果を仮定だけで判断することはせず、まず1タスクあたりの処理時間を計測したうえで、並列化する単位を決定する方針です。これが第12回の実験から得た、最も重要な知見だと考えています。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（約35秒）
まとめです。本研究では、縄文土器の3Dスキャンデータから縄目文様を全自動で計測する手法を開発しており、テストデータでは精度を確認できています。
研究は今後、精度検証の大量実行、パラメータ調整、多数の土器への適用という段階に進み、ここに効率化の余地が大きくあります。
具体的には、独立した計算の並列実行と、遺伝的アルゴリズムによるパラメータの自動チューニングの適用が見込めます。適用にあたっては、1タスクあたりの処理時間を計測したうえで並列化の単位を決定するという、第12回の実験で得た知見に基づいて進めます。
以上で発表を終わります。ご清聴ありがとうございました。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1188720"/>
            <a:ext cx="10698480" cy="457200"/>
          </a:xfrm>
          <a:prstGeom prst="rect">
            <a:avLst/>
          </a:prstGeom>
          <a:noFill/>
          <a:ln/>
        </p:spPr>
        <p:txBody>
          <a:bodyPr wrap="square" lIns="0" tIns="0" rIns="0" bIns="0" rtlCol="0" anchor="ctr"/>
          <a:lstStyle/>
          <a:p>
            <a:pPr indent="0" marL="0">
              <a:buNone/>
            </a:pPr>
            <a:r>
              <a:rPr lang="en-US" sz="1600" dirty="0">
                <a:solidFill>
                  <a:srgbClr val="A7BEAE"/>
                </a:solidFill>
                <a:latin typeface="Calibri" pitchFamily="34" charset="0"/>
                <a:ea typeface="Calibri" pitchFamily="34" charset="-122"/>
                <a:cs typeface="Calibri" pitchFamily="34" charset="-120"/>
              </a:rPr>
              <a:t>多変量解析及び大規模計算論  第13回発表</a:t>
            </a:r>
            <a:endParaRPr lang="en-US" sz="1600" dirty="0"/>
          </a:p>
        </p:txBody>
      </p:sp>
      <p:sp>
        <p:nvSpPr>
          <p:cNvPr id="3" name="Text 1"/>
          <p:cNvSpPr/>
          <p:nvPr/>
        </p:nvSpPr>
        <p:spPr>
          <a:xfrm>
            <a:off x="731520" y="1828800"/>
            <a:ext cx="10698480" cy="1828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縄文土器の3Dスキャンデータからの</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縄目文様の自動計測</a:t>
            </a:r>
            <a:endParaRPr lang="en-US" sz="4000" dirty="0"/>
          </a:p>
        </p:txBody>
      </p:sp>
      <p:sp>
        <p:nvSpPr>
          <p:cNvPr id="4" name="Text 2"/>
          <p:cNvSpPr/>
          <p:nvPr/>
        </p:nvSpPr>
        <p:spPr>
          <a:xfrm>
            <a:off x="731520" y="3749040"/>
            <a:ext cx="10698480" cy="548640"/>
          </a:xfrm>
          <a:prstGeom prst="rect">
            <a:avLst/>
          </a:prstGeom>
          <a:noFill/>
          <a:ln/>
        </p:spPr>
        <p:txBody>
          <a:bodyPr wrap="square" lIns="0" tIns="0" rIns="0" bIns="0" rtlCol="0" anchor="ctr"/>
          <a:lstStyle/>
          <a:p>
            <a:pPr indent="0" marL="0">
              <a:buNone/>
            </a:pPr>
            <a:r>
              <a:rPr lang="en-US" sz="2000" i="1" dirty="0">
                <a:solidFill>
                  <a:srgbClr val="E7E8D1"/>
                </a:solidFill>
                <a:latin typeface="Calibri" pitchFamily="34" charset="0"/>
                <a:ea typeface="Calibri" pitchFamily="34" charset="-122"/>
                <a:cs typeface="Calibri" pitchFamily="34" charset="-120"/>
              </a:rPr>
              <a:t>— 修士研究の紹介と、講義内容を応用した今後の効率化の検討 —</a:t>
            </a:r>
            <a:endParaRPr lang="en-US" sz="2000" dirty="0"/>
          </a:p>
        </p:txBody>
      </p:sp>
      <p:sp>
        <p:nvSpPr>
          <p:cNvPr id="5" name="Text 3"/>
          <p:cNvSpPr/>
          <p:nvPr/>
        </p:nvSpPr>
        <p:spPr>
          <a:xfrm>
            <a:off x="731520" y="5760720"/>
            <a:ext cx="10698480" cy="365760"/>
          </a:xfrm>
          <a:prstGeom prst="rect">
            <a:avLst/>
          </a:prstGeom>
          <a:noFill/>
          <a:ln/>
        </p:spPr>
        <p:txBody>
          <a:bodyPr wrap="square" lIns="0" tIns="0" rIns="0" bIns="0" rtlCol="0" anchor="ctr"/>
          <a:lstStyle/>
          <a:p>
            <a:pPr indent="0" marL="0">
              <a:buNone/>
            </a:pPr>
            <a:r>
              <a:rPr lang="en-US" sz="1400" dirty="0">
                <a:solidFill>
                  <a:srgbClr val="A7BEAE"/>
                </a:solidFill>
                <a:latin typeface="Calibri" pitchFamily="34" charset="0"/>
                <a:ea typeface="Calibri" pitchFamily="34" charset="-122"/>
                <a:cs typeface="Calibri" pitchFamily="34" charset="-120"/>
              </a:rPr>
              <a:t>愛知工業大学大学院</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研究の背景と目的</a:t>
            </a:r>
            <a:endParaRPr lang="en-US" sz="3000" dirty="0"/>
          </a:p>
        </p:txBody>
      </p:sp>
      <p:sp>
        <p:nvSpPr>
          <p:cNvPr id="3" name="Shape 1"/>
          <p:cNvSpPr/>
          <p:nvPr/>
        </p:nvSpPr>
        <p:spPr>
          <a:xfrm>
            <a:off x="548640" y="1325880"/>
            <a:ext cx="6400800" cy="1051560"/>
          </a:xfrm>
          <a:prstGeom prst="roundRect">
            <a:avLst>
              <a:gd name="adj" fmla="val 6957"/>
            </a:avLst>
          </a:prstGeom>
          <a:solidFill>
            <a:srgbClr val="E7E8D1"/>
          </a:solidFill>
          <a:ln/>
        </p:spPr>
      </p:sp>
      <p:sp>
        <p:nvSpPr>
          <p:cNvPr id="4" name="Text 2"/>
          <p:cNvSpPr/>
          <p:nvPr/>
        </p:nvSpPr>
        <p:spPr>
          <a:xfrm>
            <a:off x="777240" y="1417320"/>
            <a:ext cx="18288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背景</a:t>
            </a:r>
            <a:endParaRPr lang="en-US" sz="1600" dirty="0"/>
          </a:p>
        </p:txBody>
      </p:sp>
      <p:sp>
        <p:nvSpPr>
          <p:cNvPr id="5" name="Text 3"/>
          <p:cNvSpPr/>
          <p:nvPr/>
        </p:nvSpPr>
        <p:spPr>
          <a:xfrm>
            <a:off x="777240" y="170992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縄文土器の表面には、縄を転がして付けた「縄目文様」が残る。文様の間隔や縄1回転分の長さは、製作に使われた縄と製作技法を知る考古学的な手がかりとなる。</a:t>
            </a:r>
            <a:endParaRPr lang="en-US" sz="1250" dirty="0"/>
          </a:p>
        </p:txBody>
      </p:sp>
      <p:sp>
        <p:nvSpPr>
          <p:cNvPr id="6" name="Shape 4"/>
          <p:cNvSpPr/>
          <p:nvPr/>
        </p:nvSpPr>
        <p:spPr>
          <a:xfrm>
            <a:off x="548640" y="2560320"/>
            <a:ext cx="6400800" cy="1051560"/>
          </a:xfrm>
          <a:prstGeom prst="roundRect">
            <a:avLst>
              <a:gd name="adj" fmla="val 6957"/>
            </a:avLst>
          </a:prstGeom>
          <a:solidFill>
            <a:srgbClr val="E7E8D1"/>
          </a:solidFill>
          <a:ln/>
        </p:spPr>
      </p:sp>
      <p:sp>
        <p:nvSpPr>
          <p:cNvPr id="7" name="Text 5"/>
          <p:cNvSpPr/>
          <p:nvPr/>
        </p:nvSpPr>
        <p:spPr>
          <a:xfrm>
            <a:off x="777240" y="2651760"/>
            <a:ext cx="18288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課題</a:t>
            </a:r>
            <a:endParaRPr lang="en-US" sz="1600" dirty="0"/>
          </a:p>
        </p:txBody>
      </p:sp>
      <p:sp>
        <p:nvSpPr>
          <p:cNvPr id="8" name="Text 6"/>
          <p:cNvSpPr/>
          <p:nvPr/>
        </p:nvSpPr>
        <p:spPr>
          <a:xfrm>
            <a:off x="777240" y="294436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従来は研究者が目視と手作業で計測してきたため、時間を要するうえ、計測者によって結果が異なり、再現性に乏しい。</a:t>
            </a:r>
            <a:endParaRPr lang="en-US" sz="1250" dirty="0"/>
          </a:p>
        </p:txBody>
      </p:sp>
      <p:sp>
        <p:nvSpPr>
          <p:cNvPr id="9" name="Shape 7"/>
          <p:cNvSpPr/>
          <p:nvPr/>
        </p:nvSpPr>
        <p:spPr>
          <a:xfrm>
            <a:off x="548640" y="3794760"/>
            <a:ext cx="6400800" cy="1051560"/>
          </a:xfrm>
          <a:prstGeom prst="roundRect">
            <a:avLst>
              <a:gd name="adj" fmla="val 6957"/>
            </a:avLst>
          </a:prstGeom>
          <a:solidFill>
            <a:srgbClr val="B85042"/>
          </a:solidFill>
          <a:ln/>
        </p:spPr>
      </p:sp>
      <p:sp>
        <p:nvSpPr>
          <p:cNvPr id="10" name="Text 8"/>
          <p:cNvSpPr/>
          <p:nvPr/>
        </p:nvSpPr>
        <p:spPr>
          <a:xfrm>
            <a:off x="777240" y="3886200"/>
            <a:ext cx="182880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目的</a:t>
            </a:r>
            <a:endParaRPr lang="en-US" sz="1600" dirty="0"/>
          </a:p>
        </p:txBody>
      </p:sp>
      <p:sp>
        <p:nvSpPr>
          <p:cNvPr id="11" name="Text 9"/>
          <p:cNvSpPr/>
          <p:nvPr/>
        </p:nvSpPr>
        <p:spPr>
          <a:xfrm>
            <a:off x="777240" y="4178808"/>
            <a:ext cx="5943600" cy="6400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土器の3Dスキャンデータ（メッシュ）を入力とし、縄目の間隔・向き・縄1回転分の区切り位置を全自動で計測する手法を確立する。</a:t>
            </a:r>
            <a:endParaRPr lang="en-US" sz="1250" dirty="0"/>
          </a:p>
        </p:txBody>
      </p:sp>
      <p:pic>
        <p:nvPicPr>
          <p:cNvPr id="12" name="Image 0" descr="/Users/ryusan/brain/02_Raw/土器1（同巡点）.png">    </p:cNvPr>
          <p:cNvPicPr>
            <a:picLocks noChangeAspect="1"/>
          </p:cNvPicPr>
          <p:nvPr/>
        </p:nvPicPr>
        <p:blipFill>
          <a:blip r:embed="rId1"/>
          <a:stretch>
            <a:fillRect/>
          </a:stretch>
        </p:blipFill>
        <p:spPr>
          <a:xfrm>
            <a:off x="7315200" y="1463040"/>
            <a:ext cx="4297680" cy="2651760"/>
          </a:xfrm>
          <a:prstGeom prst="rect">
            <a:avLst/>
          </a:prstGeom>
        </p:spPr>
      </p:pic>
      <p:sp>
        <p:nvSpPr>
          <p:cNvPr id="13" name="Text 10"/>
          <p:cNvSpPr/>
          <p:nvPr/>
        </p:nvSpPr>
        <p:spPr>
          <a:xfrm>
            <a:off x="7315200" y="4206240"/>
            <a:ext cx="429768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図1: 研究対象の土器片の3Dスキャンデータ</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提案手法の処理の流れ（5段階）</a:t>
            </a:r>
            <a:endParaRPr lang="en-US" sz="3000" dirty="0"/>
          </a:p>
        </p:txBody>
      </p:sp>
      <p:sp>
        <p:nvSpPr>
          <p:cNvPr id="3" name="Shape 1"/>
          <p:cNvSpPr/>
          <p:nvPr/>
        </p:nvSpPr>
        <p:spPr>
          <a:xfrm>
            <a:off x="502920" y="1828800"/>
            <a:ext cx="2103120" cy="2377440"/>
          </a:xfrm>
          <a:prstGeom prst="roundRect">
            <a:avLst>
              <a:gd name="adj" fmla="val 4348"/>
            </a:avLst>
          </a:prstGeom>
          <a:solidFill>
            <a:srgbClr val="E7E8D1"/>
          </a:solidFill>
          <a:ln/>
        </p:spPr>
      </p:sp>
      <p:sp>
        <p:nvSpPr>
          <p:cNvPr id="4" name="Text 2"/>
          <p:cNvSpPr/>
          <p:nvPr/>
        </p:nvSpPr>
        <p:spPr>
          <a:xfrm>
            <a:off x="502920"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M1</a:t>
            </a:r>
            <a:endParaRPr lang="en-US" sz="2200" dirty="0"/>
          </a:p>
        </p:txBody>
      </p:sp>
      <p:sp>
        <p:nvSpPr>
          <p:cNvPr id="5" name="Text 3"/>
          <p:cNvSpPr/>
          <p:nvPr/>
        </p:nvSpPr>
        <p:spPr>
          <a:xfrm>
            <a:off x="502920"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データ読込</a:t>
            </a:r>
            <a:endParaRPr lang="en-US" sz="1400" dirty="0"/>
          </a:p>
        </p:txBody>
      </p:sp>
      <p:sp>
        <p:nvSpPr>
          <p:cNvPr id="6" name="Text 4"/>
          <p:cNvSpPr/>
          <p:nvPr/>
        </p:nvSpPr>
        <p:spPr>
          <a:xfrm>
            <a:off x="594360"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3Dスキャンデータ</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（メッシュ）を読み込む</a:t>
            </a:r>
            <a:endParaRPr lang="en-US" sz="1100" dirty="0"/>
          </a:p>
        </p:txBody>
      </p:sp>
      <p:sp>
        <p:nvSpPr>
          <p:cNvPr id="7" name="Text 5"/>
          <p:cNvSpPr/>
          <p:nvPr/>
        </p:nvSpPr>
        <p:spPr>
          <a:xfrm>
            <a:off x="2569464"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62072" y="1828800"/>
            <a:ext cx="2103120" cy="2377440"/>
          </a:xfrm>
          <a:prstGeom prst="roundRect">
            <a:avLst>
              <a:gd name="adj" fmla="val 4348"/>
            </a:avLst>
          </a:prstGeom>
          <a:solidFill>
            <a:srgbClr val="E7E8D1"/>
          </a:solidFill>
          <a:ln/>
        </p:spPr>
      </p:sp>
      <p:sp>
        <p:nvSpPr>
          <p:cNvPr id="9" name="Text 7"/>
          <p:cNvSpPr/>
          <p:nvPr/>
        </p:nvSpPr>
        <p:spPr>
          <a:xfrm>
            <a:off x="2862072"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M2</a:t>
            </a:r>
            <a:endParaRPr lang="en-US" sz="2200" dirty="0"/>
          </a:p>
        </p:txBody>
      </p:sp>
      <p:sp>
        <p:nvSpPr>
          <p:cNvPr id="10" name="Text 8"/>
          <p:cNvSpPr/>
          <p:nvPr/>
        </p:nvSpPr>
        <p:spPr>
          <a:xfrm>
            <a:off x="2862072"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対象面の抽出</a:t>
            </a:r>
            <a:endParaRPr lang="en-US" sz="1400" dirty="0"/>
          </a:p>
        </p:txBody>
      </p:sp>
      <p:sp>
        <p:nvSpPr>
          <p:cNvPr id="11" name="Text 9"/>
          <p:cNvSpPr/>
          <p:nvPr/>
        </p:nvSpPr>
        <p:spPr>
          <a:xfrm>
            <a:off x="2953512"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縄目文様のある面だけを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選び出す</a:t>
            </a:r>
            <a:endParaRPr lang="en-US" sz="1100" dirty="0"/>
          </a:p>
        </p:txBody>
      </p:sp>
      <p:sp>
        <p:nvSpPr>
          <p:cNvPr id="12" name="Text 10"/>
          <p:cNvSpPr/>
          <p:nvPr/>
        </p:nvSpPr>
        <p:spPr>
          <a:xfrm>
            <a:off x="4928616"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5221224" y="1828800"/>
            <a:ext cx="2103120" cy="2377440"/>
          </a:xfrm>
          <a:prstGeom prst="roundRect">
            <a:avLst>
              <a:gd name="adj" fmla="val 4348"/>
            </a:avLst>
          </a:prstGeom>
          <a:solidFill>
            <a:srgbClr val="E7E8D1"/>
          </a:solidFill>
          <a:ln/>
        </p:spPr>
      </p:sp>
      <p:sp>
        <p:nvSpPr>
          <p:cNvPr id="14" name="Text 12"/>
          <p:cNvSpPr/>
          <p:nvPr/>
        </p:nvSpPr>
        <p:spPr>
          <a:xfrm>
            <a:off x="5221224"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M3</a:t>
            </a:r>
            <a:endParaRPr lang="en-US" sz="2200" dirty="0"/>
          </a:p>
        </p:txBody>
      </p:sp>
      <p:sp>
        <p:nvSpPr>
          <p:cNvPr id="15" name="Text 13"/>
          <p:cNvSpPr/>
          <p:nvPr/>
        </p:nvSpPr>
        <p:spPr>
          <a:xfrm>
            <a:off x="5221224"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2D画像化</a:t>
            </a:r>
            <a:endParaRPr lang="en-US" sz="1400" dirty="0"/>
          </a:p>
        </p:txBody>
      </p:sp>
      <p:sp>
        <p:nvSpPr>
          <p:cNvPr id="16" name="Text 14"/>
          <p:cNvSpPr/>
          <p:nvPr/>
        </p:nvSpPr>
        <p:spPr>
          <a:xfrm>
            <a:off x="5312664"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表面の凹凸を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2次元画像に変換する</a:t>
            </a:r>
            <a:endParaRPr lang="en-US" sz="1100" dirty="0"/>
          </a:p>
        </p:txBody>
      </p:sp>
      <p:sp>
        <p:nvSpPr>
          <p:cNvPr id="17" name="Text 15"/>
          <p:cNvSpPr/>
          <p:nvPr/>
        </p:nvSpPr>
        <p:spPr>
          <a:xfrm>
            <a:off x="7287768"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7580376" y="1828800"/>
            <a:ext cx="2103120" cy="2377440"/>
          </a:xfrm>
          <a:prstGeom prst="roundRect">
            <a:avLst>
              <a:gd name="adj" fmla="val 4348"/>
            </a:avLst>
          </a:prstGeom>
          <a:solidFill>
            <a:srgbClr val="E7E8D1"/>
          </a:solidFill>
          <a:ln/>
        </p:spPr>
      </p:sp>
      <p:sp>
        <p:nvSpPr>
          <p:cNvPr id="19" name="Text 17"/>
          <p:cNvSpPr/>
          <p:nvPr/>
        </p:nvSpPr>
        <p:spPr>
          <a:xfrm>
            <a:off x="7580376"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M4</a:t>
            </a:r>
            <a:endParaRPr lang="en-US" sz="2200" dirty="0"/>
          </a:p>
        </p:txBody>
      </p:sp>
      <p:sp>
        <p:nvSpPr>
          <p:cNvPr id="20" name="Text 18"/>
          <p:cNvSpPr/>
          <p:nvPr/>
        </p:nvSpPr>
        <p:spPr>
          <a:xfrm>
            <a:off x="7580376"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周期の計測</a:t>
            </a:r>
            <a:endParaRPr lang="en-US" sz="1400" dirty="0"/>
          </a:p>
        </p:txBody>
      </p:sp>
      <p:sp>
        <p:nvSpPr>
          <p:cNvPr id="21" name="Text 19"/>
          <p:cNvSpPr/>
          <p:nvPr/>
        </p:nvSpPr>
        <p:spPr>
          <a:xfrm>
            <a:off x="7671816"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文様の繰り返しの</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間隔と向きを計測する</a:t>
            </a:r>
            <a:endParaRPr lang="en-US" sz="1100" dirty="0"/>
          </a:p>
        </p:txBody>
      </p:sp>
      <p:sp>
        <p:nvSpPr>
          <p:cNvPr id="22" name="Text 20"/>
          <p:cNvSpPr/>
          <p:nvPr/>
        </p:nvSpPr>
        <p:spPr>
          <a:xfrm>
            <a:off x="9646920"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939528" y="1828800"/>
            <a:ext cx="2103120" cy="2377440"/>
          </a:xfrm>
          <a:prstGeom prst="roundRect">
            <a:avLst>
              <a:gd name="adj" fmla="val 4348"/>
            </a:avLst>
          </a:prstGeom>
          <a:solidFill>
            <a:srgbClr val="B85042"/>
          </a:solidFill>
          <a:ln/>
        </p:spPr>
      </p:sp>
      <p:sp>
        <p:nvSpPr>
          <p:cNvPr id="24" name="Text 22"/>
          <p:cNvSpPr/>
          <p:nvPr/>
        </p:nvSpPr>
        <p:spPr>
          <a:xfrm>
            <a:off x="9939528" y="1965960"/>
            <a:ext cx="210312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M5</a:t>
            </a:r>
            <a:endParaRPr lang="en-US" sz="2200" dirty="0"/>
          </a:p>
        </p:txBody>
      </p:sp>
      <p:sp>
        <p:nvSpPr>
          <p:cNvPr id="25" name="Text 23"/>
          <p:cNvSpPr/>
          <p:nvPr/>
        </p:nvSpPr>
        <p:spPr>
          <a:xfrm>
            <a:off x="9939528" y="2468880"/>
            <a:ext cx="21031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回転の検出</a:t>
            </a:r>
            <a:endParaRPr lang="en-US" sz="1400" dirty="0"/>
          </a:p>
        </p:txBody>
      </p:sp>
      <p:sp>
        <p:nvSpPr>
          <p:cNvPr id="26" name="Text 24"/>
          <p:cNvSpPr/>
          <p:nvPr/>
        </p:nvSpPr>
        <p:spPr>
          <a:xfrm>
            <a:off x="10030968" y="2880360"/>
            <a:ext cx="1920240" cy="11887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縄1回転分の</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区切り位置を検出する</a:t>
            </a:r>
            <a:endParaRPr lang="en-US" sz="1100" dirty="0"/>
          </a:p>
        </p:txBody>
      </p:sp>
      <p:sp>
        <p:nvSpPr>
          <p:cNvPr id="27" name="Text 25"/>
          <p:cNvSpPr/>
          <p:nvPr/>
        </p:nvSpPr>
        <p:spPr>
          <a:xfrm>
            <a:off x="640080" y="4663440"/>
            <a:ext cx="10972800" cy="128016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3次元の形状 → 2次元の画像 → 1次元の波形へと、段階的に単純なデータへ変換しながら計測する構成。</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全段階を実装済みであり、正解が既知のテストデータで正しく計測できることを確認している。</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本研究の新規性: 縄1回転分の区切り位置の自動検出</a:t>
            </a:r>
            <a:endParaRPr lang="en-US" sz="3000" dirty="0"/>
          </a:p>
        </p:txBody>
      </p:sp>
      <p:sp>
        <p:nvSpPr>
          <p:cNvPr id="3" name="Text 1"/>
          <p:cNvSpPr/>
          <p:nvPr/>
        </p:nvSpPr>
        <p:spPr>
          <a:xfrm>
            <a:off x="548640" y="1371600"/>
            <a:ext cx="6035040" cy="2377440"/>
          </a:xfrm>
          <a:prstGeom prst="rect">
            <a:avLst/>
          </a:prstGeom>
          <a:noFill/>
          <a:ln/>
        </p:spPr>
        <p:txBody>
          <a:bodyPr wrap="square" rtlCol="0" anchor="ctr"/>
          <a:lstStyle/>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縄は1回転するごとに同一の文様を繰り返す。この「同じ文様が再び現れる位置」を自動で検出する。</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画像を少しずつずらして重ね合わせ、最も一致するずらし幅を求めることで、縄1回転分の長さを推定する。</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検出した区切り位置は、元の3Dデータ上の座標として出力する。</a:t>
            </a:r>
            <a:endParaRPr lang="en-US" sz="1450" dirty="0"/>
          </a:p>
          <a:p>
            <a:pPr marL="342900" indent="-342900">
              <a:buSzPct val="100000"/>
              <a:buChar char="•"/>
            </a:pPr>
            <a:r>
              <a:rPr lang="en-US" sz="1450" dirty="0">
                <a:solidFill>
                  <a:srgbClr val="333333"/>
                </a:solidFill>
                <a:latin typeface="Calibri" pitchFamily="34" charset="0"/>
                <a:ea typeface="Calibri" pitchFamily="34" charset="-122"/>
                <a:cs typeface="Calibri" pitchFamily="34" charset="-120"/>
              </a:rPr>
              <a:t>土器表面の曲率には、局所的に平面とみなす近似で対応している。</a:t>
            </a:r>
            <a:endParaRPr lang="en-US" sz="1450" dirty="0"/>
          </a:p>
        </p:txBody>
      </p:sp>
      <p:sp>
        <p:nvSpPr>
          <p:cNvPr id="4" name="Shape 2"/>
          <p:cNvSpPr/>
          <p:nvPr/>
        </p:nvSpPr>
        <p:spPr>
          <a:xfrm>
            <a:off x="548640" y="3931920"/>
            <a:ext cx="6035040" cy="2194560"/>
          </a:xfrm>
          <a:prstGeom prst="roundRect">
            <a:avLst>
              <a:gd name="adj" fmla="val 4167"/>
            </a:avLst>
          </a:prstGeom>
          <a:solidFill>
            <a:srgbClr val="3B2A26"/>
          </a:solidFill>
          <a:ln/>
        </p:spPr>
      </p:sp>
      <p:sp>
        <p:nvSpPr>
          <p:cNvPr id="5" name="Text 3"/>
          <p:cNvSpPr/>
          <p:nvPr/>
        </p:nvSpPr>
        <p:spPr>
          <a:xfrm>
            <a:off x="822960" y="4114800"/>
            <a:ext cx="5486400" cy="365760"/>
          </a:xfrm>
          <a:prstGeom prst="rect">
            <a:avLst/>
          </a:prstGeom>
          <a:noFill/>
          <a:ln/>
        </p:spPr>
        <p:txBody>
          <a:bodyPr wrap="square" lIns="0" tIns="0" rIns="0" bIns="0" rtlCol="0" anchor="ctr"/>
          <a:lstStyle/>
          <a:p>
            <a:pPr indent="0" marL="0">
              <a:buNone/>
            </a:pPr>
            <a:r>
              <a:rPr lang="en-US" sz="1400" b="1" dirty="0">
                <a:solidFill>
                  <a:srgbClr val="E7E8D1"/>
                </a:solidFill>
                <a:latin typeface="Cambria" pitchFamily="34" charset="0"/>
                <a:ea typeface="Cambria" pitchFamily="34" charset="-122"/>
                <a:cs typeface="Cambria" pitchFamily="34" charset="-120"/>
              </a:rPr>
              <a:t>テストデータによる検証結果</a:t>
            </a:r>
            <a:endParaRPr lang="en-US" sz="1400" dirty="0"/>
          </a:p>
        </p:txBody>
      </p:sp>
      <p:sp>
        <p:nvSpPr>
          <p:cNvPr id="6" name="Text 4"/>
          <p:cNvSpPr/>
          <p:nvPr/>
        </p:nvSpPr>
        <p:spPr>
          <a:xfrm>
            <a:off x="822960" y="4572000"/>
            <a:ext cx="5486400" cy="1463040"/>
          </a:xfrm>
          <a:prstGeom prst="rect">
            <a:avLst/>
          </a:prstGeom>
          <a:noFill/>
          <a:ln/>
        </p:spPr>
        <p:txBody>
          <a:bodyPr wrap="square" rtlCol="0" anchor="ctr"/>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既知の正解に対する誤差は 2% 未満</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データの20%が欠損していても精度を維持</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16件のテストすべてに合格</a:t>
            </a:r>
            <a:endParaRPr lang="en-US" sz="1300" dirty="0"/>
          </a:p>
        </p:txBody>
      </p:sp>
      <p:pic>
        <p:nvPicPr>
          <p:cNvPr id="7" name="Image 0" descr="/Users/ryusan/brain/02_Raw/土器3（同巡点）.png">    </p:cNvPr>
          <p:cNvPicPr>
            <a:picLocks noChangeAspect="1"/>
          </p:cNvPicPr>
          <p:nvPr/>
        </p:nvPicPr>
        <p:blipFill>
          <a:blip r:embed="rId1"/>
          <a:stretch>
            <a:fillRect/>
          </a:stretch>
        </p:blipFill>
        <p:spPr>
          <a:xfrm>
            <a:off x="7040880" y="1463040"/>
            <a:ext cx="4572000" cy="3236976"/>
          </a:xfrm>
          <a:prstGeom prst="rect">
            <a:avLst/>
          </a:prstGeom>
        </p:spPr>
      </p:pic>
      <p:sp>
        <p:nvSpPr>
          <p:cNvPr id="8" name="Text 5"/>
          <p:cNvSpPr/>
          <p:nvPr/>
        </p:nvSpPr>
        <p:spPr>
          <a:xfrm>
            <a:off x="7040880" y="4800600"/>
            <a:ext cx="457200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図2: 黒点は目視で付与された「縄1回転分の区切り」の位置</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実データでの計測結果と今後の課題</a:t>
            </a:r>
            <a:endParaRPr lang="en-US" sz="3000" dirty="0"/>
          </a:p>
        </p:txBody>
      </p:sp>
      <p:sp>
        <p:nvSpPr>
          <p:cNvPr id="3" name="Text 1"/>
          <p:cNvSpPr/>
          <p:nvPr/>
        </p:nvSpPr>
        <p:spPr>
          <a:xfrm>
            <a:off x="548640" y="1325880"/>
            <a:ext cx="59436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実際の土器片データでの計測結果の例</a:t>
            </a:r>
            <a:endParaRPr lang="en-US" sz="1600" dirty="0"/>
          </a:p>
        </p:txBody>
      </p:sp>
      <p:sp>
        <p:nvSpPr>
          <p:cNvPr id="4" name="Shape 2"/>
          <p:cNvSpPr/>
          <p:nvPr/>
        </p:nvSpPr>
        <p:spPr>
          <a:xfrm>
            <a:off x="548640" y="1783080"/>
            <a:ext cx="5760720" cy="777240"/>
          </a:xfrm>
          <a:prstGeom prst="roundRect">
            <a:avLst>
              <a:gd name="adj" fmla="val 9412"/>
            </a:avLst>
          </a:prstGeom>
          <a:solidFill>
            <a:srgbClr val="E7E8D1"/>
          </a:solidFill>
          <a:ln/>
        </p:spPr>
      </p:sp>
      <p:sp>
        <p:nvSpPr>
          <p:cNvPr id="5" name="Text 3"/>
          <p:cNvSpPr/>
          <p:nvPr/>
        </p:nvSpPr>
        <p:spPr>
          <a:xfrm>
            <a:off x="822960" y="19659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縄目の間隔</a:t>
            </a:r>
            <a:endParaRPr lang="en-US" sz="1400" dirty="0"/>
          </a:p>
        </p:txBody>
      </p:sp>
      <p:sp>
        <p:nvSpPr>
          <p:cNvPr id="6" name="Text 4"/>
          <p:cNvSpPr/>
          <p:nvPr/>
        </p:nvSpPr>
        <p:spPr>
          <a:xfrm>
            <a:off x="3931920" y="19019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約 3.4 mm</a:t>
            </a:r>
            <a:endParaRPr lang="en-US" sz="2000" dirty="0"/>
          </a:p>
        </p:txBody>
      </p:sp>
      <p:sp>
        <p:nvSpPr>
          <p:cNvPr id="7" name="Shape 5"/>
          <p:cNvSpPr/>
          <p:nvPr/>
        </p:nvSpPr>
        <p:spPr>
          <a:xfrm>
            <a:off x="548640" y="2697480"/>
            <a:ext cx="5760720" cy="777240"/>
          </a:xfrm>
          <a:prstGeom prst="roundRect">
            <a:avLst>
              <a:gd name="adj" fmla="val 9412"/>
            </a:avLst>
          </a:prstGeom>
          <a:solidFill>
            <a:srgbClr val="E7E8D1"/>
          </a:solidFill>
          <a:ln/>
        </p:spPr>
      </p:sp>
      <p:sp>
        <p:nvSpPr>
          <p:cNvPr id="8" name="Text 6"/>
          <p:cNvSpPr/>
          <p:nvPr/>
        </p:nvSpPr>
        <p:spPr>
          <a:xfrm>
            <a:off x="822960" y="28803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縄1回転分の長さ</a:t>
            </a:r>
            <a:endParaRPr lang="en-US" sz="1400" dirty="0"/>
          </a:p>
        </p:txBody>
      </p:sp>
      <p:sp>
        <p:nvSpPr>
          <p:cNvPr id="9" name="Text 7"/>
          <p:cNvSpPr/>
          <p:nvPr/>
        </p:nvSpPr>
        <p:spPr>
          <a:xfrm>
            <a:off x="3931920" y="28163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約 44 mm</a:t>
            </a:r>
            <a:endParaRPr lang="en-US" sz="2000" dirty="0"/>
          </a:p>
        </p:txBody>
      </p:sp>
      <p:sp>
        <p:nvSpPr>
          <p:cNvPr id="10" name="Shape 8"/>
          <p:cNvSpPr/>
          <p:nvPr/>
        </p:nvSpPr>
        <p:spPr>
          <a:xfrm>
            <a:off x="548640" y="3611880"/>
            <a:ext cx="5760720" cy="777240"/>
          </a:xfrm>
          <a:prstGeom prst="roundRect">
            <a:avLst>
              <a:gd name="adj" fmla="val 9412"/>
            </a:avLst>
          </a:prstGeom>
          <a:solidFill>
            <a:srgbClr val="E7E8D1"/>
          </a:solidFill>
          <a:ln/>
        </p:spPr>
      </p:sp>
      <p:sp>
        <p:nvSpPr>
          <p:cNvPr id="11" name="Text 9"/>
          <p:cNvSpPr/>
          <p:nvPr/>
        </p:nvSpPr>
        <p:spPr>
          <a:xfrm>
            <a:off x="822960" y="37947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検出した区切り位置</a:t>
            </a:r>
            <a:endParaRPr lang="en-US" sz="1400" dirty="0"/>
          </a:p>
        </p:txBody>
      </p:sp>
      <p:sp>
        <p:nvSpPr>
          <p:cNvPr id="12" name="Text 10"/>
          <p:cNvSpPr/>
          <p:nvPr/>
        </p:nvSpPr>
        <p:spPr>
          <a:xfrm>
            <a:off x="3931920" y="37307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6 か所</a:t>
            </a:r>
            <a:endParaRPr lang="en-US" sz="2000" dirty="0"/>
          </a:p>
        </p:txBody>
      </p:sp>
      <p:sp>
        <p:nvSpPr>
          <p:cNvPr id="13" name="Text 11"/>
          <p:cNvSpPr/>
          <p:nvPr/>
        </p:nvSpPr>
        <p:spPr>
          <a:xfrm>
            <a:off x="6766560" y="1325880"/>
            <a:ext cx="484632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今後の課題</a:t>
            </a:r>
            <a:endParaRPr lang="en-US" sz="1600" dirty="0"/>
          </a:p>
        </p:txBody>
      </p:sp>
      <p:sp>
        <p:nvSpPr>
          <p:cNvPr id="14" name="Text 12"/>
          <p:cNvSpPr/>
          <p:nvPr/>
        </p:nvSpPr>
        <p:spPr>
          <a:xfrm>
            <a:off x="6766560" y="1783080"/>
            <a:ext cx="4846320" cy="2926080"/>
          </a:xfrm>
          <a:prstGeom prst="rect">
            <a:avLst/>
          </a:prstGeom>
          <a:noFill/>
          <a:ln/>
        </p:spPr>
        <p:txBody>
          <a:bodyPr wrap="square" rtlCol="0" anchor="ctr"/>
          <a:lstStyle/>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実データに対する正解値が未入手のため、計測精度を定量的に評価できていない（現在、指導教員に正解値の計測を依頼中）</a:t>
            </a:r>
            <a:endParaRPr lang="en-US" sz="1350" dirty="0"/>
          </a:p>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計測時のパラメータ（画像の解像度・探索範囲など）を手動で設定しており、自動化が必要</a:t>
            </a:r>
            <a:endParaRPr lang="en-US" sz="1350" dirty="0"/>
          </a:p>
          <a:p>
            <a:pPr marL="342900" indent="-342900">
              <a:buSzPct val="100000"/>
              <a:buChar char="•"/>
            </a:pPr>
            <a:r>
              <a:rPr lang="en-US" sz="1350" dirty="0">
                <a:solidFill>
                  <a:srgbClr val="333333"/>
                </a:solidFill>
                <a:latin typeface="Calibri" pitchFamily="34" charset="0"/>
                <a:ea typeface="Calibri" pitchFamily="34" charset="-122"/>
                <a:cs typeface="Calibri" pitchFamily="34" charset="-120"/>
              </a:rPr>
              <a:t>土器表面の曲率への対応を、より厳密な手法に拡張したい</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効率化の余地 — 大規模なデータと逐次処理</a:t>
            </a:r>
            <a:endParaRPr lang="en-US" sz="3000" dirty="0"/>
          </a:p>
        </p:txBody>
      </p:sp>
      <p:sp>
        <p:nvSpPr>
          <p:cNvPr id="3" name="Shape 1"/>
          <p:cNvSpPr/>
          <p:nvPr/>
        </p:nvSpPr>
        <p:spPr>
          <a:xfrm>
            <a:off x="548640" y="1463040"/>
            <a:ext cx="3566160" cy="2011680"/>
          </a:xfrm>
          <a:prstGeom prst="roundRect">
            <a:avLst>
              <a:gd name="adj" fmla="val 4545"/>
            </a:avLst>
          </a:prstGeom>
          <a:solidFill>
            <a:srgbClr val="E7E8D1"/>
          </a:solidFill>
          <a:ln/>
        </p:spPr>
      </p:sp>
      <p:sp>
        <p:nvSpPr>
          <p:cNvPr id="4" name="Text 2"/>
          <p:cNvSpPr/>
          <p:nvPr/>
        </p:nvSpPr>
        <p:spPr>
          <a:xfrm>
            <a:off x="548640" y="1691640"/>
            <a:ext cx="3566160" cy="1005840"/>
          </a:xfrm>
          <a:prstGeom prst="rect">
            <a:avLst/>
          </a:prstGeom>
          <a:noFill/>
          <a:ln/>
        </p:spPr>
        <p:txBody>
          <a:bodyPr wrap="square" lIns="0" tIns="0" rIns="0" bIns="0" rtlCol="0" anchor="ctr"/>
          <a:lstStyle/>
          <a:p>
            <a:pPr algn="ctr" indent="0" marL="0">
              <a:buNone/>
            </a:pPr>
            <a:r>
              <a:rPr lang="en-US" sz="5400" b="1" dirty="0">
                <a:solidFill>
                  <a:srgbClr val="B85042"/>
                </a:solidFill>
                <a:latin typeface="Cambria" pitchFamily="34" charset="0"/>
                <a:ea typeface="Cambria" pitchFamily="34" charset="-122"/>
                <a:cs typeface="Cambria" pitchFamily="34" charset="-120"/>
              </a:rPr>
              <a:t>741万</a:t>
            </a:r>
            <a:endParaRPr lang="en-US" sz="5400" dirty="0"/>
          </a:p>
        </p:txBody>
      </p:sp>
      <p:sp>
        <p:nvSpPr>
          <p:cNvPr id="5" name="Text 3"/>
          <p:cNvSpPr/>
          <p:nvPr/>
        </p:nvSpPr>
        <p:spPr>
          <a:xfrm>
            <a:off x="5486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土器片1つあたりの頂点数（1点目）</a:t>
            </a:r>
            <a:endParaRPr lang="en-US" sz="1400" dirty="0"/>
          </a:p>
        </p:txBody>
      </p:sp>
      <p:sp>
        <p:nvSpPr>
          <p:cNvPr id="6" name="Shape 4"/>
          <p:cNvSpPr/>
          <p:nvPr/>
        </p:nvSpPr>
        <p:spPr>
          <a:xfrm>
            <a:off x="4434840" y="1463040"/>
            <a:ext cx="3566160" cy="2011680"/>
          </a:xfrm>
          <a:prstGeom prst="roundRect">
            <a:avLst>
              <a:gd name="adj" fmla="val 4545"/>
            </a:avLst>
          </a:prstGeom>
          <a:solidFill>
            <a:srgbClr val="E7E8D1"/>
          </a:solidFill>
          <a:ln/>
        </p:spPr>
      </p:sp>
      <p:sp>
        <p:nvSpPr>
          <p:cNvPr id="7" name="Text 5"/>
          <p:cNvSpPr/>
          <p:nvPr/>
        </p:nvSpPr>
        <p:spPr>
          <a:xfrm>
            <a:off x="4434840" y="1691640"/>
            <a:ext cx="3566160" cy="1005840"/>
          </a:xfrm>
          <a:prstGeom prst="rect">
            <a:avLst/>
          </a:prstGeom>
          <a:noFill/>
          <a:ln/>
        </p:spPr>
        <p:txBody>
          <a:bodyPr wrap="square" lIns="0" tIns="0" rIns="0" bIns="0" rtlCol="0" anchor="ctr"/>
          <a:lstStyle/>
          <a:p>
            <a:pPr algn="ctr" indent="0" marL="0">
              <a:buNone/>
            </a:pPr>
            <a:r>
              <a:rPr lang="en-US" sz="5400" b="1" dirty="0">
                <a:solidFill>
                  <a:srgbClr val="B85042"/>
                </a:solidFill>
                <a:latin typeface="Cambria" pitchFamily="34" charset="0"/>
                <a:ea typeface="Cambria" pitchFamily="34" charset="-122"/>
                <a:cs typeface="Cambria" pitchFamily="34" charset="-120"/>
              </a:rPr>
              <a:t>697万</a:t>
            </a:r>
            <a:endParaRPr lang="en-US" sz="5400" dirty="0"/>
          </a:p>
        </p:txBody>
      </p:sp>
      <p:sp>
        <p:nvSpPr>
          <p:cNvPr id="8" name="Text 6"/>
          <p:cNvSpPr/>
          <p:nvPr/>
        </p:nvSpPr>
        <p:spPr>
          <a:xfrm>
            <a:off x="44348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土器片1つあたりの頂点数（2点目）</a:t>
            </a:r>
            <a:endParaRPr lang="en-US" sz="1400" dirty="0"/>
          </a:p>
        </p:txBody>
      </p:sp>
      <p:sp>
        <p:nvSpPr>
          <p:cNvPr id="9" name="Shape 7"/>
          <p:cNvSpPr/>
          <p:nvPr/>
        </p:nvSpPr>
        <p:spPr>
          <a:xfrm>
            <a:off x="8321040" y="1463040"/>
            <a:ext cx="3566160" cy="2011680"/>
          </a:xfrm>
          <a:prstGeom prst="roundRect">
            <a:avLst>
              <a:gd name="adj" fmla="val 4545"/>
            </a:avLst>
          </a:prstGeom>
          <a:solidFill>
            <a:srgbClr val="E7E8D1"/>
          </a:solidFill>
          <a:ln/>
        </p:spPr>
      </p:sp>
      <p:sp>
        <p:nvSpPr>
          <p:cNvPr id="10" name="Text 8"/>
          <p:cNvSpPr/>
          <p:nvPr/>
        </p:nvSpPr>
        <p:spPr>
          <a:xfrm>
            <a:off x="8321040" y="1691640"/>
            <a:ext cx="3566160" cy="1005840"/>
          </a:xfrm>
          <a:prstGeom prst="rect">
            <a:avLst/>
          </a:prstGeom>
          <a:noFill/>
          <a:ln/>
        </p:spPr>
        <p:txBody>
          <a:bodyPr wrap="square" lIns="0" tIns="0" rIns="0" bIns="0" rtlCol="0" anchor="ctr"/>
          <a:lstStyle/>
          <a:p>
            <a:pPr algn="ctr" indent="0" marL="0">
              <a:buNone/>
            </a:pPr>
            <a:r>
              <a:rPr lang="en-US" sz="4000" b="1" dirty="0">
                <a:solidFill>
                  <a:srgbClr val="A7BEAE"/>
                </a:solidFill>
                <a:latin typeface="Cambria" pitchFamily="34" charset="0"/>
                <a:ea typeface="Cambria" pitchFamily="34" charset="-122"/>
                <a:cs typeface="Cambria" pitchFamily="34" charset="-120"/>
              </a:rPr>
              <a:t>逐次処理</a:t>
            </a:r>
            <a:endParaRPr lang="en-US" sz="4000" dirty="0"/>
          </a:p>
        </p:txBody>
      </p:sp>
      <p:sp>
        <p:nvSpPr>
          <p:cNvPr id="11" name="Text 9"/>
          <p:cNvSpPr/>
          <p:nvPr/>
        </p:nvSpPr>
        <p:spPr>
          <a:xfrm>
            <a:off x="83210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現在は並列化を行っていない</a:t>
            </a:r>
            <a:endParaRPr lang="en-US" sz="1400" dirty="0"/>
          </a:p>
        </p:txBody>
      </p:sp>
      <p:sp>
        <p:nvSpPr>
          <p:cNvPr id="12" name="Text 10"/>
          <p:cNvSpPr/>
          <p:nvPr/>
        </p:nvSpPr>
        <p:spPr>
          <a:xfrm>
            <a:off x="640080" y="3931920"/>
            <a:ext cx="10972800" cy="210312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土器片1つのメッシュは約700万頂点に及ぶ大規模データであり、現在は1台の計算機で逐次的に処理している。</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土器1点の計測であれば現状でも実用的だが、研究は今後「精度検証の大量実行」「多数の土器への適用」の段階に進む。</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したがって、講義で学んだ効率化の考え方が有効になるのはまさにこれからである。次の2枚でその候補を検討する。</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今後効率化が見込める処理（3つの候補）</a:t>
            </a:r>
            <a:endParaRPr lang="en-US" sz="3000" dirty="0"/>
          </a:p>
        </p:txBody>
      </p:sp>
      <p:sp>
        <p:nvSpPr>
          <p:cNvPr id="3" name="Shape 1"/>
          <p:cNvSpPr/>
          <p:nvPr/>
        </p:nvSpPr>
        <p:spPr>
          <a:xfrm>
            <a:off x="548640" y="1691640"/>
            <a:ext cx="685800" cy="685800"/>
          </a:xfrm>
          <a:prstGeom prst="ellipse">
            <a:avLst/>
          </a:prstGeom>
          <a:solidFill>
            <a:srgbClr val="B85042"/>
          </a:solidFill>
          <a:ln/>
        </p:spPr>
      </p:sp>
      <p:sp>
        <p:nvSpPr>
          <p:cNvPr id="4" name="Text 2"/>
          <p:cNvSpPr/>
          <p:nvPr/>
        </p:nvSpPr>
        <p:spPr>
          <a:xfrm>
            <a:off x="548640" y="16916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5" name="Text 3"/>
          <p:cNvSpPr/>
          <p:nvPr/>
        </p:nvSpPr>
        <p:spPr>
          <a:xfrm>
            <a:off x="1508760" y="141732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精度検証実験の並列実行</a:t>
            </a:r>
            <a:endParaRPr lang="en-US" sz="1700" dirty="0"/>
          </a:p>
        </p:txBody>
      </p:sp>
      <p:sp>
        <p:nvSpPr>
          <p:cNvPr id="6" name="Text 4"/>
          <p:cNvSpPr/>
          <p:nvPr/>
        </p:nvSpPr>
        <p:spPr>
          <a:xfrm>
            <a:off x="1508760" y="187452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ノイズや欠損の量を変えたテストデータで、数百回規模の精度検証を行う予定。各条件は互いに独立した計算であるため、第11・12回で学んだ並列化を直接適用できると考えられる。</a:t>
            </a:r>
            <a:endParaRPr lang="en-US" sz="1350" dirty="0"/>
          </a:p>
        </p:txBody>
      </p:sp>
      <p:sp>
        <p:nvSpPr>
          <p:cNvPr id="7" name="Shape 5"/>
          <p:cNvSpPr/>
          <p:nvPr/>
        </p:nvSpPr>
        <p:spPr>
          <a:xfrm>
            <a:off x="548640" y="3337560"/>
            <a:ext cx="685800" cy="685800"/>
          </a:xfrm>
          <a:prstGeom prst="ellipse">
            <a:avLst/>
          </a:prstGeom>
          <a:solidFill>
            <a:srgbClr val="B85042"/>
          </a:solidFill>
          <a:ln/>
        </p:spPr>
      </p:sp>
      <p:sp>
        <p:nvSpPr>
          <p:cNvPr id="8" name="Text 6"/>
          <p:cNvSpPr/>
          <p:nvPr/>
        </p:nvSpPr>
        <p:spPr>
          <a:xfrm>
            <a:off x="548640" y="333756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9" name="Text 7"/>
          <p:cNvSpPr/>
          <p:nvPr/>
        </p:nvSpPr>
        <p:spPr>
          <a:xfrm>
            <a:off x="1508760" y="306324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パラメータの自動チューニング</a:t>
            </a:r>
            <a:endParaRPr lang="en-US" sz="1700" dirty="0"/>
          </a:p>
        </p:txBody>
      </p:sp>
      <p:sp>
        <p:nvSpPr>
          <p:cNvPr id="10" name="Text 8"/>
          <p:cNvSpPr/>
          <p:nvPr/>
        </p:nvSpPr>
        <p:spPr>
          <a:xfrm>
            <a:off x="1508760" y="352044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現在手動で設定しているパラメータ（画像の解像度・探索範囲など）を、第12回で学んだ遺伝的アルゴリズムなどの最適化手法で自動探索させることで、試行錯誤に要する時間を削減できると考えられる。</a:t>
            </a:r>
            <a:endParaRPr lang="en-US" sz="1350" dirty="0"/>
          </a:p>
        </p:txBody>
      </p:sp>
      <p:sp>
        <p:nvSpPr>
          <p:cNvPr id="11" name="Shape 9"/>
          <p:cNvSpPr/>
          <p:nvPr/>
        </p:nvSpPr>
        <p:spPr>
          <a:xfrm>
            <a:off x="548640" y="4983480"/>
            <a:ext cx="685800" cy="685800"/>
          </a:xfrm>
          <a:prstGeom prst="ellipse">
            <a:avLst/>
          </a:prstGeom>
          <a:solidFill>
            <a:srgbClr val="B85042"/>
          </a:solidFill>
          <a:ln/>
        </p:spPr>
      </p:sp>
      <p:sp>
        <p:nvSpPr>
          <p:cNvPr id="12" name="Text 10"/>
          <p:cNvSpPr/>
          <p:nvPr/>
        </p:nvSpPr>
        <p:spPr>
          <a:xfrm>
            <a:off x="548640" y="4983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3" name="Text 11"/>
          <p:cNvSpPr/>
          <p:nvPr/>
        </p:nvSpPr>
        <p:spPr>
          <a:xfrm>
            <a:off x="1508760" y="470916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多数の土器への一括適用</a:t>
            </a:r>
            <a:endParaRPr lang="en-US" sz="1700" dirty="0"/>
          </a:p>
        </p:txBody>
      </p:sp>
      <p:sp>
        <p:nvSpPr>
          <p:cNvPr id="14" name="Text 12"/>
          <p:cNvSpPr/>
          <p:nvPr/>
        </p:nvSpPr>
        <p:spPr>
          <a:xfrm>
            <a:off x="1508760" y="516636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土器ごとの計測処理は独立であるため、数十点規模の適用段階では並列実行が可能。計測値の比較・分析には、講義前半で学んだ統計的手法の適用が見込める。</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並列化の効果の見通し — 第12回の実験結果を踏まえて</a:t>
            </a:r>
            <a:endParaRPr lang="en-US" sz="3000" dirty="0"/>
          </a:p>
        </p:txBody>
      </p:sp>
      <p:sp>
        <p:nvSpPr>
          <p:cNvPr id="3" name="Shape 1"/>
          <p:cNvSpPr/>
          <p:nvPr/>
        </p:nvSpPr>
        <p:spPr>
          <a:xfrm>
            <a:off x="548640" y="1371600"/>
            <a:ext cx="11064240" cy="1463040"/>
          </a:xfrm>
          <a:prstGeom prst="roundRect">
            <a:avLst>
              <a:gd name="adj" fmla="val 6250"/>
            </a:avLst>
          </a:prstGeom>
          <a:solidFill>
            <a:srgbClr val="E7E8D1"/>
          </a:solidFill>
          <a:ln/>
        </p:spPr>
      </p:sp>
      <p:sp>
        <p:nvSpPr>
          <p:cNvPr id="4" name="Text 2"/>
          <p:cNvSpPr/>
          <p:nvPr/>
        </p:nvSpPr>
        <p:spPr>
          <a:xfrm>
            <a:off x="777240" y="148132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第12回の実験で得られた知見</a:t>
            </a:r>
            <a:endParaRPr lang="en-US" sz="1500" dirty="0"/>
          </a:p>
        </p:txBody>
      </p:sp>
      <p:sp>
        <p:nvSpPr>
          <p:cNvPr id="5" name="Text 3"/>
          <p:cNvSpPr/>
          <p:nvPr/>
        </p:nvSpPr>
        <p:spPr>
          <a:xfrm>
            <a:off x="4023360" y="150876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1つあたりの計算が軽い場合、Workerの準備やデータの受け渡しといったオーバーヘッドが上回り、並列化によってかえって処理時間が増加した。</a:t>
            </a:r>
            <a:endParaRPr lang="en-US" sz="1300" dirty="0"/>
          </a:p>
        </p:txBody>
      </p:sp>
      <p:sp>
        <p:nvSpPr>
          <p:cNvPr id="6" name="Shape 4"/>
          <p:cNvSpPr/>
          <p:nvPr/>
        </p:nvSpPr>
        <p:spPr>
          <a:xfrm>
            <a:off x="548640" y="3017520"/>
            <a:ext cx="11064240" cy="1463040"/>
          </a:xfrm>
          <a:prstGeom prst="roundRect">
            <a:avLst>
              <a:gd name="adj" fmla="val 6250"/>
            </a:avLst>
          </a:prstGeom>
          <a:solidFill>
            <a:srgbClr val="E7E8D1"/>
          </a:solidFill>
          <a:ln/>
        </p:spPr>
      </p:sp>
      <p:sp>
        <p:nvSpPr>
          <p:cNvPr id="7" name="Text 5"/>
          <p:cNvSpPr/>
          <p:nvPr/>
        </p:nvSpPr>
        <p:spPr>
          <a:xfrm>
            <a:off x="777240" y="312724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本研究への当てはめ</a:t>
            </a:r>
            <a:endParaRPr lang="en-US" sz="1500" dirty="0"/>
          </a:p>
        </p:txBody>
      </p:sp>
      <p:sp>
        <p:nvSpPr>
          <p:cNvPr id="8" name="Text 6"/>
          <p:cNvSpPr/>
          <p:nvPr/>
        </p:nvSpPr>
        <p:spPr>
          <a:xfrm>
            <a:off x="4023360" y="315468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土器1点の計測や精度検証1回は、数分を要する重い処理である。オーバーヘッドに対して計算本体が十分に重いため、並列化の効果が得られやすい条件だと見込まれる。</a:t>
            </a:r>
            <a:endParaRPr lang="en-US" sz="1300" dirty="0"/>
          </a:p>
        </p:txBody>
      </p:sp>
      <p:sp>
        <p:nvSpPr>
          <p:cNvPr id="9" name="Shape 7"/>
          <p:cNvSpPr/>
          <p:nvPr/>
        </p:nvSpPr>
        <p:spPr>
          <a:xfrm>
            <a:off x="548640" y="4663440"/>
            <a:ext cx="11064240" cy="1463040"/>
          </a:xfrm>
          <a:prstGeom prst="roundRect">
            <a:avLst>
              <a:gd name="adj" fmla="val 6250"/>
            </a:avLst>
          </a:prstGeom>
          <a:solidFill>
            <a:srgbClr val="B85042"/>
          </a:solidFill>
          <a:ln/>
        </p:spPr>
      </p:sp>
      <p:sp>
        <p:nvSpPr>
          <p:cNvPr id="10" name="Text 8"/>
          <p:cNvSpPr/>
          <p:nvPr/>
        </p:nvSpPr>
        <p:spPr>
          <a:xfrm>
            <a:off x="777240" y="4773168"/>
            <a:ext cx="3108960" cy="11887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適用の方針</a:t>
            </a:r>
            <a:endParaRPr lang="en-US" sz="1500" dirty="0"/>
          </a:p>
        </p:txBody>
      </p:sp>
      <p:sp>
        <p:nvSpPr>
          <p:cNvPr id="11" name="Text 9"/>
          <p:cNvSpPr/>
          <p:nvPr/>
        </p:nvSpPr>
        <p:spPr>
          <a:xfrm>
            <a:off x="4023360" y="4800600"/>
            <a:ext cx="7315200" cy="12344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並列化の効果を仮定で判断せず、まず1タスクあたりの処理時間を計測したうえで、並列化する単位を決定する。これが第12回の実験から得た最も重要な知見である。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まとめ</a:t>
            </a:r>
            <a:endParaRPr lang="en-US" sz="3200" dirty="0"/>
          </a:p>
        </p:txBody>
      </p:sp>
      <p:sp>
        <p:nvSpPr>
          <p:cNvPr id="3" name="Text 1"/>
          <p:cNvSpPr/>
          <p:nvPr/>
        </p:nvSpPr>
        <p:spPr>
          <a:xfrm>
            <a:off x="822960" y="1554480"/>
            <a:ext cx="10515600" cy="3657600"/>
          </a:xfrm>
          <a:prstGeom prst="rect">
            <a:avLst/>
          </a:prstGeom>
          <a:noFill/>
          <a:ln/>
        </p:spPr>
        <p:txBody>
          <a:bodyPr wrap="square" rtlCol="0" anchor="ctr"/>
          <a:lstStyle/>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縄文土器の3Dスキャンデータから縄目文様を全自動で計測する手法を開発しており、テストデータでは精度を確認済みである。</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研究は今後「精度検証の大量実行」「パラメータ調整」「多数の土器への適用」の段階に進み、ここに効率化の余地が大きい。</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具体的には、独立した計算の並列実行（第11・12回）と、遺伝的アルゴリズムによるパラメータの自動チューニング（第12回）の適用が見込める。</a:t>
            </a:r>
            <a:endParaRPr lang="en-US" sz="1700" dirty="0"/>
          </a:p>
          <a:p>
            <a:pPr marL="342900" indent="-342900">
              <a:buSzPct val="100000"/>
              <a:buChar char="•"/>
            </a:pPr>
            <a:r>
              <a:rPr lang="en-US" sz="1700" dirty="0">
                <a:solidFill>
                  <a:srgbClr val="E7E8D1"/>
                </a:solidFill>
                <a:latin typeface="Calibri" pitchFamily="34" charset="0"/>
                <a:ea typeface="Calibri" pitchFamily="34" charset="-122"/>
                <a:cs typeface="Calibri" pitchFamily="34" charset="-120"/>
              </a:rPr>
              <a:t>適用にあたっては、1タスクあたりの処理時間を計測したうえで並列化の単位を決定するという、第12回の実験で得た知見に基づいて進める。</a:t>
            </a:r>
            <a:endParaRPr lang="en-US" sz="1700" dirty="0"/>
          </a:p>
        </p:txBody>
      </p:sp>
      <p:sp>
        <p:nvSpPr>
          <p:cNvPr id="4" name="Text 2"/>
          <p:cNvSpPr/>
          <p:nvPr/>
        </p:nvSpPr>
        <p:spPr>
          <a:xfrm>
            <a:off x="731520" y="5669280"/>
            <a:ext cx="10698480" cy="548640"/>
          </a:xfrm>
          <a:prstGeom prst="rect">
            <a:avLst/>
          </a:prstGeom>
          <a:noFill/>
          <a:ln/>
        </p:spPr>
        <p:txBody>
          <a:bodyPr wrap="square" lIns="0" tIns="0" rIns="0" bIns="0" rtlCol="0" anchor="ctr"/>
          <a:lstStyle/>
          <a:p>
            <a:pPr algn="ctr" indent="0" marL="0">
              <a:buNone/>
            </a:pPr>
            <a:r>
              <a:rPr lang="en-US" sz="2000" i="1" dirty="0">
                <a:solidFill>
                  <a:srgbClr val="A7BEAE"/>
                </a:solidFill>
                <a:latin typeface="Cambria" pitchFamily="34" charset="0"/>
                <a:ea typeface="Cambria" pitchFamily="34" charset="-122"/>
                <a:cs typeface="Cambria" pitchFamily="34" charset="-120"/>
              </a:rPr>
              <a:t>ご清聴ありがとうございました</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2026-07-19T08:50:14Z</dcterms:created>
  <dcterms:modified xsi:type="dcterms:W3CDTF">2026-07-19T08:50:14Z</dcterms:modified>
</cp:coreProperties>
</file>