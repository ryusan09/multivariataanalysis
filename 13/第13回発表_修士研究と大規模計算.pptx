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（約30秒）
それでは発表を始めます。私の修士研究のテーマは、縄文土器の3Dスキャンデータから、表面の縄目文様を自動計測することです。
本日は、前半で研究の概要を紹介し、後半で、本講義で学んだ内容を応用して研究のどこを今後効率化できるか、その見通しについて述べます。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（約50秒）
まず研究の背景です。縄文土器の表面には、縄を転がして付けた縄目文様が残っています。右の図が、実際に研究で使用している土器片の3Dスキャンデータです。
この文様の間隔や、縄が1回転する長さは、製作に使われた縄の種類や製作技法を知るための、考古学的に重要な手がかりとなります。
しかし従来は、研究者が目視と手作業で計測してきたため、時間を要するうえ、計測者によって結果が異なり、再現性に乏しいという課題がありました。
そこで本研究では、土器の3Dスキャンデータを入力として、縄目の間隔・向き・縄1回転分の区切り位置を全自動で計測する手法の確立を目的としています。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（約55秒）
提案手法の処理の流れです。5つの段階で構成しています。
まず3Dスキャンデータを読み込み、次に、縄目文様のある面だけを抽出します。第3段階で、その面の凹凸を2次元の画像に変換します。ここまで変換すれば、以降は画像処理の問題として扱えます。
第4段階で文様の繰り返しの間隔と向きを計測し、最後の第5段階で、縄が1回転するごとの区切り位置を検出します。
本手法のポイントは、3次元の複雑な形状をそのまま扱うのではなく、2次元の画像、さらに1次元の波形へと、段階的に単純なデータに変換しながら計測することです。
現在、全段階を実装済みで、正解が既知のテストデータで正しく計測できることを確認しています。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（約50秒）
本研究の新規性にあたるのが、最後の第5段階です。
縄は1回転するごとに同一の文様を繰り返します。右の図の黒い点は、人が目視で付けた「縄1回転分の区切り」の位置で、これを自動で検出することが目標です。
手法の考え方としては、文様の画像を少しずつずらして重ね合わせ、最も一致するずらし幅を求めます。このずらし幅が、ちょうど縄1回転分の長さに対応します。
テストデータによる検証では、既知の正解に対する誤差は2%未満であり、データの20%が欠損していても精度を維持できました。用意した16件のテストすべてに合格しています。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（約45秒）
現状の結果です。実際の土器片データに適用したところ、縄目の間隔が約3.4ミリ、縄1回転分の長さが約44ミリ、区切り位置が6か所、と自動で計測できています。
一方で課題も残っています。最も大きいのは、実データに対する正解値がまだ手元になく、計測精度を定量的に評価できていない点です。現在、指導教員に正解値の計測を依頼しています。
また、計測時のパラメータを手動で設定している点も、今後自動化が必要です。
ここからが後半の本題です。本講義で学んだ内容を応用して、この研究を今後どのように効率化できるか、その見通しを述べます。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（約60秒）
後半として、講義内容を応用した今後の効率化について、簡潔に述べます。
研究は今後、手法の信頼性を示すために、ノイズや欠損の量を変えた数百条件で計測精度を検証する段階に進みます。検証1回に数分を要するため、逐次実行では1日以上かかる見込みです。
ここに並列化を適用します。各条件の検証は互いに独立した計算で、これは第12回の遺伝的アルゴリズムにおける個体評価と同じ構造です。複数のWorkerへ分配して同時に実行することで、実行時間の大幅な短縮が見込めます。
ただし第12回の実験では、計算が軽い場合はオーバーヘッドが上回り、並列化でかえって遅くなることも確認しました。この知見を踏まえ、まず検証1回あたりの処理時間を計測したうえで、並列化の単位とWorker数を決定する方針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（約30秒）
まとめです。本研究では、縄文土器の3Dスキャンデータから縄目文様を全自動で計測する手法を開発しており、テストデータでは精度を確認できています。
今後の課題は、実データでの定量評価と、数百条件におよぶ精度検証実験の実施です。この実験には講義で学んだ並列化を適用し、処理時間を計測したうえで並列化の単位を決めるという第12回の知見に基づいて進めます。
以上で発表を終わります。ご清聴ありがとうございました。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B2A26"/>
        </a:solidFill>
      </p:bgPr>
    </p:bg>
    <p:spTree>
      <p:nvGrpSpPr>
        <p:cNvPr id="1" name=""/>
        <p:cNvGrpSpPr/>
        <p:nvPr/>
      </p:nvGrpSpPr>
      <p:grpSpPr>
        <a:xfrm>
          <a:off x="0" y="0"/>
          <a:ext cx="0" cy="0"/>
          <a:chOff x="0" y="0"/>
          <a:chExt cx="0" cy="0"/>
        </a:xfrm>
      </p:grpSpPr>
      <p:sp>
        <p:nvSpPr>
          <p:cNvPr id="2" name="Text 0"/>
          <p:cNvSpPr/>
          <p:nvPr/>
        </p:nvSpPr>
        <p:spPr>
          <a:xfrm>
            <a:off x="731520" y="1188720"/>
            <a:ext cx="10698480" cy="457200"/>
          </a:xfrm>
          <a:prstGeom prst="rect">
            <a:avLst/>
          </a:prstGeom>
          <a:noFill/>
          <a:ln/>
        </p:spPr>
        <p:txBody>
          <a:bodyPr wrap="square" lIns="0" tIns="0" rIns="0" bIns="0" rtlCol="0" anchor="ctr"/>
          <a:lstStyle/>
          <a:p>
            <a:pPr indent="0" marL="0">
              <a:buNone/>
            </a:pPr>
            <a:r>
              <a:rPr lang="en-US" sz="1600" dirty="0">
                <a:solidFill>
                  <a:srgbClr val="A7BEAE"/>
                </a:solidFill>
                <a:latin typeface="Calibri" pitchFamily="34" charset="0"/>
                <a:ea typeface="Calibri" pitchFamily="34" charset="-122"/>
                <a:cs typeface="Calibri" pitchFamily="34" charset="-120"/>
              </a:rPr>
              <a:t>多変量解析及び大規模計算論  第13回発表</a:t>
            </a:r>
            <a:endParaRPr lang="en-US" sz="1600" dirty="0"/>
          </a:p>
        </p:txBody>
      </p:sp>
      <p:sp>
        <p:nvSpPr>
          <p:cNvPr id="3" name="Text 1"/>
          <p:cNvSpPr/>
          <p:nvPr/>
        </p:nvSpPr>
        <p:spPr>
          <a:xfrm>
            <a:off x="731520" y="1828800"/>
            <a:ext cx="10698480" cy="1828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縄文土器の3Dスキャンデータからの</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縄目文様の自動計測</a:t>
            </a:r>
            <a:endParaRPr lang="en-US" sz="4000" dirty="0"/>
          </a:p>
        </p:txBody>
      </p:sp>
      <p:sp>
        <p:nvSpPr>
          <p:cNvPr id="4" name="Text 2"/>
          <p:cNvSpPr/>
          <p:nvPr/>
        </p:nvSpPr>
        <p:spPr>
          <a:xfrm>
            <a:off x="731520" y="3749040"/>
            <a:ext cx="10698480" cy="548640"/>
          </a:xfrm>
          <a:prstGeom prst="rect">
            <a:avLst/>
          </a:prstGeom>
          <a:noFill/>
          <a:ln/>
        </p:spPr>
        <p:txBody>
          <a:bodyPr wrap="square" lIns="0" tIns="0" rIns="0" bIns="0" rtlCol="0" anchor="ctr"/>
          <a:lstStyle/>
          <a:p>
            <a:pPr indent="0" marL="0">
              <a:buNone/>
            </a:pPr>
            <a:r>
              <a:rPr lang="en-US" sz="2000" i="1" dirty="0">
                <a:solidFill>
                  <a:srgbClr val="E7E8D1"/>
                </a:solidFill>
                <a:latin typeface="Calibri" pitchFamily="34" charset="0"/>
                <a:ea typeface="Calibri" pitchFamily="34" charset="-122"/>
                <a:cs typeface="Calibri" pitchFamily="34" charset="-120"/>
              </a:rPr>
              <a:t>— 修士研究の紹介と、講義内容を応用した今後の効率化の検討 —</a:t>
            </a:r>
            <a:endParaRPr lang="en-US" sz="2000" dirty="0"/>
          </a:p>
        </p:txBody>
      </p:sp>
      <p:sp>
        <p:nvSpPr>
          <p:cNvPr id="5" name="Text 3"/>
          <p:cNvSpPr/>
          <p:nvPr/>
        </p:nvSpPr>
        <p:spPr>
          <a:xfrm>
            <a:off x="731520" y="5760720"/>
            <a:ext cx="10698480" cy="365760"/>
          </a:xfrm>
          <a:prstGeom prst="rect">
            <a:avLst/>
          </a:prstGeom>
          <a:noFill/>
          <a:ln/>
        </p:spPr>
        <p:txBody>
          <a:bodyPr wrap="square" lIns="0" tIns="0" rIns="0" bIns="0" rtlCol="0" anchor="ctr"/>
          <a:lstStyle/>
          <a:p>
            <a:pPr indent="0" marL="0">
              <a:buNone/>
            </a:pPr>
            <a:r>
              <a:rPr lang="en-US" sz="1400" dirty="0">
                <a:solidFill>
                  <a:srgbClr val="A7BEAE"/>
                </a:solidFill>
                <a:latin typeface="Calibri" pitchFamily="34" charset="0"/>
                <a:ea typeface="Calibri" pitchFamily="34" charset="-122"/>
                <a:cs typeface="Calibri" pitchFamily="34" charset="-120"/>
              </a:rPr>
              <a:t>愛知工業大学大学院</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研究の背景と目的</a:t>
            </a:r>
            <a:endParaRPr lang="en-US" sz="3000" dirty="0"/>
          </a:p>
        </p:txBody>
      </p:sp>
      <p:sp>
        <p:nvSpPr>
          <p:cNvPr id="3" name="Shape 1"/>
          <p:cNvSpPr/>
          <p:nvPr/>
        </p:nvSpPr>
        <p:spPr>
          <a:xfrm>
            <a:off x="548640" y="1325880"/>
            <a:ext cx="6400800" cy="1051560"/>
          </a:xfrm>
          <a:prstGeom prst="roundRect">
            <a:avLst>
              <a:gd name="adj" fmla="val 6957"/>
            </a:avLst>
          </a:prstGeom>
          <a:solidFill>
            <a:srgbClr val="E7E8D1"/>
          </a:solidFill>
          <a:ln/>
        </p:spPr>
      </p:sp>
      <p:sp>
        <p:nvSpPr>
          <p:cNvPr id="4" name="Text 2"/>
          <p:cNvSpPr/>
          <p:nvPr/>
        </p:nvSpPr>
        <p:spPr>
          <a:xfrm>
            <a:off x="777240" y="1417320"/>
            <a:ext cx="182880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背景</a:t>
            </a:r>
            <a:endParaRPr lang="en-US" sz="1600" dirty="0"/>
          </a:p>
        </p:txBody>
      </p:sp>
      <p:sp>
        <p:nvSpPr>
          <p:cNvPr id="5" name="Text 3"/>
          <p:cNvSpPr/>
          <p:nvPr/>
        </p:nvSpPr>
        <p:spPr>
          <a:xfrm>
            <a:off x="777240" y="1709928"/>
            <a:ext cx="5943600" cy="64008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縄文土器の表面には、縄を転がして付けた「縄目文様」が残る。文様の間隔や縄1回転分の長さは、製作に使われた縄と製作技法を知る考古学的な手がかりとなる。</a:t>
            </a:r>
            <a:endParaRPr lang="en-US" sz="1250" dirty="0"/>
          </a:p>
        </p:txBody>
      </p:sp>
      <p:sp>
        <p:nvSpPr>
          <p:cNvPr id="6" name="Shape 4"/>
          <p:cNvSpPr/>
          <p:nvPr/>
        </p:nvSpPr>
        <p:spPr>
          <a:xfrm>
            <a:off x="548640" y="2560320"/>
            <a:ext cx="6400800" cy="1051560"/>
          </a:xfrm>
          <a:prstGeom prst="roundRect">
            <a:avLst>
              <a:gd name="adj" fmla="val 6957"/>
            </a:avLst>
          </a:prstGeom>
          <a:solidFill>
            <a:srgbClr val="E7E8D1"/>
          </a:solidFill>
          <a:ln/>
        </p:spPr>
      </p:sp>
      <p:sp>
        <p:nvSpPr>
          <p:cNvPr id="7" name="Text 5"/>
          <p:cNvSpPr/>
          <p:nvPr/>
        </p:nvSpPr>
        <p:spPr>
          <a:xfrm>
            <a:off x="777240" y="2651760"/>
            <a:ext cx="182880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課題</a:t>
            </a:r>
            <a:endParaRPr lang="en-US" sz="1600" dirty="0"/>
          </a:p>
        </p:txBody>
      </p:sp>
      <p:sp>
        <p:nvSpPr>
          <p:cNvPr id="8" name="Text 6"/>
          <p:cNvSpPr/>
          <p:nvPr/>
        </p:nvSpPr>
        <p:spPr>
          <a:xfrm>
            <a:off x="777240" y="2944368"/>
            <a:ext cx="5943600" cy="64008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従来は研究者が目視と手作業で計測してきたため、時間を要するうえ、計測者によって結果が異なり、再現性に乏しい。</a:t>
            </a:r>
            <a:endParaRPr lang="en-US" sz="1250" dirty="0"/>
          </a:p>
        </p:txBody>
      </p:sp>
      <p:sp>
        <p:nvSpPr>
          <p:cNvPr id="9" name="Shape 7"/>
          <p:cNvSpPr/>
          <p:nvPr/>
        </p:nvSpPr>
        <p:spPr>
          <a:xfrm>
            <a:off x="548640" y="3794760"/>
            <a:ext cx="6400800" cy="1051560"/>
          </a:xfrm>
          <a:prstGeom prst="roundRect">
            <a:avLst>
              <a:gd name="adj" fmla="val 6957"/>
            </a:avLst>
          </a:prstGeom>
          <a:solidFill>
            <a:srgbClr val="B85042"/>
          </a:solidFill>
          <a:ln/>
        </p:spPr>
      </p:sp>
      <p:sp>
        <p:nvSpPr>
          <p:cNvPr id="10" name="Text 8"/>
          <p:cNvSpPr/>
          <p:nvPr/>
        </p:nvSpPr>
        <p:spPr>
          <a:xfrm>
            <a:off x="777240" y="3886200"/>
            <a:ext cx="182880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目的</a:t>
            </a:r>
            <a:endParaRPr lang="en-US" sz="1600" dirty="0"/>
          </a:p>
        </p:txBody>
      </p:sp>
      <p:sp>
        <p:nvSpPr>
          <p:cNvPr id="11" name="Text 9"/>
          <p:cNvSpPr/>
          <p:nvPr/>
        </p:nvSpPr>
        <p:spPr>
          <a:xfrm>
            <a:off x="777240" y="4178808"/>
            <a:ext cx="5943600" cy="64008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土器の3Dスキャンデータ（メッシュ）を入力とし、縄目の間隔・向き・縄1回転分の区切り位置を全自動で計測する手法を確立する。</a:t>
            </a:r>
            <a:endParaRPr lang="en-US" sz="1250" dirty="0"/>
          </a:p>
        </p:txBody>
      </p:sp>
      <p:pic>
        <p:nvPicPr>
          <p:cNvPr id="12" name="Image 0" descr="/Users/ryusan/brain/02_Raw/土器1（同巡点）.png">    </p:cNvPr>
          <p:cNvPicPr>
            <a:picLocks noChangeAspect="1"/>
          </p:cNvPicPr>
          <p:nvPr/>
        </p:nvPicPr>
        <p:blipFill>
          <a:blip r:embed="rId1"/>
          <a:stretch>
            <a:fillRect/>
          </a:stretch>
        </p:blipFill>
        <p:spPr>
          <a:xfrm>
            <a:off x="7315200" y="1463040"/>
            <a:ext cx="4297680" cy="2651760"/>
          </a:xfrm>
          <a:prstGeom prst="rect">
            <a:avLst/>
          </a:prstGeom>
        </p:spPr>
      </p:pic>
      <p:sp>
        <p:nvSpPr>
          <p:cNvPr id="13" name="Text 10"/>
          <p:cNvSpPr/>
          <p:nvPr/>
        </p:nvSpPr>
        <p:spPr>
          <a:xfrm>
            <a:off x="7315200" y="4206240"/>
            <a:ext cx="4297680" cy="320040"/>
          </a:xfrm>
          <a:prstGeom prst="rect">
            <a:avLst/>
          </a:prstGeom>
          <a:noFill/>
          <a:ln/>
        </p:spPr>
        <p:txBody>
          <a:bodyPr wrap="square" lIns="0" tIns="0" rIns="0" bIns="0" rtlCol="0" anchor="ctr"/>
          <a:lstStyle/>
          <a:p>
            <a:pPr indent="0" marL="0">
              <a:buNone/>
            </a:pPr>
            <a:r>
              <a:rPr lang="en-US" sz="1100" dirty="0">
                <a:solidFill>
                  <a:srgbClr val="7A6A62"/>
                </a:solidFill>
                <a:latin typeface="Calibri" pitchFamily="34" charset="0"/>
                <a:ea typeface="Calibri" pitchFamily="34" charset="-122"/>
                <a:cs typeface="Calibri" pitchFamily="34" charset="-120"/>
              </a:rPr>
              <a:t>図1: 研究対象の土器片の3Dスキャンデータ</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提案手法の処理の流れ（5段階）</a:t>
            </a:r>
            <a:endParaRPr lang="en-US" sz="3000" dirty="0"/>
          </a:p>
        </p:txBody>
      </p:sp>
      <p:sp>
        <p:nvSpPr>
          <p:cNvPr id="3" name="Shape 1"/>
          <p:cNvSpPr/>
          <p:nvPr/>
        </p:nvSpPr>
        <p:spPr>
          <a:xfrm>
            <a:off x="502920" y="1828800"/>
            <a:ext cx="2103120" cy="2377440"/>
          </a:xfrm>
          <a:prstGeom prst="roundRect">
            <a:avLst>
              <a:gd name="adj" fmla="val 4348"/>
            </a:avLst>
          </a:prstGeom>
          <a:solidFill>
            <a:srgbClr val="E7E8D1"/>
          </a:solidFill>
          <a:ln/>
        </p:spPr>
      </p:sp>
      <p:sp>
        <p:nvSpPr>
          <p:cNvPr id="4" name="Text 2"/>
          <p:cNvSpPr/>
          <p:nvPr/>
        </p:nvSpPr>
        <p:spPr>
          <a:xfrm>
            <a:off x="502920"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M1</a:t>
            </a:r>
            <a:endParaRPr lang="en-US" sz="2200" dirty="0"/>
          </a:p>
        </p:txBody>
      </p:sp>
      <p:sp>
        <p:nvSpPr>
          <p:cNvPr id="5" name="Text 3"/>
          <p:cNvSpPr/>
          <p:nvPr/>
        </p:nvSpPr>
        <p:spPr>
          <a:xfrm>
            <a:off x="502920"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データ読込</a:t>
            </a:r>
            <a:endParaRPr lang="en-US" sz="1400" dirty="0"/>
          </a:p>
        </p:txBody>
      </p:sp>
      <p:sp>
        <p:nvSpPr>
          <p:cNvPr id="6" name="Text 4"/>
          <p:cNvSpPr/>
          <p:nvPr/>
        </p:nvSpPr>
        <p:spPr>
          <a:xfrm>
            <a:off x="594360"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3Dスキャンデータ</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（メッシュ）を読み込む</a:t>
            </a:r>
            <a:endParaRPr lang="en-US" sz="1100" dirty="0"/>
          </a:p>
        </p:txBody>
      </p:sp>
      <p:sp>
        <p:nvSpPr>
          <p:cNvPr id="7" name="Text 5"/>
          <p:cNvSpPr/>
          <p:nvPr/>
        </p:nvSpPr>
        <p:spPr>
          <a:xfrm>
            <a:off x="2569464"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2862072" y="1828800"/>
            <a:ext cx="2103120" cy="2377440"/>
          </a:xfrm>
          <a:prstGeom prst="roundRect">
            <a:avLst>
              <a:gd name="adj" fmla="val 4348"/>
            </a:avLst>
          </a:prstGeom>
          <a:solidFill>
            <a:srgbClr val="E7E8D1"/>
          </a:solidFill>
          <a:ln/>
        </p:spPr>
      </p:sp>
      <p:sp>
        <p:nvSpPr>
          <p:cNvPr id="9" name="Text 7"/>
          <p:cNvSpPr/>
          <p:nvPr/>
        </p:nvSpPr>
        <p:spPr>
          <a:xfrm>
            <a:off x="2862072"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M2</a:t>
            </a:r>
            <a:endParaRPr lang="en-US" sz="2200" dirty="0"/>
          </a:p>
        </p:txBody>
      </p:sp>
      <p:sp>
        <p:nvSpPr>
          <p:cNvPr id="10" name="Text 8"/>
          <p:cNvSpPr/>
          <p:nvPr/>
        </p:nvSpPr>
        <p:spPr>
          <a:xfrm>
            <a:off x="2862072"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対象面の抽出</a:t>
            </a:r>
            <a:endParaRPr lang="en-US" sz="1400" dirty="0"/>
          </a:p>
        </p:txBody>
      </p:sp>
      <p:sp>
        <p:nvSpPr>
          <p:cNvPr id="11" name="Text 9"/>
          <p:cNvSpPr/>
          <p:nvPr/>
        </p:nvSpPr>
        <p:spPr>
          <a:xfrm>
            <a:off x="2953512"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縄目文様のある面だけを</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選び出す</a:t>
            </a:r>
            <a:endParaRPr lang="en-US" sz="1100" dirty="0"/>
          </a:p>
        </p:txBody>
      </p:sp>
      <p:sp>
        <p:nvSpPr>
          <p:cNvPr id="12" name="Text 10"/>
          <p:cNvSpPr/>
          <p:nvPr/>
        </p:nvSpPr>
        <p:spPr>
          <a:xfrm>
            <a:off x="4928616"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13" name="Shape 11"/>
          <p:cNvSpPr/>
          <p:nvPr/>
        </p:nvSpPr>
        <p:spPr>
          <a:xfrm>
            <a:off x="5221224" y="1828800"/>
            <a:ext cx="2103120" cy="2377440"/>
          </a:xfrm>
          <a:prstGeom prst="roundRect">
            <a:avLst>
              <a:gd name="adj" fmla="val 4348"/>
            </a:avLst>
          </a:prstGeom>
          <a:solidFill>
            <a:srgbClr val="E7E8D1"/>
          </a:solidFill>
          <a:ln/>
        </p:spPr>
      </p:sp>
      <p:sp>
        <p:nvSpPr>
          <p:cNvPr id="14" name="Text 12"/>
          <p:cNvSpPr/>
          <p:nvPr/>
        </p:nvSpPr>
        <p:spPr>
          <a:xfrm>
            <a:off x="5221224"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M3</a:t>
            </a:r>
            <a:endParaRPr lang="en-US" sz="2200" dirty="0"/>
          </a:p>
        </p:txBody>
      </p:sp>
      <p:sp>
        <p:nvSpPr>
          <p:cNvPr id="15" name="Text 13"/>
          <p:cNvSpPr/>
          <p:nvPr/>
        </p:nvSpPr>
        <p:spPr>
          <a:xfrm>
            <a:off x="5221224"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2D画像化</a:t>
            </a:r>
            <a:endParaRPr lang="en-US" sz="1400" dirty="0"/>
          </a:p>
        </p:txBody>
      </p:sp>
      <p:sp>
        <p:nvSpPr>
          <p:cNvPr id="16" name="Text 14"/>
          <p:cNvSpPr/>
          <p:nvPr/>
        </p:nvSpPr>
        <p:spPr>
          <a:xfrm>
            <a:off x="5312664"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表面の凹凸を</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2次元画像に変換する</a:t>
            </a:r>
            <a:endParaRPr lang="en-US" sz="1100" dirty="0"/>
          </a:p>
        </p:txBody>
      </p:sp>
      <p:sp>
        <p:nvSpPr>
          <p:cNvPr id="17" name="Text 15"/>
          <p:cNvSpPr/>
          <p:nvPr/>
        </p:nvSpPr>
        <p:spPr>
          <a:xfrm>
            <a:off x="7287768"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7580376" y="1828800"/>
            <a:ext cx="2103120" cy="2377440"/>
          </a:xfrm>
          <a:prstGeom prst="roundRect">
            <a:avLst>
              <a:gd name="adj" fmla="val 4348"/>
            </a:avLst>
          </a:prstGeom>
          <a:solidFill>
            <a:srgbClr val="E7E8D1"/>
          </a:solidFill>
          <a:ln/>
        </p:spPr>
      </p:sp>
      <p:sp>
        <p:nvSpPr>
          <p:cNvPr id="19" name="Text 17"/>
          <p:cNvSpPr/>
          <p:nvPr/>
        </p:nvSpPr>
        <p:spPr>
          <a:xfrm>
            <a:off x="7580376"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M4</a:t>
            </a:r>
            <a:endParaRPr lang="en-US" sz="2200" dirty="0"/>
          </a:p>
        </p:txBody>
      </p:sp>
      <p:sp>
        <p:nvSpPr>
          <p:cNvPr id="20" name="Text 18"/>
          <p:cNvSpPr/>
          <p:nvPr/>
        </p:nvSpPr>
        <p:spPr>
          <a:xfrm>
            <a:off x="7580376"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周期の計測</a:t>
            </a:r>
            <a:endParaRPr lang="en-US" sz="1400" dirty="0"/>
          </a:p>
        </p:txBody>
      </p:sp>
      <p:sp>
        <p:nvSpPr>
          <p:cNvPr id="21" name="Text 19"/>
          <p:cNvSpPr/>
          <p:nvPr/>
        </p:nvSpPr>
        <p:spPr>
          <a:xfrm>
            <a:off x="7671816"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文様の繰り返しの</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間隔と向きを計測する</a:t>
            </a:r>
            <a:endParaRPr lang="en-US" sz="1100" dirty="0"/>
          </a:p>
        </p:txBody>
      </p:sp>
      <p:sp>
        <p:nvSpPr>
          <p:cNvPr id="22" name="Text 20"/>
          <p:cNvSpPr/>
          <p:nvPr/>
        </p:nvSpPr>
        <p:spPr>
          <a:xfrm>
            <a:off x="9646920"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939528" y="1828800"/>
            <a:ext cx="2103120" cy="2377440"/>
          </a:xfrm>
          <a:prstGeom prst="roundRect">
            <a:avLst>
              <a:gd name="adj" fmla="val 4348"/>
            </a:avLst>
          </a:prstGeom>
          <a:solidFill>
            <a:srgbClr val="B85042"/>
          </a:solidFill>
          <a:ln/>
        </p:spPr>
      </p:sp>
      <p:sp>
        <p:nvSpPr>
          <p:cNvPr id="24" name="Text 22"/>
          <p:cNvSpPr/>
          <p:nvPr/>
        </p:nvSpPr>
        <p:spPr>
          <a:xfrm>
            <a:off x="9939528" y="1965960"/>
            <a:ext cx="210312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M5</a:t>
            </a:r>
            <a:endParaRPr lang="en-US" sz="2200" dirty="0"/>
          </a:p>
        </p:txBody>
      </p:sp>
      <p:sp>
        <p:nvSpPr>
          <p:cNvPr id="25" name="Text 23"/>
          <p:cNvSpPr/>
          <p:nvPr/>
        </p:nvSpPr>
        <p:spPr>
          <a:xfrm>
            <a:off x="9939528" y="2468880"/>
            <a:ext cx="21031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回転の検出</a:t>
            </a:r>
            <a:endParaRPr lang="en-US" sz="1400" dirty="0"/>
          </a:p>
        </p:txBody>
      </p:sp>
      <p:sp>
        <p:nvSpPr>
          <p:cNvPr id="26" name="Text 24"/>
          <p:cNvSpPr/>
          <p:nvPr/>
        </p:nvSpPr>
        <p:spPr>
          <a:xfrm>
            <a:off x="10030968" y="2880360"/>
            <a:ext cx="1920240" cy="118872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縄1回転分の</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区切り位置を検出する</a:t>
            </a:r>
            <a:endParaRPr lang="en-US" sz="1100" dirty="0"/>
          </a:p>
        </p:txBody>
      </p:sp>
      <p:sp>
        <p:nvSpPr>
          <p:cNvPr id="27" name="Text 25"/>
          <p:cNvSpPr/>
          <p:nvPr/>
        </p:nvSpPr>
        <p:spPr>
          <a:xfrm>
            <a:off x="640080" y="4663440"/>
            <a:ext cx="10972800" cy="1280160"/>
          </a:xfrm>
          <a:prstGeom prst="rect">
            <a:avLst/>
          </a:prstGeom>
          <a:noFill/>
          <a:ln/>
        </p:spPr>
        <p:txBody>
          <a:bodyPr wrap="square" rtlCol="0" anchor="ctr"/>
          <a:lstStyle/>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3次元の形状 → 2次元の画像 → 1次元の波形へと、段階的に単純なデータへ変換しながら計測する構成。</a:t>
            </a:r>
            <a:endParaRPr lang="en-US" sz="1500" dirty="0"/>
          </a:p>
          <a:p>
            <a:pPr marL="342900" indent="-342900">
              <a:buSzPct val="100000"/>
              <a:buChar char="•"/>
            </a:pPr>
            <a:r>
              <a:rPr lang="en-US" sz="1500" dirty="0">
                <a:solidFill>
                  <a:srgbClr val="333333"/>
                </a:solidFill>
                <a:latin typeface="Calibri" pitchFamily="34" charset="0"/>
                <a:ea typeface="Calibri" pitchFamily="34" charset="-122"/>
                <a:cs typeface="Calibri" pitchFamily="34" charset="-120"/>
              </a:rPr>
              <a:t>全段階を実装済みであり、正解が既知のテストデータで正しく計測できることを確認している。</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本研究の新規性: 縄1回転分の区切り位置の自動検出</a:t>
            </a:r>
            <a:endParaRPr lang="en-US" sz="3000" dirty="0"/>
          </a:p>
        </p:txBody>
      </p:sp>
      <p:sp>
        <p:nvSpPr>
          <p:cNvPr id="3" name="Text 1"/>
          <p:cNvSpPr/>
          <p:nvPr/>
        </p:nvSpPr>
        <p:spPr>
          <a:xfrm>
            <a:off x="548640" y="1371600"/>
            <a:ext cx="6035040" cy="2377440"/>
          </a:xfrm>
          <a:prstGeom prst="rect">
            <a:avLst/>
          </a:prstGeom>
          <a:noFill/>
          <a:ln/>
        </p:spPr>
        <p:txBody>
          <a:bodyPr wrap="square" rtlCol="0" anchor="ctr"/>
          <a:lstStyle/>
          <a:p>
            <a:pPr marL="342900" indent="-342900">
              <a:spcAft>
                <a:spcPts val="800"/>
              </a:spcAft>
              <a:buSzPct val="100000"/>
              <a:buChar char="•"/>
            </a:pPr>
            <a:r>
              <a:rPr lang="en-US" sz="1450" dirty="0">
                <a:solidFill>
                  <a:srgbClr val="333333"/>
                </a:solidFill>
                <a:latin typeface="Calibri" pitchFamily="34" charset="0"/>
                <a:ea typeface="Calibri" pitchFamily="34" charset="-122"/>
                <a:cs typeface="Calibri" pitchFamily="34" charset="-120"/>
              </a:rPr>
              <a:t>縄は1回転するごとに同一の文様を繰り返す。この「同じ文様が再び現れる位置」を自動で検出する。</a:t>
            </a:r>
            <a:endParaRPr lang="en-US" sz="1450" dirty="0"/>
          </a:p>
          <a:p>
            <a:pPr marL="342900" indent="-342900">
              <a:spcAft>
                <a:spcPts val="800"/>
              </a:spcAft>
              <a:buSzPct val="100000"/>
              <a:buChar char="•"/>
            </a:pPr>
            <a:r>
              <a:rPr lang="en-US" sz="1450" dirty="0">
                <a:solidFill>
                  <a:srgbClr val="333333"/>
                </a:solidFill>
                <a:latin typeface="Calibri" pitchFamily="34" charset="0"/>
                <a:ea typeface="Calibri" pitchFamily="34" charset="-122"/>
                <a:cs typeface="Calibri" pitchFamily="34" charset="-120"/>
              </a:rPr>
              <a:t>画像を少しずつずらして重ね合わせ、最も一致するずらし幅を求めることで、縄1回転分の長さを推定する。</a:t>
            </a:r>
            <a:endParaRPr lang="en-US" sz="1450" dirty="0"/>
          </a:p>
          <a:p>
            <a:pPr marL="342900" indent="-342900">
              <a:spcAft>
                <a:spcPts val="800"/>
              </a:spcAft>
              <a:buSzPct val="100000"/>
              <a:buChar char="•"/>
            </a:pPr>
            <a:r>
              <a:rPr lang="en-US" sz="1450" dirty="0">
                <a:solidFill>
                  <a:srgbClr val="333333"/>
                </a:solidFill>
                <a:latin typeface="Calibri" pitchFamily="34" charset="0"/>
                <a:ea typeface="Calibri" pitchFamily="34" charset="-122"/>
                <a:cs typeface="Calibri" pitchFamily="34" charset="-120"/>
              </a:rPr>
              <a:t>検出した区切り位置は、元の3Dデータ上の座標として出力する。</a:t>
            </a:r>
            <a:endParaRPr lang="en-US" sz="1450" dirty="0"/>
          </a:p>
          <a:p>
            <a:pPr marL="342900" indent="-342900">
              <a:buSzPct val="100000"/>
              <a:buChar char="•"/>
            </a:pPr>
            <a:r>
              <a:rPr lang="en-US" sz="1450" dirty="0">
                <a:solidFill>
                  <a:srgbClr val="333333"/>
                </a:solidFill>
                <a:latin typeface="Calibri" pitchFamily="34" charset="0"/>
                <a:ea typeface="Calibri" pitchFamily="34" charset="-122"/>
                <a:cs typeface="Calibri" pitchFamily="34" charset="-120"/>
              </a:rPr>
              <a:t>土器表面の曲率には、局所的に平面とみなす近似で対応している。</a:t>
            </a:r>
            <a:endParaRPr lang="en-US" sz="1450" dirty="0"/>
          </a:p>
        </p:txBody>
      </p:sp>
      <p:sp>
        <p:nvSpPr>
          <p:cNvPr id="4" name="Shape 2"/>
          <p:cNvSpPr/>
          <p:nvPr/>
        </p:nvSpPr>
        <p:spPr>
          <a:xfrm>
            <a:off x="548640" y="3931920"/>
            <a:ext cx="6035040" cy="2194560"/>
          </a:xfrm>
          <a:prstGeom prst="roundRect">
            <a:avLst>
              <a:gd name="adj" fmla="val 4167"/>
            </a:avLst>
          </a:prstGeom>
          <a:solidFill>
            <a:srgbClr val="3B2A26"/>
          </a:solidFill>
          <a:ln/>
        </p:spPr>
      </p:sp>
      <p:sp>
        <p:nvSpPr>
          <p:cNvPr id="5" name="Text 3"/>
          <p:cNvSpPr/>
          <p:nvPr/>
        </p:nvSpPr>
        <p:spPr>
          <a:xfrm>
            <a:off x="822960" y="4114800"/>
            <a:ext cx="5486400" cy="365760"/>
          </a:xfrm>
          <a:prstGeom prst="rect">
            <a:avLst/>
          </a:prstGeom>
          <a:noFill/>
          <a:ln/>
        </p:spPr>
        <p:txBody>
          <a:bodyPr wrap="square" lIns="0" tIns="0" rIns="0" bIns="0" rtlCol="0" anchor="ctr"/>
          <a:lstStyle/>
          <a:p>
            <a:pPr indent="0" marL="0">
              <a:buNone/>
            </a:pPr>
            <a:r>
              <a:rPr lang="en-US" sz="1400" b="1" dirty="0">
                <a:solidFill>
                  <a:srgbClr val="E7E8D1"/>
                </a:solidFill>
                <a:latin typeface="Cambria" pitchFamily="34" charset="0"/>
                <a:ea typeface="Cambria" pitchFamily="34" charset="-122"/>
                <a:cs typeface="Cambria" pitchFamily="34" charset="-120"/>
              </a:rPr>
              <a:t>テストデータによる検証結果</a:t>
            </a:r>
            <a:endParaRPr lang="en-US" sz="1400" dirty="0"/>
          </a:p>
        </p:txBody>
      </p:sp>
      <p:sp>
        <p:nvSpPr>
          <p:cNvPr id="6" name="Text 4"/>
          <p:cNvSpPr/>
          <p:nvPr/>
        </p:nvSpPr>
        <p:spPr>
          <a:xfrm>
            <a:off x="822960" y="4572000"/>
            <a:ext cx="5486400" cy="1463040"/>
          </a:xfrm>
          <a:prstGeom prst="rect">
            <a:avLst/>
          </a:prstGeom>
          <a:noFill/>
          <a:ln/>
        </p:spPr>
        <p:txBody>
          <a:bodyPr wrap="square" rtlCol="0" anchor="ctr"/>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既知の正解に対する誤差は 2% 未満</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データの20%が欠損していても精度を維持</a:t>
            </a:r>
            <a:endParaRPr lang="en-US" sz="1300" dirty="0"/>
          </a:p>
          <a:p>
            <a:pPr marL="342900" indent="-342900">
              <a:buSzPct val="100000"/>
              <a:buChar char="•"/>
            </a:pPr>
            <a:r>
              <a:rPr lang="en-US" sz="1300" dirty="0">
                <a:solidFill>
                  <a:srgbClr val="FFFFFF"/>
                </a:solidFill>
                <a:latin typeface="Calibri" pitchFamily="34" charset="0"/>
                <a:ea typeface="Calibri" pitchFamily="34" charset="-122"/>
                <a:cs typeface="Calibri" pitchFamily="34" charset="-120"/>
              </a:rPr>
              <a:t>16件のテストすべてに合格</a:t>
            </a:r>
            <a:endParaRPr lang="en-US" sz="1300" dirty="0"/>
          </a:p>
        </p:txBody>
      </p:sp>
      <p:pic>
        <p:nvPicPr>
          <p:cNvPr id="7" name="Image 0" descr="/Users/ryusan/brain/02_Raw/土器3（同巡点）.png">    </p:cNvPr>
          <p:cNvPicPr>
            <a:picLocks noChangeAspect="1"/>
          </p:cNvPicPr>
          <p:nvPr/>
        </p:nvPicPr>
        <p:blipFill>
          <a:blip r:embed="rId1"/>
          <a:stretch>
            <a:fillRect/>
          </a:stretch>
        </p:blipFill>
        <p:spPr>
          <a:xfrm>
            <a:off x="7040880" y="1463040"/>
            <a:ext cx="4572000" cy="3236976"/>
          </a:xfrm>
          <a:prstGeom prst="rect">
            <a:avLst/>
          </a:prstGeom>
        </p:spPr>
      </p:pic>
      <p:sp>
        <p:nvSpPr>
          <p:cNvPr id="8" name="Text 5"/>
          <p:cNvSpPr/>
          <p:nvPr/>
        </p:nvSpPr>
        <p:spPr>
          <a:xfrm>
            <a:off x="7040880" y="4800600"/>
            <a:ext cx="4572000" cy="320040"/>
          </a:xfrm>
          <a:prstGeom prst="rect">
            <a:avLst/>
          </a:prstGeom>
          <a:noFill/>
          <a:ln/>
        </p:spPr>
        <p:txBody>
          <a:bodyPr wrap="square" lIns="0" tIns="0" rIns="0" bIns="0" rtlCol="0" anchor="ctr"/>
          <a:lstStyle/>
          <a:p>
            <a:pPr indent="0" marL="0">
              <a:buNone/>
            </a:pPr>
            <a:r>
              <a:rPr lang="en-US" sz="1100" dirty="0">
                <a:solidFill>
                  <a:srgbClr val="7A6A62"/>
                </a:solidFill>
                <a:latin typeface="Calibri" pitchFamily="34" charset="0"/>
                <a:ea typeface="Calibri" pitchFamily="34" charset="-122"/>
                <a:cs typeface="Calibri" pitchFamily="34" charset="-120"/>
              </a:rPr>
              <a:t>図2: 黒点は目視で付与された「縄1回転分の区切り」の位置</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実データでの計測結果と今後の課題</a:t>
            </a:r>
            <a:endParaRPr lang="en-US" sz="3000" dirty="0"/>
          </a:p>
        </p:txBody>
      </p:sp>
      <p:sp>
        <p:nvSpPr>
          <p:cNvPr id="3" name="Text 1"/>
          <p:cNvSpPr/>
          <p:nvPr/>
        </p:nvSpPr>
        <p:spPr>
          <a:xfrm>
            <a:off x="548640" y="1325880"/>
            <a:ext cx="594360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実際の土器片データでの計測結果の例</a:t>
            </a:r>
            <a:endParaRPr lang="en-US" sz="1600" dirty="0"/>
          </a:p>
        </p:txBody>
      </p:sp>
      <p:sp>
        <p:nvSpPr>
          <p:cNvPr id="4" name="Shape 2"/>
          <p:cNvSpPr/>
          <p:nvPr/>
        </p:nvSpPr>
        <p:spPr>
          <a:xfrm>
            <a:off x="548640" y="1783080"/>
            <a:ext cx="5760720" cy="777240"/>
          </a:xfrm>
          <a:prstGeom prst="roundRect">
            <a:avLst>
              <a:gd name="adj" fmla="val 9412"/>
            </a:avLst>
          </a:prstGeom>
          <a:solidFill>
            <a:srgbClr val="E7E8D1"/>
          </a:solidFill>
          <a:ln/>
        </p:spPr>
      </p:sp>
      <p:sp>
        <p:nvSpPr>
          <p:cNvPr id="5" name="Text 3"/>
          <p:cNvSpPr/>
          <p:nvPr/>
        </p:nvSpPr>
        <p:spPr>
          <a:xfrm>
            <a:off x="822960" y="1965960"/>
            <a:ext cx="3108960" cy="45720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縄目の間隔</a:t>
            </a:r>
            <a:endParaRPr lang="en-US" sz="1400" dirty="0"/>
          </a:p>
        </p:txBody>
      </p:sp>
      <p:sp>
        <p:nvSpPr>
          <p:cNvPr id="6" name="Text 4"/>
          <p:cNvSpPr/>
          <p:nvPr/>
        </p:nvSpPr>
        <p:spPr>
          <a:xfrm>
            <a:off x="3931920" y="1901952"/>
            <a:ext cx="2194560" cy="54864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約 3.4 mm</a:t>
            </a:r>
            <a:endParaRPr lang="en-US" sz="2000" dirty="0"/>
          </a:p>
        </p:txBody>
      </p:sp>
      <p:sp>
        <p:nvSpPr>
          <p:cNvPr id="7" name="Shape 5"/>
          <p:cNvSpPr/>
          <p:nvPr/>
        </p:nvSpPr>
        <p:spPr>
          <a:xfrm>
            <a:off x="548640" y="2697480"/>
            <a:ext cx="5760720" cy="777240"/>
          </a:xfrm>
          <a:prstGeom prst="roundRect">
            <a:avLst>
              <a:gd name="adj" fmla="val 9412"/>
            </a:avLst>
          </a:prstGeom>
          <a:solidFill>
            <a:srgbClr val="E7E8D1"/>
          </a:solidFill>
          <a:ln/>
        </p:spPr>
      </p:sp>
      <p:sp>
        <p:nvSpPr>
          <p:cNvPr id="8" name="Text 6"/>
          <p:cNvSpPr/>
          <p:nvPr/>
        </p:nvSpPr>
        <p:spPr>
          <a:xfrm>
            <a:off x="822960" y="2880360"/>
            <a:ext cx="3108960" cy="45720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縄1回転分の長さ</a:t>
            </a:r>
            <a:endParaRPr lang="en-US" sz="1400" dirty="0"/>
          </a:p>
        </p:txBody>
      </p:sp>
      <p:sp>
        <p:nvSpPr>
          <p:cNvPr id="9" name="Text 7"/>
          <p:cNvSpPr/>
          <p:nvPr/>
        </p:nvSpPr>
        <p:spPr>
          <a:xfrm>
            <a:off x="3931920" y="2816352"/>
            <a:ext cx="2194560" cy="54864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約 44 mm</a:t>
            </a:r>
            <a:endParaRPr lang="en-US" sz="2000" dirty="0"/>
          </a:p>
        </p:txBody>
      </p:sp>
      <p:sp>
        <p:nvSpPr>
          <p:cNvPr id="10" name="Shape 8"/>
          <p:cNvSpPr/>
          <p:nvPr/>
        </p:nvSpPr>
        <p:spPr>
          <a:xfrm>
            <a:off x="548640" y="3611880"/>
            <a:ext cx="5760720" cy="777240"/>
          </a:xfrm>
          <a:prstGeom prst="roundRect">
            <a:avLst>
              <a:gd name="adj" fmla="val 9412"/>
            </a:avLst>
          </a:prstGeom>
          <a:solidFill>
            <a:srgbClr val="E7E8D1"/>
          </a:solidFill>
          <a:ln/>
        </p:spPr>
      </p:sp>
      <p:sp>
        <p:nvSpPr>
          <p:cNvPr id="11" name="Text 9"/>
          <p:cNvSpPr/>
          <p:nvPr/>
        </p:nvSpPr>
        <p:spPr>
          <a:xfrm>
            <a:off x="822960" y="3794760"/>
            <a:ext cx="3108960" cy="45720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検出した区切り位置</a:t>
            </a:r>
            <a:endParaRPr lang="en-US" sz="1400" dirty="0"/>
          </a:p>
        </p:txBody>
      </p:sp>
      <p:sp>
        <p:nvSpPr>
          <p:cNvPr id="12" name="Text 10"/>
          <p:cNvSpPr/>
          <p:nvPr/>
        </p:nvSpPr>
        <p:spPr>
          <a:xfrm>
            <a:off x="3931920" y="3730752"/>
            <a:ext cx="2194560" cy="54864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6 か所</a:t>
            </a:r>
            <a:endParaRPr lang="en-US" sz="2000" dirty="0"/>
          </a:p>
        </p:txBody>
      </p:sp>
      <p:sp>
        <p:nvSpPr>
          <p:cNvPr id="13" name="Text 11"/>
          <p:cNvSpPr/>
          <p:nvPr/>
        </p:nvSpPr>
        <p:spPr>
          <a:xfrm>
            <a:off x="6766560" y="1325880"/>
            <a:ext cx="484632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今後の課題</a:t>
            </a:r>
            <a:endParaRPr lang="en-US" sz="1600" dirty="0"/>
          </a:p>
        </p:txBody>
      </p:sp>
      <p:sp>
        <p:nvSpPr>
          <p:cNvPr id="14" name="Text 12"/>
          <p:cNvSpPr/>
          <p:nvPr/>
        </p:nvSpPr>
        <p:spPr>
          <a:xfrm>
            <a:off x="6766560" y="1783080"/>
            <a:ext cx="4846320" cy="2926080"/>
          </a:xfrm>
          <a:prstGeom prst="rect">
            <a:avLst/>
          </a:prstGeom>
          <a:noFill/>
          <a:ln/>
        </p:spPr>
        <p:txBody>
          <a:bodyPr wrap="square" rtlCol="0" anchor="ctr"/>
          <a:lstStyle/>
          <a:p>
            <a:pPr marL="342900" indent="-342900">
              <a:spcAft>
                <a:spcPts val="800"/>
              </a:spcAft>
              <a:buSzPct val="100000"/>
              <a:buChar char="•"/>
            </a:pPr>
            <a:r>
              <a:rPr lang="en-US" sz="1350" dirty="0">
                <a:solidFill>
                  <a:srgbClr val="333333"/>
                </a:solidFill>
                <a:latin typeface="Calibri" pitchFamily="34" charset="0"/>
                <a:ea typeface="Calibri" pitchFamily="34" charset="-122"/>
                <a:cs typeface="Calibri" pitchFamily="34" charset="-120"/>
              </a:rPr>
              <a:t>実データに対する正解値が未入手のため、計測精度を定量的に評価できていない（現在、指導教員に正解値の計測を依頼中）</a:t>
            </a:r>
            <a:endParaRPr lang="en-US" sz="1350" dirty="0"/>
          </a:p>
          <a:p>
            <a:pPr marL="342900" indent="-342900">
              <a:spcAft>
                <a:spcPts val="800"/>
              </a:spcAft>
              <a:buSzPct val="100000"/>
              <a:buChar char="•"/>
            </a:pPr>
            <a:r>
              <a:rPr lang="en-US" sz="1350" dirty="0">
                <a:solidFill>
                  <a:srgbClr val="333333"/>
                </a:solidFill>
                <a:latin typeface="Calibri" pitchFamily="34" charset="0"/>
                <a:ea typeface="Calibri" pitchFamily="34" charset="-122"/>
                <a:cs typeface="Calibri" pitchFamily="34" charset="-120"/>
              </a:rPr>
              <a:t>計測時のパラメータ（画像の解像度・探索範囲など）を手動で設定しており、自動化が必要</a:t>
            </a:r>
            <a:endParaRPr lang="en-US" sz="1350" dirty="0"/>
          </a:p>
          <a:p>
            <a:pPr marL="342900" indent="-342900">
              <a:buSzPct val="100000"/>
              <a:buChar char="•"/>
            </a:pPr>
            <a:r>
              <a:rPr lang="en-US" sz="1350" dirty="0">
                <a:solidFill>
                  <a:srgbClr val="333333"/>
                </a:solidFill>
                <a:latin typeface="Calibri" pitchFamily="34" charset="0"/>
                <a:ea typeface="Calibri" pitchFamily="34" charset="-122"/>
                <a:cs typeface="Calibri" pitchFamily="34" charset="-120"/>
              </a:rPr>
              <a:t>土器表面の曲率への対応を、より厳密な手法に拡張したい</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今後の効率化 — 精度検証実験の並列実行</a:t>
            </a:r>
            <a:endParaRPr lang="en-US" sz="3000" dirty="0"/>
          </a:p>
        </p:txBody>
      </p:sp>
      <p:sp>
        <p:nvSpPr>
          <p:cNvPr id="3" name="Shape 1"/>
          <p:cNvSpPr/>
          <p:nvPr/>
        </p:nvSpPr>
        <p:spPr>
          <a:xfrm>
            <a:off x="548640" y="1371600"/>
            <a:ext cx="11064240" cy="1463040"/>
          </a:xfrm>
          <a:prstGeom prst="roundRect">
            <a:avLst>
              <a:gd name="adj" fmla="val 6250"/>
            </a:avLst>
          </a:prstGeom>
          <a:solidFill>
            <a:srgbClr val="E7E8D1"/>
          </a:solidFill>
          <a:ln/>
        </p:spPr>
      </p:sp>
      <p:sp>
        <p:nvSpPr>
          <p:cNvPr id="4" name="Text 2"/>
          <p:cNvSpPr/>
          <p:nvPr/>
        </p:nvSpPr>
        <p:spPr>
          <a:xfrm>
            <a:off x="777240" y="1481328"/>
            <a:ext cx="3108960" cy="1188720"/>
          </a:xfrm>
          <a:prstGeom prst="rect">
            <a:avLst/>
          </a:prstGeom>
          <a:noFill/>
          <a:ln/>
        </p:spPr>
        <p:txBody>
          <a:bodyPr wrap="square" lIns="0" tIns="0" rIns="0" bIns="0" rtlCol="0" anchor="ctr"/>
          <a:lstStyle/>
          <a:p>
            <a:pPr indent="0" marL="0">
              <a:buNone/>
            </a:pPr>
            <a:r>
              <a:rPr lang="en-US" sz="1500" b="1" dirty="0">
                <a:solidFill>
                  <a:srgbClr val="B85042"/>
                </a:solidFill>
                <a:latin typeface="Cambria" pitchFamily="34" charset="0"/>
                <a:ea typeface="Cambria" pitchFamily="34" charset="-122"/>
                <a:cs typeface="Cambria" pitchFamily="34" charset="-120"/>
              </a:rPr>
              <a:t>これから必要な実験</a:t>
            </a:r>
            <a:endParaRPr lang="en-US" sz="1500" dirty="0"/>
          </a:p>
        </p:txBody>
      </p:sp>
      <p:sp>
        <p:nvSpPr>
          <p:cNvPr id="5" name="Text 3"/>
          <p:cNvSpPr/>
          <p:nvPr/>
        </p:nvSpPr>
        <p:spPr>
          <a:xfrm>
            <a:off x="4023360" y="1508760"/>
            <a:ext cx="7315200" cy="1234440"/>
          </a:xfrm>
          <a:prstGeom prst="rect">
            <a:avLst/>
          </a:prstGeom>
          <a:noFill/>
          <a:ln/>
        </p:spPr>
        <p:txBody>
          <a:bodyPr wrap="square" lIns="0" tIns="0" rIns="0" bIns="0" rtlCol="0" anchor="ctr"/>
          <a:lstStyle/>
          <a:p>
            <a:pPr indent="0" marL="0">
              <a:buNone/>
            </a:pPr>
            <a:r>
              <a:rPr lang="en-US" sz="1300" dirty="0">
                <a:solidFill>
                  <a:srgbClr val="333333"/>
                </a:solidFill>
                <a:latin typeface="Calibri" pitchFamily="34" charset="0"/>
                <a:ea typeface="Calibri" pitchFamily="34" charset="-122"/>
                <a:cs typeface="Calibri" pitchFamily="34" charset="-120"/>
              </a:rPr>
              <a:t>手法の信頼性を示すため、ノイズや欠損の量を変えた数百条件で計測精度を検証する予定。検証1回に数分を要し、逐次実行では1日以上かかる見込み。</a:t>
            </a:r>
            <a:endParaRPr lang="en-US" sz="1300" dirty="0"/>
          </a:p>
        </p:txBody>
      </p:sp>
      <p:sp>
        <p:nvSpPr>
          <p:cNvPr id="6" name="Shape 4"/>
          <p:cNvSpPr/>
          <p:nvPr/>
        </p:nvSpPr>
        <p:spPr>
          <a:xfrm>
            <a:off x="548640" y="3017520"/>
            <a:ext cx="11064240" cy="1463040"/>
          </a:xfrm>
          <a:prstGeom prst="roundRect">
            <a:avLst>
              <a:gd name="adj" fmla="val 6250"/>
            </a:avLst>
          </a:prstGeom>
          <a:solidFill>
            <a:srgbClr val="E7E8D1"/>
          </a:solidFill>
          <a:ln/>
        </p:spPr>
      </p:sp>
      <p:sp>
        <p:nvSpPr>
          <p:cNvPr id="7" name="Text 5"/>
          <p:cNvSpPr/>
          <p:nvPr/>
        </p:nvSpPr>
        <p:spPr>
          <a:xfrm>
            <a:off x="777240" y="3127248"/>
            <a:ext cx="3108960" cy="1188720"/>
          </a:xfrm>
          <a:prstGeom prst="rect">
            <a:avLst/>
          </a:prstGeom>
          <a:noFill/>
          <a:ln/>
        </p:spPr>
        <p:txBody>
          <a:bodyPr wrap="square" lIns="0" tIns="0" rIns="0" bIns="0" rtlCol="0" anchor="ctr"/>
          <a:lstStyle/>
          <a:p>
            <a:pPr indent="0" marL="0">
              <a:buNone/>
            </a:pPr>
            <a:r>
              <a:rPr lang="en-US" sz="1500" b="1" dirty="0">
                <a:solidFill>
                  <a:srgbClr val="B85042"/>
                </a:solidFill>
                <a:latin typeface="Cambria" pitchFamily="34" charset="0"/>
                <a:ea typeface="Cambria" pitchFamily="34" charset="-122"/>
                <a:cs typeface="Cambria" pitchFamily="34" charset="-120"/>
              </a:rPr>
              <a:t>並列化の適用</a:t>
            </a:r>
            <a:endParaRPr lang="en-US" sz="1500" dirty="0"/>
          </a:p>
        </p:txBody>
      </p:sp>
      <p:sp>
        <p:nvSpPr>
          <p:cNvPr id="8" name="Text 6"/>
          <p:cNvSpPr/>
          <p:nvPr/>
        </p:nvSpPr>
        <p:spPr>
          <a:xfrm>
            <a:off x="4023360" y="3154680"/>
            <a:ext cx="7315200" cy="1234440"/>
          </a:xfrm>
          <a:prstGeom prst="rect">
            <a:avLst/>
          </a:prstGeom>
          <a:noFill/>
          <a:ln/>
        </p:spPr>
        <p:txBody>
          <a:bodyPr wrap="square" lIns="0" tIns="0" rIns="0" bIns="0" rtlCol="0" anchor="ctr"/>
          <a:lstStyle/>
          <a:p>
            <a:pPr indent="0" marL="0">
              <a:buNone/>
            </a:pPr>
            <a:r>
              <a:rPr lang="en-US" sz="1300" dirty="0">
                <a:solidFill>
                  <a:srgbClr val="333333"/>
                </a:solidFill>
                <a:latin typeface="Calibri" pitchFamily="34" charset="0"/>
                <a:ea typeface="Calibri" pitchFamily="34" charset="-122"/>
                <a:cs typeface="Calibri" pitchFamily="34" charset="-120"/>
              </a:rPr>
              <a:t>各条件の検証は互いに独立した計算であり、第12回の遺伝的アルゴリズムにおける個体評価と同じ構造。複数のWorkerへ分配して同時に実行することで、実行時間の大幅な短縮が見込める。</a:t>
            </a:r>
            <a:endParaRPr lang="en-US" sz="1300" dirty="0"/>
          </a:p>
        </p:txBody>
      </p:sp>
      <p:sp>
        <p:nvSpPr>
          <p:cNvPr id="9" name="Shape 7"/>
          <p:cNvSpPr/>
          <p:nvPr/>
        </p:nvSpPr>
        <p:spPr>
          <a:xfrm>
            <a:off x="548640" y="4663440"/>
            <a:ext cx="11064240" cy="1463040"/>
          </a:xfrm>
          <a:prstGeom prst="roundRect">
            <a:avLst>
              <a:gd name="adj" fmla="val 6250"/>
            </a:avLst>
          </a:prstGeom>
          <a:solidFill>
            <a:srgbClr val="B85042"/>
          </a:solidFill>
          <a:ln/>
        </p:spPr>
      </p:sp>
      <p:sp>
        <p:nvSpPr>
          <p:cNvPr id="10" name="Text 8"/>
          <p:cNvSpPr/>
          <p:nvPr/>
        </p:nvSpPr>
        <p:spPr>
          <a:xfrm>
            <a:off x="777240" y="4773168"/>
            <a:ext cx="3108960" cy="118872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第12回の実験を踏まえた方針</a:t>
            </a:r>
            <a:endParaRPr lang="en-US" sz="1500" dirty="0"/>
          </a:p>
        </p:txBody>
      </p:sp>
      <p:sp>
        <p:nvSpPr>
          <p:cNvPr id="11" name="Text 9"/>
          <p:cNvSpPr/>
          <p:nvPr/>
        </p:nvSpPr>
        <p:spPr>
          <a:xfrm>
            <a:off x="4023360" y="4800600"/>
            <a:ext cx="7315200" cy="12344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計算が軽い場合はオーバーヘッドで逆に遅くなるという知見を踏まえ、まず検証1回あたりの処理時間を計測したうえで、並列化の単位とWorker数を決定する。</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3B2A26"/>
        </a:solidFill>
      </p:bgPr>
    </p:bg>
    <p:spTree>
      <p:nvGrpSpPr>
        <p:cNvPr id="1" name=""/>
        <p:cNvGrpSpPr/>
        <p:nvPr/>
      </p:nvGrpSpPr>
      <p:grpSpPr>
        <a:xfrm>
          <a:off x="0" y="0"/>
          <a:ext cx="0" cy="0"/>
          <a:chOff x="0" y="0"/>
          <a:chExt cx="0" cy="0"/>
        </a:xfrm>
      </p:grpSpPr>
      <p:sp>
        <p:nvSpPr>
          <p:cNvPr id="2" name="Text 0"/>
          <p:cNvSpPr/>
          <p:nvPr/>
        </p:nvSpPr>
        <p:spPr>
          <a:xfrm>
            <a:off x="731520" y="548640"/>
            <a:ext cx="1069848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まとめ</a:t>
            </a:r>
            <a:endParaRPr lang="en-US" sz="3200" dirty="0"/>
          </a:p>
        </p:txBody>
      </p:sp>
      <p:sp>
        <p:nvSpPr>
          <p:cNvPr id="3" name="Text 1"/>
          <p:cNvSpPr/>
          <p:nvPr/>
        </p:nvSpPr>
        <p:spPr>
          <a:xfrm>
            <a:off x="822960" y="1554480"/>
            <a:ext cx="10515600" cy="3657600"/>
          </a:xfrm>
          <a:prstGeom prst="rect">
            <a:avLst/>
          </a:prstGeom>
          <a:noFill/>
          <a:ln/>
        </p:spPr>
        <p:txBody>
          <a:bodyPr wrap="square" rtlCol="0" anchor="ctr"/>
          <a:lstStyle/>
          <a:p>
            <a:pPr marL="342900" indent="-342900">
              <a:spcAft>
                <a:spcPts val="1400"/>
              </a:spcAft>
              <a:buSzPct val="100000"/>
              <a:buChar char="•"/>
            </a:pPr>
            <a:r>
              <a:rPr lang="en-US" sz="1700" dirty="0">
                <a:solidFill>
                  <a:srgbClr val="E7E8D1"/>
                </a:solidFill>
                <a:latin typeface="Calibri" pitchFamily="34" charset="0"/>
                <a:ea typeface="Calibri" pitchFamily="34" charset="-122"/>
                <a:cs typeface="Calibri" pitchFamily="34" charset="-120"/>
              </a:rPr>
              <a:t>縄文土器の3Dスキャンデータから縄目文様を全自動で計測する手法を開発しており、テストデータでは精度を確認済みである。</a:t>
            </a:r>
            <a:endParaRPr lang="en-US" sz="1700" dirty="0"/>
          </a:p>
          <a:p>
            <a:pPr marL="342900" indent="-342900">
              <a:spcAft>
                <a:spcPts val="1400"/>
              </a:spcAft>
              <a:buSzPct val="100000"/>
              <a:buChar char="•"/>
            </a:pPr>
            <a:r>
              <a:rPr lang="en-US" sz="1700" dirty="0">
                <a:solidFill>
                  <a:srgbClr val="E7E8D1"/>
                </a:solidFill>
                <a:latin typeface="Calibri" pitchFamily="34" charset="0"/>
                <a:ea typeface="Calibri" pitchFamily="34" charset="-122"/>
                <a:cs typeface="Calibri" pitchFamily="34" charset="-120"/>
              </a:rPr>
              <a:t>今後の課題は、実データでの定量評価と、数百条件におよぶ精度検証実験の実施である。</a:t>
            </a:r>
            <a:endParaRPr lang="en-US" sz="1700" dirty="0"/>
          </a:p>
          <a:p>
            <a:pPr marL="342900" indent="-342900">
              <a:buSzPct val="100000"/>
              <a:buChar char="•"/>
            </a:pPr>
            <a:r>
              <a:rPr lang="en-US" sz="1700" dirty="0">
                <a:solidFill>
                  <a:srgbClr val="E7E8D1"/>
                </a:solidFill>
                <a:latin typeface="Calibri" pitchFamily="34" charset="0"/>
                <a:ea typeface="Calibri" pitchFamily="34" charset="-122"/>
                <a:cs typeface="Calibri" pitchFamily="34" charset="-120"/>
              </a:rPr>
              <a:t>精度検証実験には、講義で学んだ並列化を適用して実行時間を短縮する。その際は第12回の実験で得た知見に基づき、処理時間を計測したうえで並列化の単位を決定する。</a:t>
            </a:r>
            <a:endParaRPr lang="en-US" sz="1700" dirty="0"/>
          </a:p>
        </p:txBody>
      </p:sp>
      <p:sp>
        <p:nvSpPr>
          <p:cNvPr id="4" name="Text 2"/>
          <p:cNvSpPr/>
          <p:nvPr/>
        </p:nvSpPr>
        <p:spPr>
          <a:xfrm>
            <a:off x="731520" y="5669280"/>
            <a:ext cx="10698480" cy="548640"/>
          </a:xfrm>
          <a:prstGeom prst="rect">
            <a:avLst/>
          </a:prstGeom>
          <a:noFill/>
          <a:ln/>
        </p:spPr>
        <p:txBody>
          <a:bodyPr wrap="square" lIns="0" tIns="0" rIns="0" bIns="0" rtlCol="0" anchor="ctr"/>
          <a:lstStyle/>
          <a:p>
            <a:pPr algn="ctr" indent="0" marL="0">
              <a:buNone/>
            </a:pPr>
            <a:r>
              <a:rPr lang="en-US" sz="2000" i="1" dirty="0">
                <a:solidFill>
                  <a:srgbClr val="A7BEAE"/>
                </a:solidFill>
                <a:latin typeface="Cambria" pitchFamily="34" charset="0"/>
                <a:ea typeface="Cambria" pitchFamily="34" charset="-122"/>
                <a:cs typeface="Cambria" pitchFamily="34" charset="-120"/>
              </a:rPr>
              <a:t>ご清聴ありがとうございました</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2026-07-20T06:38:32Z</dcterms:created>
  <dcterms:modified xsi:type="dcterms:W3CDTF">2026-07-20T06:38:32Z</dcterms:modified>
</cp:coreProperties>
</file>