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（約30秒）
第13回の発表を始めます。私の修士研究は「縄文土器の3Dメッシュから、縄目圧痕の周期を全自動で推定する」というテーマです。
本日は前半で研究の内容を紹介し、後半で、この講義で学んだ多変量解析と並列化の考え方が、研究のどこを効率化できるのかを説明します。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（約50秒）
まず背景です。縄文土器の表面には、縄を転がして付けた「縄目圧痕」という模様が残っています。右の画像が実際の土器片の3Dスキャンです。
この圧痕の周期、つまり縄目のピッチや、縄の原体が1回転する周期は、どんな縄でどう作られたかを知る考古学的な手がかりになります。
しかし従来は研究者が目視と手作業で計測しており、時間がかかるうえに、人によって結果が変わり、再現性にも課題がありました。
そこで本研究では、3Dスキャンで得たPLYメッシュから、縄目の周期・方向・同巡点を全自動で推定するパイプラインの構築を目的としています。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（約60秒）
処理の全体像です。パイプラインはM1からM5の5段階で構成しています。
M1でPLYメッシュを読み込み、M2で法線のクラスタリングによって縄目のある面だけを切り出します。M3では、その面にPCAで平面をフィットして格子状にサンプリングし、2次元の高さマップに変換します。M4では、この高さマップに2次元自己相関をかけて縄目の周期ベクトルを推定し、構造テンソルで縄の走行方向を求めます。最後のM5で、縄の原体が1回転するごとに現れる「同巡点」を検出します。
ポイントは、3Dメッシュを2Dの高さマップへ、さらに1Dの位相プロファイルへと、段階的に次元を落としながら情報を集約している点です。C++版とPython版を実装済みで、合成データによるテスト16件を通過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（約50秒）
M5について、もう少し詳しく説明します。同巡点とは、縄の原体が1回転するごとに同じ模様が現れる点のことで、その間隔が回転周期Tです。右の画像の黒い点が、目視で付けられた同巡点の位置です。
手法としては、高さマップを縄目の方向に整列させ、正規化相互相関、NCCのプロファイルから回転周期Tを推定します。その後、アンカー点の位相を揃えて帯フィットを行い、同巡点の3D座標を出力します。土器は曲面なので、局所的な平面フィットで曲率に対応しています。
合成データでの受け入れ試験では、既知の周期に対して誤差2%未満、データが20%欠損していても2%未満を維持できることを確認しています。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（約45秒）
現状の結果です。左が実際の土器片データに適用した出力例で、縄目のピッチが約3.4ミリ、回転周期が約44ミリ、同巡点のアンカーが6点検出されています。
一方で課題も残っています。最大の課題は、実データ上の同巡点の正解座標、ground truthがまだ手に入っておらず、定量評価が保留になっている点です。現在、指導教員に正解座標の計測を依頼しています。
また、格子ピッチや周期の探索範囲といったパラメータが手動指定のままである点、曲面への対応が局所平面の近似にとどまっている点も課題です。
ここからが本題で、この研究を講義で学んだ手法でどう効率化できるかを説明します。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（約40秒）
効率化の話に入る前に、扱うデータの規模を確認します。土器片1つのメッシュが約700万頂点あり、そのまま扱うと1回の処理でもメモリと計算時間が問題になる、まさに大規模データです。
本研究では、対象面の切り出しと高さマップへの次元削減によって、3Dの問題を2Dの画像問題に落として計算量を抑えています。
それでも自己相関やNCCの計算は繰り返し実行されるため、講義で学んだ「計算量の見積もり」と「並列化できる場所の把握」が重要になります。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（約55秒）
効率化ポイントの1つ目は、多変量解析の手法そのものがパイプラインの中核になっているという点です。
まずPCA。対象面の頂点群にPCAをかけ、第1・第2主成分で平面を張り、第3成分を高さとすることで、3Dデータを2Dの高さマップに次元削減しています。第4回で学んだ主成分分析の直接の応用です。
次にクラスタリング。頂点の法線ベクトルをクラスタリングして、縄目のある面だけを切り出すことで、後段の処理対象を大幅に減らしています。
また、勾配の共分散行列を固有値分解する構造テンソルで縄の走行方向を推定しており、これも多変量解析の基本操作です。周期の検出には自己相関とNCC、つまり相関係数を空間パターンに拡張した手法を使っています。
つまり、次元削減と対象の絞り込みという多変量解析の考え方が、大規模データを現実的な時間で処理するための効率化そのものになっています。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（約55秒）
効率化ポイントの2つ目は、大規模計算と並列化です。
まずアルゴリズムによる高速化として、2D自己相関を素朴に計算するとオーダーN の4乗かかるところを、FFTを使ってN2乗 log Nに削減しています。第11回で学んだ、アルゴリズムの選択による計算量削減の実例です。
次に並列化できる箇所です。格子サンプリングは各格子点が独立に計算でき、NCCプロファイルも各シフト量を独立に評価できます。複数の土器片のバッチ処理も同様です。これらは第12回の遺伝的アルゴリズムの個体評価と同じ、互いに依存しない計算なので、並列化が可能です。
ただし注意点があります。第12回のGA実験では、1タスクが軽い場合はWorkerの準備やデータの受け渡しのオーバーヘッドが勝ってしまい、並列化するとかえって遅くなりました。本研究でも、1タスクの重さを計測してから並列化するかを判断する方針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（約45秒）
今後の展望です。3つ計画しています。
1つ目は評価ハーネスの整備です。ノイズや欠損をパラメータ化した合成データで大量のスイープ実験を行います。条件の組合せが多く、各条件は独立に実行できるので、multiprocessingで並列化します。
2つ目はパラメータの自動最適化です。現在手動指定になっている格子ピッチなどを、GAやベイズ最適化で自動チューニングします。1回の評価がパイプライン1実行に相当して重いため、第12回の実験とは逆に、今度は並列化の効果が出やすいと考えています。
3つ目は複数の土器片への展開で、推定した周期や方向を統計的に比較していきます。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（約30秒）
まとめです。縄文土器の3Dメッシュから縄目圧痕の周期・方向・同巡点を全自動推定するパイプラインを構築しました。
PCAやクラスタリングといった多変量解析の手法が次元削減による効率化の中核となり、FFTによる計算量削減と並列化余地の見極めが、大規模メッシュ処理の実用性を支えています。
今後は、スイープ実験の並列化とGA・ベイズ最適化によるパラメータ自動化で、講義の内容をさらに研究へ活かしていきます。
ご清聴ありがとうございました。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B2A26"/>
        </a:solidFill>
      </p:bgPr>
    </p:bg>
    <p:spTree>
      <p:nvGrpSpPr>
        <p:cNvPr id="1" name=""/>
        <p:cNvGrpSpPr/>
        <p:nvPr/>
      </p:nvGrpSpPr>
      <p:grpSpPr>
        <a:xfrm>
          <a:off x="0" y="0"/>
          <a:ext cx="0" cy="0"/>
          <a:chOff x="0" y="0"/>
          <a:chExt cx="0" cy="0"/>
        </a:xfrm>
      </p:grpSpPr>
      <p:sp>
        <p:nvSpPr>
          <p:cNvPr id="2" name="Text 0"/>
          <p:cNvSpPr/>
          <p:nvPr/>
        </p:nvSpPr>
        <p:spPr>
          <a:xfrm>
            <a:off x="731520" y="1188720"/>
            <a:ext cx="10698480" cy="457200"/>
          </a:xfrm>
          <a:prstGeom prst="rect">
            <a:avLst/>
          </a:prstGeom>
          <a:noFill/>
          <a:ln/>
        </p:spPr>
        <p:txBody>
          <a:bodyPr wrap="square" lIns="0" tIns="0" rIns="0" bIns="0" rtlCol="0" anchor="ctr"/>
          <a:lstStyle/>
          <a:p>
            <a:pPr indent="0" marL="0">
              <a:buNone/>
            </a:pPr>
            <a:r>
              <a:rPr lang="en-US" sz="1600" dirty="0">
                <a:solidFill>
                  <a:srgbClr val="A7BEAE"/>
                </a:solidFill>
                <a:latin typeface="Calibri" pitchFamily="34" charset="0"/>
                <a:ea typeface="Calibri" pitchFamily="34" charset="-122"/>
                <a:cs typeface="Calibri" pitchFamily="34" charset="-120"/>
              </a:rPr>
              <a:t>多変量解析及び大規模計算論  第13回発表</a:t>
            </a:r>
            <a:endParaRPr lang="en-US" sz="1600" dirty="0"/>
          </a:p>
        </p:txBody>
      </p:sp>
      <p:sp>
        <p:nvSpPr>
          <p:cNvPr id="3" name="Text 1"/>
          <p:cNvSpPr/>
          <p:nvPr/>
        </p:nvSpPr>
        <p:spPr>
          <a:xfrm>
            <a:off x="731520" y="1828800"/>
            <a:ext cx="10698480" cy="18288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縄文土器の3Dメッシュからの</a:t>
            </a:r>
            <a:endParaRPr lang="en-US" sz="4000" dirty="0"/>
          </a:p>
          <a:p>
            <a:pPr indent="0" marL="0">
              <a:buNone/>
            </a:pPr>
            <a:r>
              <a:rPr lang="en-US" sz="4000" b="1" dirty="0">
                <a:solidFill>
                  <a:srgbClr val="FFFFFF"/>
                </a:solidFill>
                <a:latin typeface="Cambria" pitchFamily="34" charset="0"/>
                <a:ea typeface="Cambria" pitchFamily="34" charset="-122"/>
                <a:cs typeface="Cambria" pitchFamily="34" charset="-120"/>
              </a:rPr>
              <a:t>縄目圧痕周期の全自動推定</a:t>
            </a:r>
            <a:endParaRPr lang="en-US" sz="4000" dirty="0"/>
          </a:p>
        </p:txBody>
      </p:sp>
      <p:sp>
        <p:nvSpPr>
          <p:cNvPr id="4" name="Text 2"/>
          <p:cNvSpPr/>
          <p:nvPr/>
        </p:nvSpPr>
        <p:spPr>
          <a:xfrm>
            <a:off x="731520" y="3749040"/>
            <a:ext cx="10698480" cy="548640"/>
          </a:xfrm>
          <a:prstGeom prst="rect">
            <a:avLst/>
          </a:prstGeom>
          <a:noFill/>
          <a:ln/>
        </p:spPr>
        <p:txBody>
          <a:bodyPr wrap="square" lIns="0" tIns="0" rIns="0" bIns="0" rtlCol="0" anchor="ctr"/>
          <a:lstStyle/>
          <a:p>
            <a:pPr indent="0" marL="0">
              <a:buNone/>
            </a:pPr>
            <a:r>
              <a:rPr lang="en-US" sz="2000" i="1" dirty="0">
                <a:solidFill>
                  <a:srgbClr val="E7E8D1"/>
                </a:solidFill>
                <a:latin typeface="Calibri" pitchFamily="34" charset="0"/>
                <a:ea typeface="Calibri" pitchFamily="34" charset="-122"/>
                <a:cs typeface="Calibri" pitchFamily="34" charset="-120"/>
              </a:rPr>
              <a:t>— 修士研究の紹介と、多変量解析・並列化による効率化 —</a:t>
            </a:r>
            <a:endParaRPr lang="en-US" sz="2000" dirty="0"/>
          </a:p>
        </p:txBody>
      </p:sp>
      <p:sp>
        <p:nvSpPr>
          <p:cNvPr id="5" name="Text 3"/>
          <p:cNvSpPr/>
          <p:nvPr/>
        </p:nvSpPr>
        <p:spPr>
          <a:xfrm>
            <a:off x="731520" y="5760720"/>
            <a:ext cx="10698480" cy="365760"/>
          </a:xfrm>
          <a:prstGeom prst="rect">
            <a:avLst/>
          </a:prstGeom>
          <a:noFill/>
          <a:ln/>
        </p:spPr>
        <p:txBody>
          <a:bodyPr wrap="square" lIns="0" tIns="0" rIns="0" bIns="0" rtlCol="0" anchor="ctr"/>
          <a:lstStyle/>
          <a:p>
            <a:pPr indent="0" marL="0">
              <a:buNone/>
            </a:pPr>
            <a:r>
              <a:rPr lang="en-US" sz="1400" dirty="0">
                <a:solidFill>
                  <a:srgbClr val="A7BEAE"/>
                </a:solidFill>
                <a:latin typeface="Calibri" pitchFamily="34" charset="0"/>
                <a:ea typeface="Calibri" pitchFamily="34" charset="-122"/>
                <a:cs typeface="Calibri" pitchFamily="34" charset="-120"/>
              </a:rPr>
              <a:t>愛知工業大学大学院</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33333"/>
                </a:solidFill>
                <a:latin typeface="Cambria" pitchFamily="34" charset="0"/>
                <a:ea typeface="Cambria" pitchFamily="34" charset="-122"/>
                <a:cs typeface="Cambria" pitchFamily="34" charset="-120"/>
              </a:rPr>
              <a:t>研究の背景と目的</a:t>
            </a:r>
            <a:endParaRPr lang="en-US" sz="3000" dirty="0"/>
          </a:p>
        </p:txBody>
      </p:sp>
      <p:sp>
        <p:nvSpPr>
          <p:cNvPr id="3" name="Shape 1"/>
          <p:cNvSpPr/>
          <p:nvPr/>
        </p:nvSpPr>
        <p:spPr>
          <a:xfrm>
            <a:off x="548640" y="1325880"/>
            <a:ext cx="6400800" cy="1051560"/>
          </a:xfrm>
          <a:prstGeom prst="roundRect">
            <a:avLst>
              <a:gd name="adj" fmla="val 6957"/>
            </a:avLst>
          </a:prstGeom>
          <a:solidFill>
            <a:srgbClr val="E7E8D1"/>
          </a:solidFill>
          <a:ln/>
        </p:spPr>
      </p:sp>
      <p:sp>
        <p:nvSpPr>
          <p:cNvPr id="4" name="Text 2"/>
          <p:cNvSpPr/>
          <p:nvPr/>
        </p:nvSpPr>
        <p:spPr>
          <a:xfrm>
            <a:off x="777240" y="1417320"/>
            <a:ext cx="1188720" cy="365760"/>
          </a:xfrm>
          <a:prstGeom prst="rect">
            <a:avLst/>
          </a:prstGeom>
          <a:noFill/>
          <a:ln/>
        </p:spPr>
        <p:txBody>
          <a:bodyPr wrap="square" lIns="0" tIns="0" rIns="0" bIns="0" rtlCol="0" anchor="ctr"/>
          <a:lstStyle/>
          <a:p>
            <a:pPr indent="0" marL="0">
              <a:buNone/>
            </a:pPr>
            <a:r>
              <a:rPr lang="en-US" sz="1600" b="1" dirty="0">
                <a:solidFill>
                  <a:srgbClr val="B85042"/>
                </a:solidFill>
                <a:latin typeface="Cambria" pitchFamily="34" charset="0"/>
                <a:ea typeface="Cambria" pitchFamily="34" charset="-122"/>
                <a:cs typeface="Cambria" pitchFamily="34" charset="-120"/>
              </a:rPr>
              <a:t>背景</a:t>
            </a:r>
            <a:endParaRPr lang="en-US" sz="1600" dirty="0"/>
          </a:p>
        </p:txBody>
      </p:sp>
      <p:sp>
        <p:nvSpPr>
          <p:cNvPr id="5" name="Text 3"/>
          <p:cNvSpPr/>
          <p:nvPr/>
        </p:nvSpPr>
        <p:spPr>
          <a:xfrm>
            <a:off x="777240" y="1709928"/>
            <a:ext cx="5943600" cy="640080"/>
          </a:xfrm>
          <a:prstGeom prst="rect">
            <a:avLst/>
          </a:prstGeom>
          <a:noFill/>
          <a:ln/>
        </p:spPr>
        <p:txBody>
          <a:bodyPr wrap="square" lIns="0" tIns="0" rIns="0" bIns="0" rtlCol="0" anchor="ctr"/>
          <a:lstStyle/>
          <a:p>
            <a:pPr indent="0" marL="0">
              <a:buNone/>
            </a:pPr>
            <a:r>
              <a:rPr lang="en-US" sz="1250" dirty="0">
                <a:solidFill>
                  <a:srgbClr val="333333"/>
                </a:solidFill>
                <a:latin typeface="Calibri" pitchFamily="34" charset="0"/>
                <a:ea typeface="Calibri" pitchFamily="34" charset="-122"/>
                <a:cs typeface="Calibri" pitchFamily="34" charset="-120"/>
              </a:rPr>
              <a:t>縄文土器の表面には、縄を転がして付けた「縄目圧痕」が残る。圧痕の周期（ピッチ）や原体の回転周期は、製作技法を知る考古学的手がかりになる。</a:t>
            </a:r>
            <a:endParaRPr lang="en-US" sz="1250" dirty="0"/>
          </a:p>
        </p:txBody>
      </p:sp>
      <p:sp>
        <p:nvSpPr>
          <p:cNvPr id="6" name="Shape 4"/>
          <p:cNvSpPr/>
          <p:nvPr/>
        </p:nvSpPr>
        <p:spPr>
          <a:xfrm>
            <a:off x="548640" y="2560320"/>
            <a:ext cx="6400800" cy="1051560"/>
          </a:xfrm>
          <a:prstGeom prst="roundRect">
            <a:avLst>
              <a:gd name="adj" fmla="val 6957"/>
            </a:avLst>
          </a:prstGeom>
          <a:solidFill>
            <a:srgbClr val="E7E8D1"/>
          </a:solidFill>
          <a:ln/>
        </p:spPr>
      </p:sp>
      <p:sp>
        <p:nvSpPr>
          <p:cNvPr id="7" name="Text 5"/>
          <p:cNvSpPr/>
          <p:nvPr/>
        </p:nvSpPr>
        <p:spPr>
          <a:xfrm>
            <a:off x="777240" y="2651760"/>
            <a:ext cx="1188720" cy="365760"/>
          </a:xfrm>
          <a:prstGeom prst="rect">
            <a:avLst/>
          </a:prstGeom>
          <a:noFill/>
          <a:ln/>
        </p:spPr>
        <p:txBody>
          <a:bodyPr wrap="square" lIns="0" tIns="0" rIns="0" bIns="0" rtlCol="0" anchor="ctr"/>
          <a:lstStyle/>
          <a:p>
            <a:pPr indent="0" marL="0">
              <a:buNone/>
            </a:pPr>
            <a:r>
              <a:rPr lang="en-US" sz="1600" b="1" dirty="0">
                <a:solidFill>
                  <a:srgbClr val="B85042"/>
                </a:solidFill>
                <a:latin typeface="Cambria" pitchFamily="34" charset="0"/>
                <a:ea typeface="Cambria" pitchFamily="34" charset="-122"/>
                <a:cs typeface="Cambria" pitchFamily="34" charset="-120"/>
              </a:rPr>
              <a:t>課題</a:t>
            </a:r>
            <a:endParaRPr lang="en-US" sz="1600" dirty="0"/>
          </a:p>
        </p:txBody>
      </p:sp>
      <p:sp>
        <p:nvSpPr>
          <p:cNvPr id="8" name="Text 6"/>
          <p:cNvSpPr/>
          <p:nvPr/>
        </p:nvSpPr>
        <p:spPr>
          <a:xfrm>
            <a:off x="777240" y="2944368"/>
            <a:ext cx="5943600" cy="640080"/>
          </a:xfrm>
          <a:prstGeom prst="rect">
            <a:avLst/>
          </a:prstGeom>
          <a:noFill/>
          <a:ln/>
        </p:spPr>
        <p:txBody>
          <a:bodyPr wrap="square" lIns="0" tIns="0" rIns="0" bIns="0" rtlCol="0" anchor="ctr"/>
          <a:lstStyle/>
          <a:p>
            <a:pPr indent="0" marL="0">
              <a:buNone/>
            </a:pPr>
            <a:r>
              <a:rPr lang="en-US" sz="1250" dirty="0">
                <a:solidFill>
                  <a:srgbClr val="333333"/>
                </a:solidFill>
                <a:latin typeface="Calibri" pitchFamily="34" charset="0"/>
                <a:ea typeface="Calibri" pitchFamily="34" charset="-122"/>
                <a:cs typeface="Calibri" pitchFamily="34" charset="-120"/>
              </a:rPr>
              <a:t>従来は研究者が目視・手作業で計測しており、時間がかかり客観性・再現性に欠ける。</a:t>
            </a:r>
            <a:endParaRPr lang="en-US" sz="1250" dirty="0"/>
          </a:p>
        </p:txBody>
      </p:sp>
      <p:sp>
        <p:nvSpPr>
          <p:cNvPr id="9" name="Shape 7"/>
          <p:cNvSpPr/>
          <p:nvPr/>
        </p:nvSpPr>
        <p:spPr>
          <a:xfrm>
            <a:off x="548640" y="3794760"/>
            <a:ext cx="6400800" cy="1051560"/>
          </a:xfrm>
          <a:prstGeom prst="roundRect">
            <a:avLst>
              <a:gd name="adj" fmla="val 6957"/>
            </a:avLst>
          </a:prstGeom>
          <a:solidFill>
            <a:srgbClr val="B85042"/>
          </a:solidFill>
          <a:ln/>
        </p:spPr>
      </p:sp>
      <p:sp>
        <p:nvSpPr>
          <p:cNvPr id="10" name="Text 8"/>
          <p:cNvSpPr/>
          <p:nvPr/>
        </p:nvSpPr>
        <p:spPr>
          <a:xfrm>
            <a:off x="777240" y="3886200"/>
            <a:ext cx="1188720" cy="36576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目的</a:t>
            </a:r>
            <a:endParaRPr lang="en-US" sz="1600" dirty="0"/>
          </a:p>
        </p:txBody>
      </p:sp>
      <p:sp>
        <p:nvSpPr>
          <p:cNvPr id="11" name="Text 9"/>
          <p:cNvSpPr/>
          <p:nvPr/>
        </p:nvSpPr>
        <p:spPr>
          <a:xfrm>
            <a:off x="777240" y="4178808"/>
            <a:ext cx="5943600" cy="64008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3Dスキャンした土器のPLYメッシュから、縄目の周期・方向・同巡点（原体1回転ごとの同一模様点）を全自動で推定するパイプラインを構築する。</a:t>
            </a:r>
            <a:endParaRPr lang="en-US" sz="1250" dirty="0"/>
          </a:p>
        </p:txBody>
      </p:sp>
      <p:pic>
        <p:nvPicPr>
          <p:cNvPr id="12" name="Image 0" descr="/Users/ryusan/brain/02_Raw/土器1（同巡点）.png">    </p:cNvPr>
          <p:cNvPicPr>
            <a:picLocks noChangeAspect="1"/>
          </p:cNvPicPr>
          <p:nvPr/>
        </p:nvPicPr>
        <p:blipFill>
          <a:blip r:embed="rId1"/>
          <a:stretch>
            <a:fillRect/>
          </a:stretch>
        </p:blipFill>
        <p:spPr>
          <a:xfrm>
            <a:off x="7315200" y="1463040"/>
            <a:ext cx="4297680" cy="2651760"/>
          </a:xfrm>
          <a:prstGeom prst="rect">
            <a:avLst/>
          </a:prstGeom>
        </p:spPr>
      </p:pic>
      <p:sp>
        <p:nvSpPr>
          <p:cNvPr id="13" name="Text 10"/>
          <p:cNvSpPr/>
          <p:nvPr/>
        </p:nvSpPr>
        <p:spPr>
          <a:xfrm>
            <a:off x="7315200" y="4206240"/>
            <a:ext cx="4297680" cy="320040"/>
          </a:xfrm>
          <a:prstGeom prst="rect">
            <a:avLst/>
          </a:prstGeom>
          <a:noFill/>
          <a:ln/>
        </p:spPr>
        <p:txBody>
          <a:bodyPr wrap="square" lIns="0" tIns="0" rIns="0" bIns="0" rtlCol="0" anchor="ctr"/>
          <a:lstStyle/>
          <a:p>
            <a:pPr indent="0" marL="0">
              <a:buNone/>
            </a:pPr>
            <a:r>
              <a:rPr lang="en-US" sz="1100" dirty="0">
                <a:solidFill>
                  <a:srgbClr val="7A6A62"/>
                </a:solidFill>
                <a:latin typeface="Calibri" pitchFamily="34" charset="0"/>
                <a:ea typeface="Calibri" pitchFamily="34" charset="-122"/>
                <a:cs typeface="Calibri" pitchFamily="34" charset="-120"/>
              </a:rPr>
              <a:t>対象データ例: 縄文土器片（同巡点の目視位置つき）</a:t>
            </a:r>
            <a:endParaRPr lang="en-US" sz="1100" dirty="0"/>
          </a:p>
        </p:txBody>
      </p:sp>
      <p:sp>
        <p:nvSpPr>
          <p:cNvPr id="14" name="Text 11"/>
          <p:cNvSpPr/>
          <p:nvPr/>
        </p:nvSpPr>
        <p:spPr>
          <a:xfrm>
            <a:off x="548640" y="6446520"/>
            <a:ext cx="11064240" cy="274320"/>
          </a:xfrm>
          <a:prstGeom prst="rect">
            <a:avLst/>
          </a:prstGeom>
          <a:noFill/>
          <a:ln/>
        </p:spPr>
        <p:txBody>
          <a:bodyPr wrap="square" lIns="0" tIns="0" rIns="0" bIns="0" rtlCol="0" anchor="ctr"/>
          <a:lstStyle/>
          <a:p>
            <a:pPr indent="0" marL="0">
              <a:buNone/>
            </a:pPr>
            <a:r>
              <a:rPr lang="en-US" sz="1000" dirty="0">
                <a:solidFill>
                  <a:srgbClr val="7A6A62"/>
                </a:solidFill>
                <a:latin typeface="Calibri" pitchFamily="34" charset="0"/>
                <a:ea typeface="Calibri" pitchFamily="34" charset="-122"/>
                <a:cs typeface="Calibri" pitchFamily="34" charset="-120"/>
              </a:rPr>
              <a:t>根拠: 04_Projects/修士研究/README.md</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33333"/>
                </a:solidFill>
                <a:latin typeface="Cambria" pitchFamily="34" charset="0"/>
                <a:ea typeface="Cambria" pitchFamily="34" charset="-122"/>
                <a:cs typeface="Cambria" pitchFamily="34" charset="-120"/>
              </a:rPr>
              <a:t>処理パイプライン（M1–M5）</a:t>
            </a:r>
            <a:endParaRPr lang="en-US" sz="3000" dirty="0"/>
          </a:p>
        </p:txBody>
      </p:sp>
      <p:sp>
        <p:nvSpPr>
          <p:cNvPr id="3" name="Shape 1"/>
          <p:cNvSpPr/>
          <p:nvPr/>
        </p:nvSpPr>
        <p:spPr>
          <a:xfrm>
            <a:off x="502920" y="1828800"/>
            <a:ext cx="2103120" cy="2377440"/>
          </a:xfrm>
          <a:prstGeom prst="roundRect">
            <a:avLst>
              <a:gd name="adj" fmla="val 4348"/>
            </a:avLst>
          </a:prstGeom>
          <a:solidFill>
            <a:srgbClr val="E7E8D1"/>
          </a:solidFill>
          <a:ln/>
        </p:spPr>
      </p:sp>
      <p:sp>
        <p:nvSpPr>
          <p:cNvPr id="4" name="Text 2"/>
          <p:cNvSpPr/>
          <p:nvPr/>
        </p:nvSpPr>
        <p:spPr>
          <a:xfrm>
            <a:off x="502920" y="1965960"/>
            <a:ext cx="2103120" cy="457200"/>
          </a:xfrm>
          <a:prstGeom prst="rect">
            <a:avLst/>
          </a:prstGeom>
          <a:noFill/>
          <a:ln/>
        </p:spPr>
        <p:txBody>
          <a:bodyPr wrap="square" lIns="0" tIns="0" rIns="0" bIns="0" rtlCol="0" anchor="ctr"/>
          <a:lstStyle/>
          <a:p>
            <a:pPr algn="ctr" indent="0" marL="0">
              <a:buNone/>
            </a:pPr>
            <a:r>
              <a:rPr lang="en-US" sz="2200" b="1" dirty="0">
                <a:solidFill>
                  <a:srgbClr val="B85042"/>
                </a:solidFill>
                <a:latin typeface="Cambria" pitchFamily="34" charset="0"/>
                <a:ea typeface="Cambria" pitchFamily="34" charset="-122"/>
                <a:cs typeface="Cambria" pitchFamily="34" charset="-120"/>
              </a:rPr>
              <a:t>M1</a:t>
            </a:r>
            <a:endParaRPr lang="en-US" sz="2200" dirty="0"/>
          </a:p>
        </p:txBody>
      </p:sp>
      <p:sp>
        <p:nvSpPr>
          <p:cNvPr id="5" name="Text 3"/>
          <p:cNvSpPr/>
          <p:nvPr/>
        </p:nvSpPr>
        <p:spPr>
          <a:xfrm>
            <a:off x="502920" y="2468880"/>
            <a:ext cx="2103120" cy="365760"/>
          </a:xfrm>
          <a:prstGeom prst="rect">
            <a:avLst/>
          </a:prstGeom>
          <a:noFill/>
          <a:ln/>
        </p:spPr>
        <p:txBody>
          <a:bodyPr wrap="square" lIns="0" tIns="0" rIns="0" bIns="0" rtlCol="0" anchor="ctr"/>
          <a:lstStyle/>
          <a:p>
            <a:pPr algn="ctr" indent="0" marL="0">
              <a:buNone/>
            </a:pPr>
            <a:r>
              <a:rPr lang="en-US" sz="1400" b="1" dirty="0">
                <a:solidFill>
                  <a:srgbClr val="333333"/>
                </a:solidFill>
                <a:latin typeface="Calibri" pitchFamily="34" charset="0"/>
                <a:ea typeface="Calibri" pitchFamily="34" charset="-122"/>
                <a:cs typeface="Calibri" pitchFamily="34" charset="-120"/>
              </a:rPr>
              <a:t>PLY読込</a:t>
            </a:r>
            <a:endParaRPr lang="en-US" sz="1400" dirty="0"/>
          </a:p>
        </p:txBody>
      </p:sp>
      <p:sp>
        <p:nvSpPr>
          <p:cNvPr id="6" name="Text 4"/>
          <p:cNvSpPr/>
          <p:nvPr/>
        </p:nvSpPr>
        <p:spPr>
          <a:xfrm>
            <a:off x="594360" y="2880360"/>
            <a:ext cx="1920240" cy="1188720"/>
          </a:xfrm>
          <a:prstGeom prst="rect">
            <a:avLst/>
          </a:prstGeom>
          <a:noFill/>
          <a:ln/>
        </p:spPr>
        <p:txBody>
          <a:bodyPr wrap="square" lIns="0" tIns="0" rIns="0" bIns="0" rtlCol="0" anchor="ctr"/>
          <a:lstStyle/>
          <a:p>
            <a:pPr algn="ctr" indent="0" marL="0">
              <a:buNone/>
            </a:pPr>
            <a:r>
              <a:rPr lang="en-US" sz="1050" dirty="0">
                <a:solidFill>
                  <a:srgbClr val="333333"/>
                </a:solidFill>
                <a:latin typeface="Calibri" pitchFamily="34" charset="0"/>
                <a:ea typeface="Calibri" pitchFamily="34" charset="-122"/>
                <a:cs typeface="Calibri" pitchFamily="34" charset="-120"/>
              </a:rPr>
              <a:t>バイナリPLYを読み込み</a:t>
            </a:r>
            <a:endParaRPr lang="en-US" sz="1050" dirty="0"/>
          </a:p>
          <a:p>
            <a:pPr algn="ctr" indent="0" marL="0">
              <a:buNone/>
            </a:pPr>
            <a:r>
              <a:rPr lang="en-US" sz="1050" dirty="0">
                <a:solidFill>
                  <a:srgbClr val="333333"/>
                </a:solidFill>
                <a:latin typeface="Calibri" pitchFamily="34" charset="0"/>
                <a:ea typeface="Calibri" pitchFamily="34" charset="-122"/>
                <a:cs typeface="Calibri" pitchFamily="34" charset="-120"/>
              </a:rPr>
              <a:t>(741万頂点級対応)</a:t>
            </a:r>
            <a:endParaRPr lang="en-US" sz="1050" dirty="0"/>
          </a:p>
        </p:txBody>
      </p:sp>
      <p:sp>
        <p:nvSpPr>
          <p:cNvPr id="7" name="Text 5"/>
          <p:cNvSpPr/>
          <p:nvPr/>
        </p:nvSpPr>
        <p:spPr>
          <a:xfrm>
            <a:off x="2569464" y="2788920"/>
            <a:ext cx="365760" cy="457200"/>
          </a:xfrm>
          <a:prstGeom prst="rect">
            <a:avLst/>
          </a:prstGeom>
          <a:noFill/>
          <a:ln/>
        </p:spPr>
        <p:txBody>
          <a:bodyPr wrap="square" lIns="0" tIns="0" rIns="0" bIns="0" rtlCol="0" anchor="ctr"/>
          <a:lstStyle/>
          <a:p>
            <a:pPr algn="ctr" indent="0" marL="0">
              <a:buNone/>
            </a:pPr>
            <a:r>
              <a:rPr lang="en-US" sz="2000" b="1" dirty="0">
                <a:solidFill>
                  <a:srgbClr val="7A6A62"/>
                </a:solidFill>
                <a:latin typeface="Calibri" pitchFamily="34" charset="0"/>
                <a:ea typeface="Calibri" pitchFamily="34" charset="-122"/>
                <a:cs typeface="Calibri" pitchFamily="34" charset="-120"/>
              </a:rPr>
              <a:t>→</a:t>
            </a:r>
            <a:endParaRPr lang="en-US" sz="2000" dirty="0"/>
          </a:p>
        </p:txBody>
      </p:sp>
      <p:sp>
        <p:nvSpPr>
          <p:cNvPr id="8" name="Shape 6"/>
          <p:cNvSpPr/>
          <p:nvPr/>
        </p:nvSpPr>
        <p:spPr>
          <a:xfrm>
            <a:off x="2862072" y="1828800"/>
            <a:ext cx="2103120" cy="2377440"/>
          </a:xfrm>
          <a:prstGeom prst="roundRect">
            <a:avLst>
              <a:gd name="adj" fmla="val 4348"/>
            </a:avLst>
          </a:prstGeom>
          <a:solidFill>
            <a:srgbClr val="E7E8D1"/>
          </a:solidFill>
          <a:ln/>
        </p:spPr>
      </p:sp>
      <p:sp>
        <p:nvSpPr>
          <p:cNvPr id="9" name="Text 7"/>
          <p:cNvSpPr/>
          <p:nvPr/>
        </p:nvSpPr>
        <p:spPr>
          <a:xfrm>
            <a:off x="2862072" y="1965960"/>
            <a:ext cx="2103120" cy="457200"/>
          </a:xfrm>
          <a:prstGeom prst="rect">
            <a:avLst/>
          </a:prstGeom>
          <a:noFill/>
          <a:ln/>
        </p:spPr>
        <p:txBody>
          <a:bodyPr wrap="square" lIns="0" tIns="0" rIns="0" bIns="0" rtlCol="0" anchor="ctr"/>
          <a:lstStyle/>
          <a:p>
            <a:pPr algn="ctr" indent="0" marL="0">
              <a:buNone/>
            </a:pPr>
            <a:r>
              <a:rPr lang="en-US" sz="2200" b="1" dirty="0">
                <a:solidFill>
                  <a:srgbClr val="B85042"/>
                </a:solidFill>
                <a:latin typeface="Cambria" pitchFamily="34" charset="0"/>
                <a:ea typeface="Cambria" pitchFamily="34" charset="-122"/>
                <a:cs typeface="Cambria" pitchFamily="34" charset="-120"/>
              </a:rPr>
              <a:t>M2</a:t>
            </a:r>
            <a:endParaRPr lang="en-US" sz="2200" dirty="0"/>
          </a:p>
        </p:txBody>
      </p:sp>
      <p:sp>
        <p:nvSpPr>
          <p:cNvPr id="10" name="Text 8"/>
          <p:cNvSpPr/>
          <p:nvPr/>
        </p:nvSpPr>
        <p:spPr>
          <a:xfrm>
            <a:off x="2862072" y="2468880"/>
            <a:ext cx="2103120" cy="365760"/>
          </a:xfrm>
          <a:prstGeom prst="rect">
            <a:avLst/>
          </a:prstGeom>
          <a:noFill/>
          <a:ln/>
        </p:spPr>
        <p:txBody>
          <a:bodyPr wrap="square" lIns="0" tIns="0" rIns="0" bIns="0" rtlCol="0" anchor="ctr"/>
          <a:lstStyle/>
          <a:p>
            <a:pPr algn="ctr" indent="0" marL="0">
              <a:buNone/>
            </a:pPr>
            <a:r>
              <a:rPr lang="en-US" sz="1400" b="1" dirty="0">
                <a:solidFill>
                  <a:srgbClr val="333333"/>
                </a:solidFill>
                <a:latin typeface="Calibri" pitchFamily="34" charset="0"/>
                <a:ea typeface="Calibri" pitchFamily="34" charset="-122"/>
                <a:cs typeface="Calibri" pitchFamily="34" charset="-120"/>
              </a:rPr>
              <a:t>対象面抽出</a:t>
            </a:r>
            <a:endParaRPr lang="en-US" sz="1400" dirty="0"/>
          </a:p>
        </p:txBody>
      </p:sp>
      <p:sp>
        <p:nvSpPr>
          <p:cNvPr id="11" name="Text 9"/>
          <p:cNvSpPr/>
          <p:nvPr/>
        </p:nvSpPr>
        <p:spPr>
          <a:xfrm>
            <a:off x="2953512" y="2880360"/>
            <a:ext cx="1920240" cy="1188720"/>
          </a:xfrm>
          <a:prstGeom prst="rect">
            <a:avLst/>
          </a:prstGeom>
          <a:noFill/>
          <a:ln/>
        </p:spPr>
        <p:txBody>
          <a:bodyPr wrap="square" lIns="0" tIns="0" rIns="0" bIns="0" rtlCol="0" anchor="ctr"/>
          <a:lstStyle/>
          <a:p>
            <a:pPr algn="ctr" indent="0" marL="0">
              <a:buNone/>
            </a:pPr>
            <a:r>
              <a:rPr lang="en-US" sz="1050" dirty="0">
                <a:solidFill>
                  <a:srgbClr val="333333"/>
                </a:solidFill>
                <a:latin typeface="Calibri" pitchFamily="34" charset="0"/>
                <a:ea typeface="Calibri" pitchFamily="34" charset="-122"/>
                <a:cs typeface="Calibri" pitchFamily="34" charset="-120"/>
              </a:rPr>
              <a:t>法線クラスタリング＋</a:t>
            </a:r>
            <a:endParaRPr lang="en-US" sz="1050" dirty="0"/>
          </a:p>
          <a:p>
            <a:pPr algn="ctr" indent="0" marL="0">
              <a:buNone/>
            </a:pPr>
            <a:r>
              <a:rPr lang="en-US" sz="1050" dirty="0">
                <a:solidFill>
                  <a:srgbClr val="333333"/>
                </a:solidFill>
                <a:latin typeface="Calibri" pitchFamily="34" charset="0"/>
                <a:ea typeface="Calibri" pitchFamily="34" charset="-122"/>
                <a:cs typeface="Calibri" pitchFamily="34" charset="-120"/>
              </a:rPr>
              <a:t>最大連結成分</a:t>
            </a:r>
            <a:endParaRPr lang="en-US" sz="1050" dirty="0"/>
          </a:p>
        </p:txBody>
      </p:sp>
      <p:sp>
        <p:nvSpPr>
          <p:cNvPr id="12" name="Text 10"/>
          <p:cNvSpPr/>
          <p:nvPr/>
        </p:nvSpPr>
        <p:spPr>
          <a:xfrm>
            <a:off x="4928616" y="2788920"/>
            <a:ext cx="365760" cy="457200"/>
          </a:xfrm>
          <a:prstGeom prst="rect">
            <a:avLst/>
          </a:prstGeom>
          <a:noFill/>
          <a:ln/>
        </p:spPr>
        <p:txBody>
          <a:bodyPr wrap="square" lIns="0" tIns="0" rIns="0" bIns="0" rtlCol="0" anchor="ctr"/>
          <a:lstStyle/>
          <a:p>
            <a:pPr algn="ctr" indent="0" marL="0">
              <a:buNone/>
            </a:pPr>
            <a:r>
              <a:rPr lang="en-US" sz="2000" b="1" dirty="0">
                <a:solidFill>
                  <a:srgbClr val="7A6A62"/>
                </a:solidFill>
                <a:latin typeface="Calibri" pitchFamily="34" charset="0"/>
                <a:ea typeface="Calibri" pitchFamily="34" charset="-122"/>
                <a:cs typeface="Calibri" pitchFamily="34" charset="-120"/>
              </a:rPr>
              <a:t>→</a:t>
            </a:r>
            <a:endParaRPr lang="en-US" sz="2000" dirty="0"/>
          </a:p>
        </p:txBody>
      </p:sp>
      <p:sp>
        <p:nvSpPr>
          <p:cNvPr id="13" name="Shape 11"/>
          <p:cNvSpPr/>
          <p:nvPr/>
        </p:nvSpPr>
        <p:spPr>
          <a:xfrm>
            <a:off x="5221224" y="1828800"/>
            <a:ext cx="2103120" cy="2377440"/>
          </a:xfrm>
          <a:prstGeom prst="roundRect">
            <a:avLst>
              <a:gd name="adj" fmla="val 4348"/>
            </a:avLst>
          </a:prstGeom>
          <a:solidFill>
            <a:srgbClr val="E7E8D1"/>
          </a:solidFill>
          <a:ln/>
        </p:spPr>
      </p:sp>
      <p:sp>
        <p:nvSpPr>
          <p:cNvPr id="14" name="Text 12"/>
          <p:cNvSpPr/>
          <p:nvPr/>
        </p:nvSpPr>
        <p:spPr>
          <a:xfrm>
            <a:off x="5221224" y="1965960"/>
            <a:ext cx="2103120" cy="457200"/>
          </a:xfrm>
          <a:prstGeom prst="rect">
            <a:avLst/>
          </a:prstGeom>
          <a:noFill/>
          <a:ln/>
        </p:spPr>
        <p:txBody>
          <a:bodyPr wrap="square" lIns="0" tIns="0" rIns="0" bIns="0" rtlCol="0" anchor="ctr"/>
          <a:lstStyle/>
          <a:p>
            <a:pPr algn="ctr" indent="0" marL="0">
              <a:buNone/>
            </a:pPr>
            <a:r>
              <a:rPr lang="en-US" sz="2200" b="1" dirty="0">
                <a:solidFill>
                  <a:srgbClr val="B85042"/>
                </a:solidFill>
                <a:latin typeface="Cambria" pitchFamily="34" charset="0"/>
                <a:ea typeface="Cambria" pitchFamily="34" charset="-122"/>
                <a:cs typeface="Cambria" pitchFamily="34" charset="-120"/>
              </a:rPr>
              <a:t>M3</a:t>
            </a:r>
            <a:endParaRPr lang="en-US" sz="2200" dirty="0"/>
          </a:p>
        </p:txBody>
      </p:sp>
      <p:sp>
        <p:nvSpPr>
          <p:cNvPr id="15" name="Text 13"/>
          <p:cNvSpPr/>
          <p:nvPr/>
        </p:nvSpPr>
        <p:spPr>
          <a:xfrm>
            <a:off x="5221224" y="2468880"/>
            <a:ext cx="2103120" cy="365760"/>
          </a:xfrm>
          <a:prstGeom prst="rect">
            <a:avLst/>
          </a:prstGeom>
          <a:noFill/>
          <a:ln/>
        </p:spPr>
        <p:txBody>
          <a:bodyPr wrap="square" lIns="0" tIns="0" rIns="0" bIns="0" rtlCol="0" anchor="ctr"/>
          <a:lstStyle/>
          <a:p>
            <a:pPr algn="ctr" indent="0" marL="0">
              <a:buNone/>
            </a:pPr>
            <a:r>
              <a:rPr lang="en-US" sz="1400" b="1" dirty="0">
                <a:solidFill>
                  <a:srgbClr val="333333"/>
                </a:solidFill>
                <a:latin typeface="Calibri" pitchFamily="34" charset="0"/>
                <a:ea typeface="Calibri" pitchFamily="34" charset="-122"/>
                <a:cs typeface="Calibri" pitchFamily="34" charset="-120"/>
              </a:rPr>
              <a:t>高さマップ化</a:t>
            </a:r>
            <a:endParaRPr lang="en-US" sz="1400" dirty="0"/>
          </a:p>
        </p:txBody>
      </p:sp>
      <p:sp>
        <p:nvSpPr>
          <p:cNvPr id="16" name="Text 14"/>
          <p:cNvSpPr/>
          <p:nvPr/>
        </p:nvSpPr>
        <p:spPr>
          <a:xfrm>
            <a:off x="5312664" y="2880360"/>
            <a:ext cx="1920240" cy="1188720"/>
          </a:xfrm>
          <a:prstGeom prst="rect">
            <a:avLst/>
          </a:prstGeom>
          <a:noFill/>
          <a:ln/>
        </p:spPr>
        <p:txBody>
          <a:bodyPr wrap="square" lIns="0" tIns="0" rIns="0" bIns="0" rtlCol="0" anchor="ctr"/>
          <a:lstStyle/>
          <a:p>
            <a:pPr algn="ctr" indent="0" marL="0">
              <a:buNone/>
            </a:pPr>
            <a:r>
              <a:rPr lang="en-US" sz="1050" dirty="0">
                <a:solidFill>
                  <a:srgbClr val="333333"/>
                </a:solidFill>
                <a:latin typeface="Calibri" pitchFamily="34" charset="0"/>
                <a:ea typeface="Calibri" pitchFamily="34" charset="-122"/>
                <a:cs typeface="Calibri" pitchFamily="34" charset="-120"/>
              </a:rPr>
              <a:t>PCA平面フィット＋</a:t>
            </a:r>
            <a:endParaRPr lang="en-US" sz="1050" dirty="0"/>
          </a:p>
          <a:p>
            <a:pPr algn="ctr" indent="0" marL="0">
              <a:buNone/>
            </a:pPr>
            <a:r>
              <a:rPr lang="en-US" sz="1050" dirty="0">
                <a:solidFill>
                  <a:srgbClr val="333333"/>
                </a:solidFill>
                <a:latin typeface="Calibri" pitchFamily="34" charset="0"/>
                <a:ea typeface="Calibri" pitchFamily="34" charset="-122"/>
                <a:cs typeface="Calibri" pitchFamily="34" charset="-120"/>
              </a:rPr>
              <a:t>格子サンプリング・detrend</a:t>
            </a:r>
            <a:endParaRPr lang="en-US" sz="1050" dirty="0"/>
          </a:p>
        </p:txBody>
      </p:sp>
      <p:sp>
        <p:nvSpPr>
          <p:cNvPr id="17" name="Text 15"/>
          <p:cNvSpPr/>
          <p:nvPr/>
        </p:nvSpPr>
        <p:spPr>
          <a:xfrm>
            <a:off x="7287768" y="2788920"/>
            <a:ext cx="365760" cy="457200"/>
          </a:xfrm>
          <a:prstGeom prst="rect">
            <a:avLst/>
          </a:prstGeom>
          <a:noFill/>
          <a:ln/>
        </p:spPr>
        <p:txBody>
          <a:bodyPr wrap="square" lIns="0" tIns="0" rIns="0" bIns="0" rtlCol="0" anchor="ctr"/>
          <a:lstStyle/>
          <a:p>
            <a:pPr algn="ctr" indent="0" marL="0">
              <a:buNone/>
            </a:pPr>
            <a:r>
              <a:rPr lang="en-US" sz="2000" b="1" dirty="0">
                <a:solidFill>
                  <a:srgbClr val="7A6A62"/>
                </a:solidFill>
                <a:latin typeface="Calibri" pitchFamily="34" charset="0"/>
                <a:ea typeface="Calibri" pitchFamily="34" charset="-122"/>
                <a:cs typeface="Calibri" pitchFamily="34" charset="-120"/>
              </a:rPr>
              <a:t>→</a:t>
            </a:r>
            <a:endParaRPr lang="en-US" sz="2000" dirty="0"/>
          </a:p>
        </p:txBody>
      </p:sp>
      <p:sp>
        <p:nvSpPr>
          <p:cNvPr id="18" name="Shape 16"/>
          <p:cNvSpPr/>
          <p:nvPr/>
        </p:nvSpPr>
        <p:spPr>
          <a:xfrm>
            <a:off x="7580376" y="1828800"/>
            <a:ext cx="2103120" cy="2377440"/>
          </a:xfrm>
          <a:prstGeom prst="roundRect">
            <a:avLst>
              <a:gd name="adj" fmla="val 4348"/>
            </a:avLst>
          </a:prstGeom>
          <a:solidFill>
            <a:srgbClr val="E7E8D1"/>
          </a:solidFill>
          <a:ln/>
        </p:spPr>
      </p:sp>
      <p:sp>
        <p:nvSpPr>
          <p:cNvPr id="19" name="Text 17"/>
          <p:cNvSpPr/>
          <p:nvPr/>
        </p:nvSpPr>
        <p:spPr>
          <a:xfrm>
            <a:off x="7580376" y="1965960"/>
            <a:ext cx="2103120" cy="457200"/>
          </a:xfrm>
          <a:prstGeom prst="rect">
            <a:avLst/>
          </a:prstGeom>
          <a:noFill/>
          <a:ln/>
        </p:spPr>
        <p:txBody>
          <a:bodyPr wrap="square" lIns="0" tIns="0" rIns="0" bIns="0" rtlCol="0" anchor="ctr"/>
          <a:lstStyle/>
          <a:p>
            <a:pPr algn="ctr" indent="0" marL="0">
              <a:buNone/>
            </a:pPr>
            <a:r>
              <a:rPr lang="en-US" sz="2200" b="1" dirty="0">
                <a:solidFill>
                  <a:srgbClr val="B85042"/>
                </a:solidFill>
                <a:latin typeface="Cambria" pitchFamily="34" charset="0"/>
                <a:ea typeface="Cambria" pitchFamily="34" charset="-122"/>
                <a:cs typeface="Cambria" pitchFamily="34" charset="-120"/>
              </a:rPr>
              <a:t>M4</a:t>
            </a:r>
            <a:endParaRPr lang="en-US" sz="2200" dirty="0"/>
          </a:p>
        </p:txBody>
      </p:sp>
      <p:sp>
        <p:nvSpPr>
          <p:cNvPr id="20" name="Text 18"/>
          <p:cNvSpPr/>
          <p:nvPr/>
        </p:nvSpPr>
        <p:spPr>
          <a:xfrm>
            <a:off x="7580376" y="2468880"/>
            <a:ext cx="2103120" cy="365760"/>
          </a:xfrm>
          <a:prstGeom prst="rect">
            <a:avLst/>
          </a:prstGeom>
          <a:noFill/>
          <a:ln/>
        </p:spPr>
        <p:txBody>
          <a:bodyPr wrap="square" lIns="0" tIns="0" rIns="0" bIns="0" rtlCol="0" anchor="ctr"/>
          <a:lstStyle/>
          <a:p>
            <a:pPr algn="ctr" indent="0" marL="0">
              <a:buNone/>
            </a:pPr>
            <a:r>
              <a:rPr lang="en-US" sz="1400" b="1" dirty="0">
                <a:solidFill>
                  <a:srgbClr val="333333"/>
                </a:solidFill>
                <a:latin typeface="Calibri" pitchFamily="34" charset="0"/>
                <a:ea typeface="Calibri" pitchFamily="34" charset="-122"/>
                <a:cs typeface="Calibri" pitchFamily="34" charset="-120"/>
              </a:rPr>
              <a:t>周期推定</a:t>
            </a:r>
            <a:endParaRPr lang="en-US" sz="1400" dirty="0"/>
          </a:p>
        </p:txBody>
      </p:sp>
      <p:sp>
        <p:nvSpPr>
          <p:cNvPr id="21" name="Text 19"/>
          <p:cNvSpPr/>
          <p:nvPr/>
        </p:nvSpPr>
        <p:spPr>
          <a:xfrm>
            <a:off x="7671816" y="2880360"/>
            <a:ext cx="1920240" cy="1188720"/>
          </a:xfrm>
          <a:prstGeom prst="rect">
            <a:avLst/>
          </a:prstGeom>
          <a:noFill/>
          <a:ln/>
        </p:spPr>
        <p:txBody>
          <a:bodyPr wrap="square" lIns="0" tIns="0" rIns="0" bIns="0" rtlCol="0" anchor="ctr"/>
          <a:lstStyle/>
          <a:p>
            <a:pPr algn="ctr" indent="0" marL="0">
              <a:buNone/>
            </a:pPr>
            <a:r>
              <a:rPr lang="en-US" sz="1050" dirty="0">
                <a:solidFill>
                  <a:srgbClr val="333333"/>
                </a:solidFill>
                <a:latin typeface="Calibri" pitchFamily="34" charset="0"/>
                <a:ea typeface="Calibri" pitchFamily="34" charset="-122"/>
                <a:cs typeface="Calibri" pitchFamily="34" charset="-120"/>
              </a:rPr>
              <a:t>マスク付き2D自己相関＋</a:t>
            </a:r>
            <a:endParaRPr lang="en-US" sz="1050" dirty="0"/>
          </a:p>
          <a:p>
            <a:pPr algn="ctr" indent="0" marL="0">
              <a:buNone/>
            </a:pPr>
            <a:r>
              <a:rPr lang="en-US" sz="1050" dirty="0">
                <a:solidFill>
                  <a:srgbClr val="333333"/>
                </a:solidFill>
                <a:latin typeface="Calibri" pitchFamily="34" charset="0"/>
                <a:ea typeface="Calibri" pitchFamily="34" charset="-122"/>
                <a:cs typeface="Calibri" pitchFamily="34" charset="-120"/>
              </a:rPr>
              <a:t>構造テンソルで方向推定</a:t>
            </a:r>
            <a:endParaRPr lang="en-US" sz="1050" dirty="0"/>
          </a:p>
        </p:txBody>
      </p:sp>
      <p:sp>
        <p:nvSpPr>
          <p:cNvPr id="22" name="Text 20"/>
          <p:cNvSpPr/>
          <p:nvPr/>
        </p:nvSpPr>
        <p:spPr>
          <a:xfrm>
            <a:off x="9646920" y="2788920"/>
            <a:ext cx="365760" cy="457200"/>
          </a:xfrm>
          <a:prstGeom prst="rect">
            <a:avLst/>
          </a:prstGeom>
          <a:noFill/>
          <a:ln/>
        </p:spPr>
        <p:txBody>
          <a:bodyPr wrap="square" lIns="0" tIns="0" rIns="0" bIns="0" rtlCol="0" anchor="ctr"/>
          <a:lstStyle/>
          <a:p>
            <a:pPr algn="ctr" indent="0" marL="0">
              <a:buNone/>
            </a:pPr>
            <a:r>
              <a:rPr lang="en-US" sz="2000" b="1" dirty="0">
                <a:solidFill>
                  <a:srgbClr val="7A6A62"/>
                </a:solidFill>
                <a:latin typeface="Calibri" pitchFamily="34" charset="0"/>
                <a:ea typeface="Calibri" pitchFamily="34" charset="-122"/>
                <a:cs typeface="Calibri" pitchFamily="34" charset="-120"/>
              </a:rPr>
              <a:t>→</a:t>
            </a:r>
            <a:endParaRPr lang="en-US" sz="2000" dirty="0"/>
          </a:p>
        </p:txBody>
      </p:sp>
      <p:sp>
        <p:nvSpPr>
          <p:cNvPr id="23" name="Shape 21"/>
          <p:cNvSpPr/>
          <p:nvPr/>
        </p:nvSpPr>
        <p:spPr>
          <a:xfrm>
            <a:off x="9939528" y="1828800"/>
            <a:ext cx="2103120" cy="2377440"/>
          </a:xfrm>
          <a:prstGeom prst="roundRect">
            <a:avLst>
              <a:gd name="adj" fmla="val 4348"/>
            </a:avLst>
          </a:prstGeom>
          <a:solidFill>
            <a:srgbClr val="B85042"/>
          </a:solidFill>
          <a:ln/>
        </p:spPr>
      </p:sp>
      <p:sp>
        <p:nvSpPr>
          <p:cNvPr id="24" name="Text 22"/>
          <p:cNvSpPr/>
          <p:nvPr/>
        </p:nvSpPr>
        <p:spPr>
          <a:xfrm>
            <a:off x="9939528" y="1965960"/>
            <a:ext cx="210312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M5</a:t>
            </a:r>
            <a:endParaRPr lang="en-US" sz="2200" dirty="0"/>
          </a:p>
        </p:txBody>
      </p:sp>
      <p:sp>
        <p:nvSpPr>
          <p:cNvPr id="25" name="Text 23"/>
          <p:cNvSpPr/>
          <p:nvPr/>
        </p:nvSpPr>
        <p:spPr>
          <a:xfrm>
            <a:off x="9939528" y="2468880"/>
            <a:ext cx="210312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同巡点検出</a:t>
            </a:r>
            <a:endParaRPr lang="en-US" sz="1400" dirty="0"/>
          </a:p>
        </p:txBody>
      </p:sp>
      <p:sp>
        <p:nvSpPr>
          <p:cNvPr id="26" name="Text 24"/>
          <p:cNvSpPr/>
          <p:nvPr/>
        </p:nvSpPr>
        <p:spPr>
          <a:xfrm>
            <a:off x="10030968" y="2880360"/>
            <a:ext cx="1920240" cy="1188720"/>
          </a:xfrm>
          <a:prstGeom prst="rect">
            <a:avLst/>
          </a:prstGeom>
          <a:noFill/>
          <a:ln/>
        </p:spPr>
        <p:txBody>
          <a:bodyPr wrap="square" lIns="0" tIns="0" rIns="0" bIns="0"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NCCプロファイル→回転周期T</a:t>
            </a:r>
            <a:endParaRPr lang="en-US" sz="1050" dirty="0"/>
          </a:p>
          <a:p>
            <a:pPr algn="ctr" indent="0" marL="0">
              <a:buNone/>
            </a:pPr>
            <a:r>
              <a:rPr lang="en-US" sz="1050" dirty="0">
                <a:solidFill>
                  <a:srgbClr val="FFFFFF"/>
                </a:solidFill>
                <a:latin typeface="Calibri" pitchFamily="34" charset="0"/>
                <a:ea typeface="Calibri" pitchFamily="34" charset="-122"/>
                <a:cs typeface="Calibri" pitchFamily="34" charset="-120"/>
              </a:rPr>
              <a:t>→同巡点3D座標</a:t>
            </a:r>
            <a:endParaRPr lang="en-US" sz="1050" dirty="0"/>
          </a:p>
        </p:txBody>
      </p:sp>
      <p:sp>
        <p:nvSpPr>
          <p:cNvPr id="27" name="Text 25"/>
          <p:cNvSpPr/>
          <p:nvPr/>
        </p:nvSpPr>
        <p:spPr>
          <a:xfrm>
            <a:off x="640080" y="4663440"/>
            <a:ext cx="10972800" cy="1280160"/>
          </a:xfrm>
          <a:prstGeom prst="rect">
            <a:avLst/>
          </a:prstGeom>
          <a:noFill/>
          <a:ln/>
        </p:spPr>
        <p:txBody>
          <a:bodyPr wrap="square" rtlCol="0" anchor="ctr"/>
          <a:lstStyle/>
          <a:p>
            <a:pPr marL="342900" indent="-342900">
              <a:spcAft>
                <a:spcPts val="800"/>
              </a:spcAft>
              <a:buSzPct val="100000"/>
              <a:buChar char="•"/>
            </a:pPr>
            <a:r>
              <a:rPr lang="en-US" sz="1500" dirty="0">
                <a:solidFill>
                  <a:srgbClr val="333333"/>
                </a:solidFill>
                <a:latin typeface="Calibri" pitchFamily="34" charset="0"/>
                <a:ea typeface="Calibri" pitchFamily="34" charset="-122"/>
                <a:cs typeface="Calibri" pitchFamily="34" charset="-120"/>
              </a:rPr>
              <a:t>3Dメッシュ → 2D高さマップ → 1D位相プロファイルと、段階的に次元を落としながら情報を集約する設計。</a:t>
            </a:r>
            <a:endParaRPr lang="en-US" sz="1500" dirty="0"/>
          </a:p>
          <a:p>
            <a:pPr marL="342900" indent="-342900">
              <a:buSzPct val="100000"/>
              <a:buChar char="•"/>
            </a:pPr>
            <a:r>
              <a:rPr lang="en-US" sz="1500" dirty="0">
                <a:solidFill>
                  <a:srgbClr val="333333"/>
                </a:solidFill>
                <a:latin typeface="Calibri" pitchFamily="34" charset="0"/>
                <a:ea typeface="Calibri" pitchFamily="34" charset="-122"/>
                <a:cs typeface="Calibri" pitchFamily="34" charset="-120"/>
              </a:rPr>
              <a:t>C++17版（M1–M4）とPython版（M1–M5, numpy/scipy）を実装。合成データのテスト16件を通過済み。</a:t>
            </a:r>
            <a:endParaRPr lang="en-US" sz="1500" dirty="0"/>
          </a:p>
        </p:txBody>
      </p:sp>
      <p:sp>
        <p:nvSpPr>
          <p:cNvPr id="28" name="Text 26"/>
          <p:cNvSpPr/>
          <p:nvPr/>
        </p:nvSpPr>
        <p:spPr>
          <a:xfrm>
            <a:off x="548640" y="6446520"/>
            <a:ext cx="11064240" cy="274320"/>
          </a:xfrm>
          <a:prstGeom prst="rect">
            <a:avLst/>
          </a:prstGeom>
          <a:noFill/>
          <a:ln/>
        </p:spPr>
        <p:txBody>
          <a:bodyPr wrap="square" lIns="0" tIns="0" rIns="0" bIns="0" rtlCol="0" anchor="ctr"/>
          <a:lstStyle/>
          <a:p>
            <a:pPr indent="0" marL="0">
              <a:buNone/>
            </a:pPr>
            <a:r>
              <a:rPr lang="en-US" sz="1000" dirty="0">
                <a:solidFill>
                  <a:srgbClr val="7A6A62"/>
                </a:solidFill>
                <a:latin typeface="Calibri" pitchFamily="34" charset="0"/>
                <a:ea typeface="Calibri" pitchFamily="34" charset="-122"/>
                <a:cs typeface="Calibri" pitchFamily="34" charset="-120"/>
              </a:rPr>
              <a:t>根拠: 04_Projects/修士研究/python/README.md, design_M5_同位相位置検出.md</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33333"/>
                </a:solidFill>
                <a:latin typeface="Cambria" pitchFamily="34" charset="0"/>
                <a:ea typeface="Cambria" pitchFamily="34" charset="-122"/>
                <a:cs typeface="Cambria" pitchFamily="34" charset="-120"/>
              </a:rPr>
              <a:t>M5: 回転周期と同巡点の自動検出</a:t>
            </a:r>
            <a:endParaRPr lang="en-US" sz="3000" dirty="0"/>
          </a:p>
        </p:txBody>
      </p:sp>
      <p:sp>
        <p:nvSpPr>
          <p:cNvPr id="3" name="Text 1"/>
          <p:cNvSpPr/>
          <p:nvPr/>
        </p:nvSpPr>
        <p:spPr>
          <a:xfrm>
            <a:off x="548640" y="1371600"/>
            <a:ext cx="6035040" cy="2377440"/>
          </a:xfrm>
          <a:prstGeom prst="rect">
            <a:avLst/>
          </a:prstGeom>
          <a:noFill/>
          <a:ln/>
        </p:spPr>
        <p:txBody>
          <a:bodyPr wrap="square" rtlCol="0" anchor="ctr"/>
          <a:lstStyle/>
          <a:p>
            <a:pPr marL="342900" indent="-342900">
              <a:spcAft>
                <a:spcPts val="800"/>
              </a:spcAft>
              <a:buSzPct val="100000"/>
              <a:buChar char="•"/>
            </a:pPr>
            <a:r>
              <a:rPr lang="en-US" sz="1450" dirty="0">
                <a:solidFill>
                  <a:srgbClr val="333333"/>
                </a:solidFill>
                <a:latin typeface="Calibri" pitchFamily="34" charset="0"/>
                <a:ea typeface="Calibri" pitchFamily="34" charset="-122"/>
                <a:cs typeface="Calibri" pitchFamily="34" charset="-120"/>
              </a:rPr>
              <a:t>縄の原体が1回転するごとに同じ模様が現れる点＝同巡点。その間隔が「回転周期 T」。</a:t>
            </a:r>
            <a:endParaRPr lang="en-US" sz="1450" dirty="0"/>
          </a:p>
          <a:p>
            <a:pPr marL="342900" indent="-342900">
              <a:spcAft>
                <a:spcPts val="800"/>
              </a:spcAft>
              <a:buSzPct val="100000"/>
              <a:buChar char="•"/>
            </a:pPr>
            <a:r>
              <a:rPr lang="en-US" sz="1450" dirty="0">
                <a:solidFill>
                  <a:srgbClr val="333333"/>
                </a:solidFill>
                <a:latin typeface="Calibri" pitchFamily="34" charset="0"/>
                <a:ea typeface="Calibri" pitchFamily="34" charset="-122"/>
                <a:cs typeface="Calibri" pitchFamily="34" charset="-120"/>
              </a:rPr>
              <a:t>高さマップを縄目方向に整列し、NCC（正規化相互相関）のプロファイルから T を推定。</a:t>
            </a:r>
            <a:endParaRPr lang="en-US" sz="1450" dirty="0"/>
          </a:p>
          <a:p>
            <a:pPr marL="342900" indent="-342900">
              <a:spcAft>
                <a:spcPts val="800"/>
              </a:spcAft>
              <a:buSzPct val="100000"/>
              <a:buChar char="•"/>
            </a:pPr>
            <a:r>
              <a:rPr lang="en-US" sz="1450" dirty="0">
                <a:solidFill>
                  <a:srgbClr val="333333"/>
                </a:solidFill>
                <a:latin typeface="Calibri" pitchFamily="34" charset="0"/>
                <a:ea typeface="Calibri" pitchFamily="34" charset="-122"/>
                <a:cs typeface="Calibri" pitchFamily="34" charset="-120"/>
              </a:rPr>
              <a:t>アンカー点の位相を揃えて帯フィットし、同巡点の3D座標を出力する。</a:t>
            </a:r>
            <a:endParaRPr lang="en-US" sz="1450" dirty="0"/>
          </a:p>
          <a:p>
            <a:pPr marL="342900" indent="-342900">
              <a:buSzPct val="100000"/>
              <a:buChar char="•"/>
            </a:pPr>
            <a:r>
              <a:rPr lang="en-US" sz="1450" dirty="0">
                <a:solidFill>
                  <a:srgbClr val="333333"/>
                </a:solidFill>
                <a:latin typeface="Calibri" pitchFamily="34" charset="0"/>
                <a:ea typeface="Calibri" pitchFamily="34" charset="-122"/>
                <a:cs typeface="Calibri" pitchFamily="34" charset="-120"/>
              </a:rPr>
              <a:t>曲面（土器の円筒面）には局所平面フィットで対応。</a:t>
            </a:r>
            <a:endParaRPr lang="en-US" sz="1450" dirty="0"/>
          </a:p>
        </p:txBody>
      </p:sp>
      <p:sp>
        <p:nvSpPr>
          <p:cNvPr id="4" name="Shape 2"/>
          <p:cNvSpPr/>
          <p:nvPr/>
        </p:nvSpPr>
        <p:spPr>
          <a:xfrm>
            <a:off x="548640" y="3931920"/>
            <a:ext cx="6035040" cy="2194560"/>
          </a:xfrm>
          <a:prstGeom prst="roundRect">
            <a:avLst>
              <a:gd name="adj" fmla="val 4167"/>
            </a:avLst>
          </a:prstGeom>
          <a:solidFill>
            <a:srgbClr val="3B2A26"/>
          </a:solidFill>
          <a:ln/>
        </p:spPr>
      </p:sp>
      <p:sp>
        <p:nvSpPr>
          <p:cNvPr id="5" name="Text 3"/>
          <p:cNvSpPr/>
          <p:nvPr/>
        </p:nvSpPr>
        <p:spPr>
          <a:xfrm>
            <a:off x="822960" y="4114800"/>
            <a:ext cx="5486400" cy="365760"/>
          </a:xfrm>
          <a:prstGeom prst="rect">
            <a:avLst/>
          </a:prstGeom>
          <a:noFill/>
          <a:ln/>
        </p:spPr>
        <p:txBody>
          <a:bodyPr wrap="square" lIns="0" tIns="0" rIns="0" bIns="0" rtlCol="0" anchor="ctr"/>
          <a:lstStyle/>
          <a:p>
            <a:pPr indent="0" marL="0">
              <a:buNone/>
            </a:pPr>
            <a:r>
              <a:rPr lang="en-US" sz="1400" b="1" dirty="0">
                <a:solidFill>
                  <a:srgbClr val="E7E8D1"/>
                </a:solidFill>
                <a:latin typeface="Cambria" pitchFamily="34" charset="0"/>
                <a:ea typeface="Cambria" pitchFamily="34" charset="-122"/>
                <a:cs typeface="Cambria" pitchFamily="34" charset="-120"/>
              </a:rPr>
              <a:t>合成データでの受け入れ試験（テスト16件通過）</a:t>
            </a:r>
            <a:endParaRPr lang="en-US" sz="1400" dirty="0"/>
          </a:p>
        </p:txBody>
      </p:sp>
      <p:sp>
        <p:nvSpPr>
          <p:cNvPr id="6" name="Text 4"/>
          <p:cNvSpPr/>
          <p:nvPr/>
        </p:nvSpPr>
        <p:spPr>
          <a:xfrm>
            <a:off x="822960" y="4572000"/>
            <a:ext cx="5486400" cy="1463040"/>
          </a:xfrm>
          <a:prstGeom prst="rect">
            <a:avLst/>
          </a:prstGeom>
          <a:noFill/>
          <a:ln/>
        </p:spPr>
        <p:txBody>
          <a:bodyPr wrap="square" rtlCol="0" anchor="ctr"/>
          <a:lstStyle/>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既知周期に対する誤差 &lt; 2%</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データ欠損20%でも誤差 &lt; 2% を維持</a:t>
            </a:r>
            <a:endParaRPr lang="en-US" sz="1300" dirty="0"/>
          </a:p>
          <a:p>
            <a:pPr marL="342900" indent="-342900">
              <a:buSzPct val="100000"/>
              <a:buChar char="•"/>
            </a:pPr>
            <a:r>
              <a:rPr lang="en-US" sz="1300" dirty="0">
                <a:solidFill>
                  <a:srgbClr val="FFFFFF"/>
                </a:solidFill>
                <a:latin typeface="Calibri" pitchFamily="34" charset="0"/>
                <a:ea typeface="Calibri" pitchFamily="34" charset="-122"/>
                <a:cs typeface="Calibri" pitchFamily="34" charset="-120"/>
              </a:rPr>
              <a:t>同巡点間隔が周期の整数倍に一致することを確認</a:t>
            </a:r>
            <a:endParaRPr lang="en-US" sz="1300" dirty="0"/>
          </a:p>
        </p:txBody>
      </p:sp>
      <p:pic>
        <p:nvPicPr>
          <p:cNvPr id="7" name="Image 0" descr="/Users/ryusan/brain/02_Raw/土器3（同巡点）.png">    </p:cNvPr>
          <p:cNvPicPr>
            <a:picLocks noChangeAspect="1"/>
          </p:cNvPicPr>
          <p:nvPr/>
        </p:nvPicPr>
        <p:blipFill>
          <a:blip r:embed="rId1"/>
          <a:stretch>
            <a:fillRect/>
          </a:stretch>
        </p:blipFill>
        <p:spPr>
          <a:xfrm>
            <a:off x="7040880" y="1463040"/>
            <a:ext cx="4572000" cy="3236976"/>
          </a:xfrm>
          <a:prstGeom prst="rect">
            <a:avLst/>
          </a:prstGeom>
        </p:spPr>
      </p:pic>
      <p:sp>
        <p:nvSpPr>
          <p:cNvPr id="8" name="Text 5"/>
          <p:cNvSpPr/>
          <p:nvPr/>
        </p:nvSpPr>
        <p:spPr>
          <a:xfrm>
            <a:off x="7040880" y="4800600"/>
            <a:ext cx="4572000" cy="320040"/>
          </a:xfrm>
          <a:prstGeom prst="rect">
            <a:avLst/>
          </a:prstGeom>
          <a:noFill/>
          <a:ln/>
        </p:spPr>
        <p:txBody>
          <a:bodyPr wrap="square" lIns="0" tIns="0" rIns="0" bIns="0" rtlCol="0" anchor="ctr"/>
          <a:lstStyle/>
          <a:p>
            <a:pPr indent="0" marL="0">
              <a:buNone/>
            </a:pPr>
            <a:r>
              <a:rPr lang="en-US" sz="1100" dirty="0">
                <a:solidFill>
                  <a:srgbClr val="7A6A62"/>
                </a:solidFill>
                <a:latin typeface="Calibri" pitchFamily="34" charset="0"/>
                <a:ea typeface="Calibri" pitchFamily="34" charset="-122"/>
                <a:cs typeface="Calibri" pitchFamily="34" charset="-120"/>
              </a:rPr>
              <a:t>ground truth候補: 同巡点の目視位置（指導教員提供画像）</a:t>
            </a:r>
            <a:endParaRPr lang="en-US" sz="1100" dirty="0"/>
          </a:p>
        </p:txBody>
      </p:sp>
      <p:sp>
        <p:nvSpPr>
          <p:cNvPr id="9" name="Text 6"/>
          <p:cNvSpPr/>
          <p:nvPr/>
        </p:nvSpPr>
        <p:spPr>
          <a:xfrm>
            <a:off x="548640" y="6446520"/>
            <a:ext cx="11064240" cy="274320"/>
          </a:xfrm>
          <a:prstGeom prst="rect">
            <a:avLst/>
          </a:prstGeom>
          <a:noFill/>
          <a:ln/>
        </p:spPr>
        <p:txBody>
          <a:bodyPr wrap="square" lIns="0" tIns="0" rIns="0" bIns="0" rtlCol="0" anchor="ctr"/>
          <a:lstStyle/>
          <a:p>
            <a:pPr indent="0" marL="0">
              <a:buNone/>
            </a:pPr>
            <a:r>
              <a:rPr lang="en-US" sz="1000" dirty="0">
                <a:solidFill>
                  <a:srgbClr val="7A6A62"/>
                </a:solidFill>
                <a:latin typeface="Calibri" pitchFamily="34" charset="0"/>
                <a:ea typeface="Calibri" pitchFamily="34" charset="-122"/>
                <a:cs typeface="Calibri" pitchFamily="34" charset="-120"/>
              </a:rPr>
              <a:t>根拠: 04_Projects/修士研究/design_M5_同位相位置検出.md, STATE.md</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33333"/>
                </a:solidFill>
                <a:latin typeface="Cambria" pitchFamily="34" charset="0"/>
                <a:ea typeface="Cambria" pitchFamily="34" charset="-122"/>
                <a:cs typeface="Cambria" pitchFamily="34" charset="-120"/>
              </a:rPr>
              <a:t>現状の結果と課題</a:t>
            </a:r>
            <a:endParaRPr lang="en-US" sz="3000" dirty="0"/>
          </a:p>
        </p:txBody>
      </p:sp>
      <p:sp>
        <p:nvSpPr>
          <p:cNvPr id="3" name="Text 1"/>
          <p:cNvSpPr/>
          <p:nvPr/>
        </p:nvSpPr>
        <p:spPr>
          <a:xfrm>
            <a:off x="548640" y="1325880"/>
            <a:ext cx="5943600" cy="365760"/>
          </a:xfrm>
          <a:prstGeom prst="rect">
            <a:avLst/>
          </a:prstGeom>
          <a:noFill/>
          <a:ln/>
        </p:spPr>
        <p:txBody>
          <a:bodyPr wrap="square" lIns="0" tIns="0" rIns="0" bIns="0" rtlCol="0" anchor="ctr"/>
          <a:lstStyle/>
          <a:p>
            <a:pPr indent="0" marL="0">
              <a:buNone/>
            </a:pPr>
            <a:r>
              <a:rPr lang="en-US" sz="1600" b="1" dirty="0">
                <a:solidFill>
                  <a:srgbClr val="B85042"/>
                </a:solidFill>
                <a:latin typeface="Cambria" pitchFamily="34" charset="0"/>
                <a:ea typeface="Cambria" pitchFamily="34" charset="-122"/>
                <a:cs typeface="Cambria" pitchFamily="34" charset="-120"/>
              </a:rPr>
              <a:t>実データ（1.ply）での出力例</a:t>
            </a:r>
            <a:endParaRPr lang="en-US" sz="1600" dirty="0"/>
          </a:p>
        </p:txBody>
      </p:sp>
      <p:sp>
        <p:nvSpPr>
          <p:cNvPr id="4" name="Shape 2"/>
          <p:cNvSpPr/>
          <p:nvPr/>
        </p:nvSpPr>
        <p:spPr>
          <a:xfrm>
            <a:off x="548640" y="1783080"/>
            <a:ext cx="5760720" cy="2651760"/>
          </a:xfrm>
          <a:prstGeom prst="roundRect">
            <a:avLst>
              <a:gd name="adj" fmla="val 2759"/>
            </a:avLst>
          </a:prstGeom>
          <a:solidFill>
            <a:srgbClr val="2B2B2B"/>
          </a:solidFill>
          <a:ln/>
        </p:spPr>
      </p:sp>
      <p:sp>
        <p:nvSpPr>
          <p:cNvPr id="5" name="Text 3"/>
          <p:cNvSpPr/>
          <p:nvPr/>
        </p:nvSpPr>
        <p:spPr>
          <a:xfrm>
            <a:off x="822960" y="1965960"/>
            <a:ext cx="5303520" cy="2286000"/>
          </a:xfrm>
          <a:prstGeom prst="rect">
            <a:avLst/>
          </a:prstGeom>
          <a:noFill/>
          <a:ln/>
        </p:spPr>
        <p:txBody>
          <a:bodyPr wrap="square" lIns="0" tIns="0" rIns="0" bIns="0" rtlCol="0" anchor="ctr"/>
          <a:lstStyle/>
          <a:p>
            <a:pPr indent="0" marL="0">
              <a:buNone/>
            </a:pPr>
            <a:r>
              <a:rPr lang="en-US" sz="1250" dirty="0">
                <a:solidFill>
                  <a:srgbClr val="A7E8A7"/>
                </a:solidFill>
                <a:latin typeface="Courier New" pitchFamily="34" charset="0"/>
                <a:ea typeface="Courier New" pitchFamily="34" charset="-122"/>
                <a:cs typeface="Courier New" pitchFamily="34" charset="-120"/>
              </a:rPr>
              <a:t>pitch=3.426mm  groove_dir=115.2deg</a:t>
            </a:r>
            <a:endParaRPr lang="en-US" sz="1250" dirty="0"/>
          </a:p>
          <a:p>
            <a:pPr indent="0" marL="0">
              <a:buNone/>
            </a:pPr>
            <a:r>
              <a:rPr lang="en-US" sz="1250" dirty="0">
                <a:solidFill>
                  <a:srgbClr val="A7E8A7"/>
                </a:solidFill>
                <a:latin typeface="Courier New" pitchFamily="34" charset="0"/>
                <a:ea typeface="Courier New" pitchFamily="34" charset="-122"/>
                <a:cs typeface="Courier New" pitchFamily="34" charset="-120"/>
              </a:rPr>
              <a:t>rolling_dir=63.2deg  confidence=1.00</a:t>
            </a:r>
            <a:endParaRPr lang="en-US" sz="1250" dirty="0"/>
          </a:p>
          <a:p>
            <a:pPr indent="0" marL="0">
              <a:buNone/>
            </a:pPr>
            <a:r>
              <a:rPr lang="en-US" sz="1250" dirty="0">
                <a:solidFill>
                  <a:srgbClr val="A7E8A7"/>
                </a:solidFill>
                <a:latin typeface="Courier New" pitchFamily="34" charset="0"/>
                <a:ea typeface="Courier New" pitchFamily="34" charset="-122"/>
                <a:cs typeface="Courier New" pitchFamily="34" charset="-120"/>
              </a:rPr>
              <a:t>period_vec=(3.100, 1.458)mm</a:t>
            </a:r>
            <a:endParaRPr lang="en-US" sz="1250" dirty="0"/>
          </a:p>
          <a:p>
            <a:pPr indent="0" marL="0">
              <a:buNone/>
            </a:pPr>
            <a:r>
              <a:rPr lang="en-US" sz="1250" dirty="0">
                <a:solidFill>
                  <a:srgbClr val="A7E8A7"/>
                </a:solidFill>
                <a:latin typeface="Courier New" pitchFamily="34" charset="0"/>
                <a:ea typeface="Courier New" pitchFamily="34" charset="-122"/>
                <a:cs typeface="Courier New" pitchFamily="34" charset="-120"/>
              </a:rPr>
              <a:t>grid=0.20mm  detrend_window=12</a:t>
            </a:r>
            <a:endParaRPr lang="en-US" sz="1250" dirty="0"/>
          </a:p>
          <a:p>
            <a:pPr indent="0" marL="0">
              <a:buNone/>
            </a:pPr>
            <a:r>
              <a:rPr lang="en-US" sz="1250" dirty="0">
                <a:solidFill>
                  <a:srgbClr val="A7E8A7"/>
                </a:solidFill>
                <a:latin typeface="Courier New" pitchFamily="34" charset="0"/>
                <a:ea typeface="Courier New" pitchFamily="34" charset="-122"/>
                <a:cs typeface="Courier New" pitchFamily="34" charset="-120"/>
              </a:rPr>
              <a:t>rolling_period=44.06mm</a:t>
            </a:r>
            <a:endParaRPr lang="en-US" sz="1250" dirty="0"/>
          </a:p>
          <a:p>
            <a:pPr indent="0" marL="0">
              <a:buNone/>
            </a:pPr>
            <a:r>
              <a:rPr lang="en-US" sz="1250" dirty="0">
                <a:solidFill>
                  <a:srgbClr val="A7E8A7"/>
                </a:solidFill>
                <a:latin typeface="Courier New" pitchFamily="34" charset="0"/>
                <a:ea typeface="Courier New" pitchFamily="34" charset="-122"/>
                <a:cs typeface="Courier New" pitchFamily="34" charset="-120"/>
              </a:rPr>
              <a:t>phase_confidence=0.83  anchors=6</a:t>
            </a:r>
            <a:endParaRPr lang="en-US" sz="1250" dirty="0"/>
          </a:p>
          <a:p>
            <a:pPr indent="0" marL="0">
              <a:buNone/>
            </a:pPr>
            <a:r>
              <a:rPr lang="en-US" sz="1250" dirty="0">
                <a:solidFill>
                  <a:srgbClr val="A7E8A7"/>
                </a:solidFill>
                <a:latin typeface="Courier New" pitchFamily="34" charset="0"/>
                <a:ea typeface="Courier New" pitchFamily="34" charset="-122"/>
                <a:cs typeface="Courier New" pitchFamily="34" charset="-120"/>
              </a:rPr>
              <a:t>anchor[0]=(17.255, -12.212, 6.215)</a:t>
            </a:r>
            <a:endParaRPr lang="en-US" sz="1250" dirty="0"/>
          </a:p>
        </p:txBody>
      </p:sp>
      <p:sp>
        <p:nvSpPr>
          <p:cNvPr id="6" name="Text 4"/>
          <p:cNvSpPr/>
          <p:nvPr/>
        </p:nvSpPr>
        <p:spPr>
          <a:xfrm>
            <a:off x="6766560" y="1325880"/>
            <a:ext cx="4846320" cy="365760"/>
          </a:xfrm>
          <a:prstGeom prst="rect">
            <a:avLst/>
          </a:prstGeom>
          <a:noFill/>
          <a:ln/>
        </p:spPr>
        <p:txBody>
          <a:bodyPr wrap="square" lIns="0" tIns="0" rIns="0" bIns="0" rtlCol="0" anchor="ctr"/>
          <a:lstStyle/>
          <a:p>
            <a:pPr indent="0" marL="0">
              <a:buNone/>
            </a:pPr>
            <a:r>
              <a:rPr lang="en-US" sz="1600" b="1" dirty="0">
                <a:solidFill>
                  <a:srgbClr val="B85042"/>
                </a:solidFill>
                <a:latin typeface="Cambria" pitchFamily="34" charset="0"/>
                <a:ea typeface="Cambria" pitchFamily="34" charset="-122"/>
                <a:cs typeface="Cambria" pitchFamily="34" charset="-120"/>
              </a:rPr>
              <a:t>残る課題</a:t>
            </a:r>
            <a:endParaRPr lang="en-US" sz="1600" dirty="0"/>
          </a:p>
        </p:txBody>
      </p:sp>
      <p:sp>
        <p:nvSpPr>
          <p:cNvPr id="7" name="Text 5"/>
          <p:cNvSpPr/>
          <p:nvPr/>
        </p:nvSpPr>
        <p:spPr>
          <a:xfrm>
            <a:off x="6766560" y="1783080"/>
            <a:ext cx="4846320" cy="2926080"/>
          </a:xfrm>
          <a:prstGeom prst="rect">
            <a:avLst/>
          </a:prstGeom>
          <a:noFill/>
          <a:ln/>
        </p:spPr>
        <p:txBody>
          <a:bodyPr wrap="square" rtlCol="0" anchor="ctr"/>
          <a:lstStyle/>
          <a:p>
            <a:pPr marL="342900" indent="-342900">
              <a:spcAft>
                <a:spcPts val="800"/>
              </a:spcAft>
              <a:buSzPct val="100000"/>
              <a:buChar char="•"/>
            </a:pPr>
            <a:r>
              <a:rPr lang="en-US" sz="1350" dirty="0">
                <a:solidFill>
                  <a:srgbClr val="333333"/>
                </a:solidFill>
                <a:latin typeface="Calibri" pitchFamily="34" charset="0"/>
                <a:ea typeface="Calibri" pitchFamily="34" charset="-122"/>
                <a:cs typeface="Calibri" pitchFamily="34" charset="-120"/>
              </a:rPr>
              <a:t>実データ上の同巡点3D座標の正解（ground truth）が未入手 → 定量評価が保留中</a:t>
            </a:r>
            <a:endParaRPr lang="en-US" sz="1350" dirty="0"/>
          </a:p>
          <a:p>
            <a:pPr marL="342900" indent="-342900">
              <a:spcAft>
                <a:spcPts val="800"/>
              </a:spcAft>
              <a:buSzPct val="100000"/>
              <a:buChar char="•"/>
            </a:pPr>
            <a:r>
              <a:rPr lang="en-US" sz="1350" dirty="0">
                <a:solidFill>
                  <a:srgbClr val="333333"/>
                </a:solidFill>
                <a:latin typeface="Calibri" pitchFamily="34" charset="0"/>
                <a:ea typeface="Calibri" pitchFamily="34" charset="-122"/>
                <a:cs typeface="Calibri" pitchFamily="34" charset="-120"/>
              </a:rPr>
              <a:t>MeshLab Picked Pointsによる正解座標を指導教員に依頼中</a:t>
            </a:r>
            <a:endParaRPr lang="en-US" sz="1350" dirty="0"/>
          </a:p>
          <a:p>
            <a:pPr marL="342900" indent="-342900">
              <a:spcAft>
                <a:spcPts val="800"/>
              </a:spcAft>
              <a:buSzPct val="100000"/>
              <a:buChar char="•"/>
            </a:pPr>
            <a:r>
              <a:rPr lang="en-US" sz="1350" dirty="0">
                <a:solidFill>
                  <a:srgbClr val="333333"/>
                </a:solidFill>
                <a:latin typeface="Calibri" pitchFamily="34" charset="0"/>
                <a:ea typeface="Calibri" pitchFamily="34" charset="-122"/>
                <a:cs typeface="Calibri" pitchFamily="34" charset="-120"/>
              </a:rPr>
              <a:t>パラメータ（格子ピッチ・周期探索範囲）が手動指定のまま</a:t>
            </a:r>
            <a:endParaRPr lang="en-US" sz="1350" dirty="0"/>
          </a:p>
          <a:p>
            <a:pPr marL="342900" indent="-342900">
              <a:buSzPct val="100000"/>
              <a:buChar char="•"/>
            </a:pPr>
            <a:r>
              <a:rPr lang="en-US" sz="1350" dirty="0">
                <a:solidFill>
                  <a:srgbClr val="333333"/>
                </a:solidFill>
                <a:latin typeface="Calibri" pitchFamily="34" charset="0"/>
                <a:ea typeface="Calibri" pitchFamily="34" charset="-122"/>
                <a:cs typeface="Calibri" pitchFamily="34" charset="-120"/>
              </a:rPr>
              <a:t>曲面対応は局所平面フィット近似 → 円筒フィット＋展開への拡張を検討</a:t>
            </a:r>
            <a:endParaRPr lang="en-US" sz="1350" dirty="0"/>
          </a:p>
        </p:txBody>
      </p:sp>
      <p:sp>
        <p:nvSpPr>
          <p:cNvPr id="8" name="Text 6"/>
          <p:cNvSpPr/>
          <p:nvPr/>
        </p:nvSpPr>
        <p:spPr>
          <a:xfrm>
            <a:off x="548640" y="6446520"/>
            <a:ext cx="11064240" cy="274320"/>
          </a:xfrm>
          <a:prstGeom prst="rect">
            <a:avLst/>
          </a:prstGeom>
          <a:noFill/>
          <a:ln/>
        </p:spPr>
        <p:txBody>
          <a:bodyPr wrap="square" lIns="0" tIns="0" rIns="0" bIns="0" rtlCol="0" anchor="ctr"/>
          <a:lstStyle/>
          <a:p>
            <a:pPr indent="0" marL="0">
              <a:buNone/>
            </a:pPr>
            <a:r>
              <a:rPr lang="en-US" sz="1000" dirty="0">
                <a:solidFill>
                  <a:srgbClr val="7A6A62"/>
                </a:solidFill>
                <a:latin typeface="Calibri" pitchFamily="34" charset="0"/>
                <a:ea typeface="Calibri" pitchFamily="34" charset="-122"/>
                <a:cs typeface="Calibri" pitchFamily="34" charset="-120"/>
              </a:rPr>
              <a:t>根拠: 04_Projects/修士研究/STATE.md, python/README.md</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33333"/>
                </a:solidFill>
                <a:latin typeface="Cambria" pitchFamily="34" charset="0"/>
                <a:ea typeface="Cambria" pitchFamily="34" charset="-122"/>
                <a:cs typeface="Cambria" pitchFamily="34" charset="-120"/>
              </a:rPr>
              <a:t>効率化の前提 — 3Dメッシュは「大規模データ」</a:t>
            </a:r>
            <a:endParaRPr lang="en-US" sz="3000" dirty="0"/>
          </a:p>
        </p:txBody>
      </p:sp>
      <p:sp>
        <p:nvSpPr>
          <p:cNvPr id="3" name="Shape 1"/>
          <p:cNvSpPr/>
          <p:nvPr/>
        </p:nvSpPr>
        <p:spPr>
          <a:xfrm>
            <a:off x="548640" y="1463040"/>
            <a:ext cx="3566160" cy="2011680"/>
          </a:xfrm>
          <a:prstGeom prst="roundRect">
            <a:avLst>
              <a:gd name="adj" fmla="val 4545"/>
            </a:avLst>
          </a:prstGeom>
          <a:solidFill>
            <a:srgbClr val="E7E8D1"/>
          </a:solidFill>
          <a:ln/>
        </p:spPr>
      </p:sp>
      <p:sp>
        <p:nvSpPr>
          <p:cNvPr id="4" name="Text 2"/>
          <p:cNvSpPr/>
          <p:nvPr/>
        </p:nvSpPr>
        <p:spPr>
          <a:xfrm>
            <a:off x="548640" y="1691640"/>
            <a:ext cx="3566160" cy="1005840"/>
          </a:xfrm>
          <a:prstGeom prst="rect">
            <a:avLst/>
          </a:prstGeom>
          <a:noFill/>
          <a:ln/>
        </p:spPr>
        <p:txBody>
          <a:bodyPr wrap="square" lIns="0" tIns="0" rIns="0" bIns="0" rtlCol="0" anchor="ctr"/>
          <a:lstStyle/>
          <a:p>
            <a:pPr algn="ctr" indent="0" marL="0">
              <a:buNone/>
            </a:pPr>
            <a:r>
              <a:rPr lang="en-US" sz="5400" b="1" dirty="0">
                <a:solidFill>
                  <a:srgbClr val="B85042"/>
                </a:solidFill>
                <a:latin typeface="Cambria" pitchFamily="34" charset="0"/>
                <a:ea typeface="Cambria" pitchFamily="34" charset="-122"/>
                <a:cs typeface="Cambria" pitchFamily="34" charset="-120"/>
              </a:rPr>
              <a:t>741万</a:t>
            </a:r>
            <a:endParaRPr lang="en-US" sz="5400" dirty="0"/>
          </a:p>
        </p:txBody>
      </p:sp>
      <p:sp>
        <p:nvSpPr>
          <p:cNvPr id="5" name="Text 3"/>
          <p:cNvSpPr/>
          <p:nvPr/>
        </p:nvSpPr>
        <p:spPr>
          <a:xfrm>
            <a:off x="548640" y="2788920"/>
            <a:ext cx="3566160" cy="457200"/>
          </a:xfrm>
          <a:prstGeom prst="rect">
            <a:avLst/>
          </a:prstGeom>
          <a:noFill/>
          <a:ln/>
        </p:spPr>
        <p:txBody>
          <a:bodyPr wrap="square" lIns="0" tIns="0" rIns="0" bIns="0" rtlCol="0" anchor="ctr"/>
          <a:lstStyle/>
          <a:p>
            <a:pPr algn="ctr" indent="0" marL="0">
              <a:buNone/>
            </a:pPr>
            <a:r>
              <a:rPr lang="en-US" sz="1400" dirty="0">
                <a:solidFill>
                  <a:srgbClr val="333333"/>
                </a:solidFill>
                <a:latin typeface="Calibri" pitchFamily="34" charset="0"/>
                <a:ea typeface="Calibri" pitchFamily="34" charset="-122"/>
                <a:cs typeface="Calibri" pitchFamily="34" charset="-120"/>
              </a:rPr>
              <a:t>頂点数（土器片 1.ply）</a:t>
            </a:r>
            <a:endParaRPr lang="en-US" sz="1400" dirty="0"/>
          </a:p>
        </p:txBody>
      </p:sp>
      <p:sp>
        <p:nvSpPr>
          <p:cNvPr id="6" name="Shape 4"/>
          <p:cNvSpPr/>
          <p:nvPr/>
        </p:nvSpPr>
        <p:spPr>
          <a:xfrm>
            <a:off x="4434840" y="1463040"/>
            <a:ext cx="3566160" cy="2011680"/>
          </a:xfrm>
          <a:prstGeom prst="roundRect">
            <a:avLst>
              <a:gd name="adj" fmla="val 4545"/>
            </a:avLst>
          </a:prstGeom>
          <a:solidFill>
            <a:srgbClr val="E7E8D1"/>
          </a:solidFill>
          <a:ln/>
        </p:spPr>
      </p:sp>
      <p:sp>
        <p:nvSpPr>
          <p:cNvPr id="7" name="Text 5"/>
          <p:cNvSpPr/>
          <p:nvPr/>
        </p:nvSpPr>
        <p:spPr>
          <a:xfrm>
            <a:off x="4434840" y="1691640"/>
            <a:ext cx="3566160" cy="1005840"/>
          </a:xfrm>
          <a:prstGeom prst="rect">
            <a:avLst/>
          </a:prstGeom>
          <a:noFill/>
          <a:ln/>
        </p:spPr>
        <p:txBody>
          <a:bodyPr wrap="square" lIns="0" tIns="0" rIns="0" bIns="0" rtlCol="0" anchor="ctr"/>
          <a:lstStyle/>
          <a:p>
            <a:pPr algn="ctr" indent="0" marL="0">
              <a:buNone/>
            </a:pPr>
            <a:r>
              <a:rPr lang="en-US" sz="5400" b="1" dirty="0">
                <a:solidFill>
                  <a:srgbClr val="B85042"/>
                </a:solidFill>
                <a:latin typeface="Cambria" pitchFamily="34" charset="0"/>
                <a:ea typeface="Cambria" pitchFamily="34" charset="-122"/>
                <a:cs typeface="Cambria" pitchFamily="34" charset="-120"/>
              </a:rPr>
              <a:t>697万</a:t>
            </a:r>
            <a:endParaRPr lang="en-US" sz="5400" dirty="0"/>
          </a:p>
        </p:txBody>
      </p:sp>
      <p:sp>
        <p:nvSpPr>
          <p:cNvPr id="8" name="Text 6"/>
          <p:cNvSpPr/>
          <p:nvPr/>
        </p:nvSpPr>
        <p:spPr>
          <a:xfrm>
            <a:off x="4434840" y="2788920"/>
            <a:ext cx="3566160" cy="457200"/>
          </a:xfrm>
          <a:prstGeom prst="rect">
            <a:avLst/>
          </a:prstGeom>
          <a:noFill/>
          <a:ln/>
        </p:spPr>
        <p:txBody>
          <a:bodyPr wrap="square" lIns="0" tIns="0" rIns="0" bIns="0" rtlCol="0" anchor="ctr"/>
          <a:lstStyle/>
          <a:p>
            <a:pPr algn="ctr" indent="0" marL="0">
              <a:buNone/>
            </a:pPr>
            <a:r>
              <a:rPr lang="en-US" sz="1400" dirty="0">
                <a:solidFill>
                  <a:srgbClr val="333333"/>
                </a:solidFill>
                <a:latin typeface="Calibri" pitchFamily="34" charset="0"/>
                <a:ea typeface="Calibri" pitchFamily="34" charset="-122"/>
                <a:cs typeface="Calibri" pitchFamily="34" charset="-120"/>
              </a:rPr>
              <a:t>頂点数（土器片 3.ply）</a:t>
            </a:r>
            <a:endParaRPr lang="en-US" sz="1400" dirty="0"/>
          </a:p>
        </p:txBody>
      </p:sp>
      <p:sp>
        <p:nvSpPr>
          <p:cNvPr id="9" name="Shape 7"/>
          <p:cNvSpPr/>
          <p:nvPr/>
        </p:nvSpPr>
        <p:spPr>
          <a:xfrm>
            <a:off x="8321040" y="1463040"/>
            <a:ext cx="3566160" cy="2011680"/>
          </a:xfrm>
          <a:prstGeom prst="roundRect">
            <a:avLst>
              <a:gd name="adj" fmla="val 4545"/>
            </a:avLst>
          </a:prstGeom>
          <a:solidFill>
            <a:srgbClr val="E7E8D1"/>
          </a:solidFill>
          <a:ln/>
        </p:spPr>
      </p:sp>
      <p:sp>
        <p:nvSpPr>
          <p:cNvPr id="10" name="Text 8"/>
          <p:cNvSpPr/>
          <p:nvPr/>
        </p:nvSpPr>
        <p:spPr>
          <a:xfrm>
            <a:off x="8321040" y="1691640"/>
            <a:ext cx="3566160" cy="1005840"/>
          </a:xfrm>
          <a:prstGeom prst="rect">
            <a:avLst/>
          </a:prstGeom>
          <a:noFill/>
          <a:ln/>
        </p:spPr>
        <p:txBody>
          <a:bodyPr wrap="square" lIns="0" tIns="0" rIns="0" bIns="0" rtlCol="0" anchor="ctr"/>
          <a:lstStyle/>
          <a:p>
            <a:pPr algn="ctr" indent="0" marL="0">
              <a:buNone/>
            </a:pPr>
            <a:r>
              <a:rPr lang="en-US" sz="5400" b="1" dirty="0">
                <a:solidFill>
                  <a:srgbClr val="A7BEAE"/>
                </a:solidFill>
                <a:latin typeface="Cambria" pitchFamily="34" charset="0"/>
                <a:ea typeface="Cambria" pitchFamily="34" charset="-122"/>
                <a:cs typeface="Cambria" pitchFamily="34" charset="-120"/>
              </a:rPr>
              <a:t>0.2 mm</a:t>
            </a:r>
            <a:endParaRPr lang="en-US" sz="5400" dirty="0"/>
          </a:p>
        </p:txBody>
      </p:sp>
      <p:sp>
        <p:nvSpPr>
          <p:cNvPr id="11" name="Text 9"/>
          <p:cNvSpPr/>
          <p:nvPr/>
        </p:nvSpPr>
        <p:spPr>
          <a:xfrm>
            <a:off x="8321040" y="2788920"/>
            <a:ext cx="3566160" cy="457200"/>
          </a:xfrm>
          <a:prstGeom prst="rect">
            <a:avLst/>
          </a:prstGeom>
          <a:noFill/>
          <a:ln/>
        </p:spPr>
        <p:txBody>
          <a:bodyPr wrap="square" lIns="0" tIns="0" rIns="0" bIns="0" rtlCol="0" anchor="ctr"/>
          <a:lstStyle/>
          <a:p>
            <a:pPr algn="ctr" indent="0" marL="0">
              <a:buNone/>
            </a:pPr>
            <a:r>
              <a:rPr lang="en-US" sz="1400" dirty="0">
                <a:solidFill>
                  <a:srgbClr val="333333"/>
                </a:solidFill>
                <a:latin typeface="Calibri" pitchFamily="34" charset="0"/>
                <a:ea typeface="Calibri" pitchFamily="34" charset="-122"/>
                <a:cs typeface="Calibri" pitchFamily="34" charset="-120"/>
              </a:rPr>
              <a:t>高さマップの格子解像度</a:t>
            </a:r>
            <a:endParaRPr lang="en-US" sz="1400" dirty="0"/>
          </a:p>
        </p:txBody>
      </p:sp>
      <p:sp>
        <p:nvSpPr>
          <p:cNvPr id="12" name="Text 10"/>
          <p:cNvSpPr/>
          <p:nvPr/>
        </p:nvSpPr>
        <p:spPr>
          <a:xfrm>
            <a:off x="640080" y="3931920"/>
            <a:ext cx="10972800" cy="2103120"/>
          </a:xfrm>
          <a:prstGeom prst="rect">
            <a:avLst/>
          </a:prstGeom>
          <a:noFill/>
          <a:ln/>
        </p:spPr>
        <p:txBody>
          <a:bodyPr wrap="square" rtlCol="0" anchor="ctr"/>
          <a:lstStyle/>
          <a:p>
            <a:pPr marL="342900" indent="-342900">
              <a:spcAft>
                <a:spcPts val="800"/>
              </a:spcAft>
              <a:buSzPct val="100000"/>
              <a:buChar char="•"/>
            </a:pPr>
            <a:r>
              <a:rPr lang="en-US" sz="1500" dirty="0">
                <a:solidFill>
                  <a:srgbClr val="333333"/>
                </a:solidFill>
                <a:latin typeface="Calibri" pitchFamily="34" charset="0"/>
                <a:ea typeface="Calibri" pitchFamily="34" charset="-122"/>
                <a:cs typeface="Calibri" pitchFamily="34" charset="-120"/>
              </a:rPr>
              <a:t>数百万頂点の点群・メッシュをそのまま扱うと、1回の処理でもメモリ・計算時間が問題になる規模。</a:t>
            </a:r>
            <a:endParaRPr lang="en-US" sz="1500" dirty="0"/>
          </a:p>
          <a:p>
            <a:pPr marL="342900" indent="-342900">
              <a:spcAft>
                <a:spcPts val="800"/>
              </a:spcAft>
              <a:buSzPct val="100000"/>
              <a:buChar char="•"/>
            </a:pPr>
            <a:r>
              <a:rPr lang="en-US" sz="1500" dirty="0">
                <a:solidFill>
                  <a:srgbClr val="333333"/>
                </a:solidFill>
                <a:latin typeface="Calibri" pitchFamily="34" charset="0"/>
                <a:ea typeface="Calibri" pitchFamily="34" charset="-122"/>
                <a:cs typeface="Calibri" pitchFamily="34" charset="-120"/>
              </a:rPr>
              <a:t>本研究では「対象面の切り出し → 格子状の高さマップへの次元削減」により、3D問題を2D画像問題へ落として計算量を抑える。</a:t>
            </a:r>
            <a:endParaRPr lang="en-US" sz="1500" dirty="0"/>
          </a:p>
          <a:p>
            <a:pPr marL="342900" indent="-342900">
              <a:buSzPct val="100000"/>
              <a:buChar char="•"/>
            </a:pPr>
            <a:r>
              <a:rPr lang="en-US" sz="1500" dirty="0">
                <a:solidFill>
                  <a:srgbClr val="333333"/>
                </a:solidFill>
                <a:latin typeface="Calibri" pitchFamily="34" charset="0"/>
                <a:ea typeface="Calibri" pitchFamily="34" charset="-122"/>
                <a:cs typeface="Calibri" pitchFamily="34" charset="-120"/>
              </a:rPr>
              <a:t>それでも高さマップ上のFFT・自己相関・NCC計算は反復実行されるため、計算量の見積もりと並列化余地の把握が重要になる。</a:t>
            </a:r>
            <a:endParaRPr lang="en-US" sz="1500" dirty="0"/>
          </a:p>
        </p:txBody>
      </p:sp>
      <p:sp>
        <p:nvSpPr>
          <p:cNvPr id="13" name="Text 11"/>
          <p:cNvSpPr/>
          <p:nvPr/>
        </p:nvSpPr>
        <p:spPr>
          <a:xfrm>
            <a:off x="548640" y="6446520"/>
            <a:ext cx="11064240" cy="274320"/>
          </a:xfrm>
          <a:prstGeom prst="rect">
            <a:avLst/>
          </a:prstGeom>
          <a:noFill/>
          <a:ln/>
        </p:spPr>
        <p:txBody>
          <a:bodyPr wrap="square" lIns="0" tIns="0" rIns="0" bIns="0" rtlCol="0" anchor="ctr"/>
          <a:lstStyle/>
          <a:p>
            <a:pPr indent="0" marL="0">
              <a:buNone/>
            </a:pPr>
            <a:r>
              <a:rPr lang="en-US" sz="1000" dirty="0">
                <a:solidFill>
                  <a:srgbClr val="7A6A62"/>
                </a:solidFill>
                <a:latin typeface="Calibri" pitchFamily="34" charset="0"/>
                <a:ea typeface="Calibri" pitchFamily="34" charset="-122"/>
                <a:cs typeface="Calibri" pitchFamily="34" charset="-120"/>
              </a:rPr>
              <a:t>根拠: 04_Projects/修士研究/python/README.md</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33333"/>
                </a:solidFill>
                <a:latin typeface="Cambria" pitchFamily="34" charset="0"/>
                <a:ea typeface="Cambria" pitchFamily="34" charset="-122"/>
                <a:cs typeface="Cambria" pitchFamily="34" charset="-120"/>
              </a:rPr>
              <a:t>効率化ポイント①  多変量解析の手法</a:t>
            </a:r>
            <a:endParaRPr lang="en-US" sz="3000" dirty="0"/>
          </a:p>
        </p:txBody>
      </p:sp>
      <p:sp>
        <p:nvSpPr>
          <p:cNvPr id="3" name="Shape 1"/>
          <p:cNvSpPr/>
          <p:nvPr/>
        </p:nvSpPr>
        <p:spPr>
          <a:xfrm>
            <a:off x="548640" y="1371600"/>
            <a:ext cx="5394960" cy="2194560"/>
          </a:xfrm>
          <a:prstGeom prst="roundRect">
            <a:avLst>
              <a:gd name="adj" fmla="val 4167"/>
            </a:avLst>
          </a:prstGeom>
          <a:solidFill>
            <a:srgbClr val="E7E8D1"/>
          </a:solidFill>
          <a:ln/>
        </p:spPr>
      </p:sp>
      <p:sp>
        <p:nvSpPr>
          <p:cNvPr id="4" name="Text 2"/>
          <p:cNvSpPr/>
          <p:nvPr/>
        </p:nvSpPr>
        <p:spPr>
          <a:xfrm>
            <a:off x="777240" y="1508760"/>
            <a:ext cx="4937760" cy="411480"/>
          </a:xfrm>
          <a:prstGeom prst="rect">
            <a:avLst/>
          </a:prstGeom>
          <a:noFill/>
          <a:ln/>
        </p:spPr>
        <p:txBody>
          <a:bodyPr wrap="square" lIns="0" tIns="0" rIns="0" bIns="0" rtlCol="0" anchor="ctr"/>
          <a:lstStyle/>
          <a:p>
            <a:pPr indent="0" marL="0">
              <a:buNone/>
            </a:pPr>
            <a:r>
              <a:rPr lang="en-US" sz="1600" b="1" dirty="0">
                <a:solidFill>
                  <a:srgbClr val="B85042"/>
                </a:solidFill>
                <a:latin typeface="Cambria" pitchFamily="34" charset="0"/>
                <a:ea typeface="Cambria" pitchFamily="34" charset="-122"/>
                <a:cs typeface="Cambria" pitchFamily="34" charset="-120"/>
              </a:rPr>
              <a:t>PCA（主成分分析）</a:t>
            </a:r>
            <a:endParaRPr lang="en-US" sz="1600" dirty="0"/>
          </a:p>
        </p:txBody>
      </p:sp>
      <p:sp>
        <p:nvSpPr>
          <p:cNvPr id="5" name="Text 3"/>
          <p:cNvSpPr/>
          <p:nvPr/>
        </p:nvSpPr>
        <p:spPr>
          <a:xfrm>
            <a:off x="777240" y="1965960"/>
            <a:ext cx="4937760" cy="1463040"/>
          </a:xfrm>
          <a:prstGeom prst="rect">
            <a:avLst/>
          </a:prstGeom>
          <a:noFill/>
          <a:ln/>
        </p:spPr>
        <p:txBody>
          <a:bodyPr wrap="square" lIns="0" tIns="0" rIns="0" bIns="0" rtlCol="0" anchor="ctr"/>
          <a:lstStyle/>
          <a:p>
            <a:pPr indent="0" marL="0">
              <a:buNone/>
            </a:pPr>
            <a:r>
              <a:rPr lang="en-US" sz="1250" dirty="0">
                <a:solidFill>
                  <a:srgbClr val="333333"/>
                </a:solidFill>
                <a:latin typeface="Calibri" pitchFamily="34" charset="0"/>
                <a:ea typeface="Calibri" pitchFamily="34" charset="-122"/>
                <a:cs typeface="Calibri" pitchFamily="34" charset="-120"/>
              </a:rPr>
              <a:t>M3: 対象面の頂点群3次元座標にPCAを適用し、第1・第2主成分で局所平面を張って高さマップ（第3成分＝高さ）を作る。第4回で学んだ次元削減の直接応用。</a:t>
            </a:r>
            <a:endParaRPr lang="en-US" sz="1250" dirty="0"/>
          </a:p>
        </p:txBody>
      </p:sp>
      <p:sp>
        <p:nvSpPr>
          <p:cNvPr id="6" name="Shape 4"/>
          <p:cNvSpPr/>
          <p:nvPr/>
        </p:nvSpPr>
        <p:spPr>
          <a:xfrm>
            <a:off x="6263640" y="1371600"/>
            <a:ext cx="5394960" cy="2194560"/>
          </a:xfrm>
          <a:prstGeom prst="roundRect">
            <a:avLst>
              <a:gd name="adj" fmla="val 4167"/>
            </a:avLst>
          </a:prstGeom>
          <a:solidFill>
            <a:srgbClr val="E7E8D1"/>
          </a:solidFill>
          <a:ln/>
        </p:spPr>
      </p:sp>
      <p:sp>
        <p:nvSpPr>
          <p:cNvPr id="7" name="Text 5"/>
          <p:cNvSpPr/>
          <p:nvPr/>
        </p:nvSpPr>
        <p:spPr>
          <a:xfrm>
            <a:off x="6492240" y="1508760"/>
            <a:ext cx="4937760" cy="411480"/>
          </a:xfrm>
          <a:prstGeom prst="rect">
            <a:avLst/>
          </a:prstGeom>
          <a:noFill/>
          <a:ln/>
        </p:spPr>
        <p:txBody>
          <a:bodyPr wrap="square" lIns="0" tIns="0" rIns="0" bIns="0" rtlCol="0" anchor="ctr"/>
          <a:lstStyle/>
          <a:p>
            <a:pPr indent="0" marL="0">
              <a:buNone/>
            </a:pPr>
            <a:r>
              <a:rPr lang="en-US" sz="1600" b="1" dirty="0">
                <a:solidFill>
                  <a:srgbClr val="B85042"/>
                </a:solidFill>
                <a:latin typeface="Cambria" pitchFamily="34" charset="0"/>
                <a:ea typeface="Cambria" pitchFamily="34" charset="-122"/>
                <a:cs typeface="Cambria" pitchFamily="34" charset="-120"/>
              </a:rPr>
              <a:t>クラスタリング</a:t>
            </a:r>
            <a:endParaRPr lang="en-US" sz="1600" dirty="0"/>
          </a:p>
        </p:txBody>
      </p:sp>
      <p:sp>
        <p:nvSpPr>
          <p:cNvPr id="8" name="Text 6"/>
          <p:cNvSpPr/>
          <p:nvPr/>
        </p:nvSpPr>
        <p:spPr>
          <a:xfrm>
            <a:off x="6492240" y="1965960"/>
            <a:ext cx="4937760" cy="1463040"/>
          </a:xfrm>
          <a:prstGeom prst="rect">
            <a:avLst/>
          </a:prstGeom>
          <a:noFill/>
          <a:ln/>
        </p:spPr>
        <p:txBody>
          <a:bodyPr wrap="square" lIns="0" tIns="0" rIns="0" bIns="0" rtlCol="0" anchor="ctr"/>
          <a:lstStyle/>
          <a:p>
            <a:pPr indent="0" marL="0">
              <a:buNone/>
            </a:pPr>
            <a:r>
              <a:rPr lang="en-US" sz="1250" dirty="0">
                <a:solidFill>
                  <a:srgbClr val="333333"/>
                </a:solidFill>
                <a:latin typeface="Calibri" pitchFamily="34" charset="0"/>
                <a:ea typeface="Calibri" pitchFamily="34" charset="-122"/>
                <a:cs typeface="Calibri" pitchFamily="34" charset="-120"/>
              </a:rPr>
              <a:t>M2: 頂点法線ベクトルのクラスタリングで「縄目のある面」だけを切り出す。第5回のクラスタ分析の考え方と同じ。</a:t>
            </a:r>
            <a:endParaRPr lang="en-US" sz="1250" dirty="0"/>
          </a:p>
        </p:txBody>
      </p:sp>
      <p:sp>
        <p:nvSpPr>
          <p:cNvPr id="9" name="Shape 7"/>
          <p:cNvSpPr/>
          <p:nvPr/>
        </p:nvSpPr>
        <p:spPr>
          <a:xfrm>
            <a:off x="548640" y="3794760"/>
            <a:ext cx="5394960" cy="2194560"/>
          </a:xfrm>
          <a:prstGeom prst="roundRect">
            <a:avLst>
              <a:gd name="adj" fmla="val 4167"/>
            </a:avLst>
          </a:prstGeom>
          <a:solidFill>
            <a:srgbClr val="E7E8D1"/>
          </a:solidFill>
          <a:ln/>
        </p:spPr>
      </p:sp>
      <p:sp>
        <p:nvSpPr>
          <p:cNvPr id="10" name="Text 8"/>
          <p:cNvSpPr/>
          <p:nvPr/>
        </p:nvSpPr>
        <p:spPr>
          <a:xfrm>
            <a:off x="777240" y="3931920"/>
            <a:ext cx="4937760" cy="411480"/>
          </a:xfrm>
          <a:prstGeom prst="rect">
            <a:avLst/>
          </a:prstGeom>
          <a:noFill/>
          <a:ln/>
        </p:spPr>
        <p:txBody>
          <a:bodyPr wrap="square" lIns="0" tIns="0" rIns="0" bIns="0" rtlCol="0" anchor="ctr"/>
          <a:lstStyle/>
          <a:p>
            <a:pPr indent="0" marL="0">
              <a:buNone/>
            </a:pPr>
            <a:r>
              <a:rPr lang="en-US" sz="1600" b="1" dirty="0">
                <a:solidFill>
                  <a:srgbClr val="B85042"/>
                </a:solidFill>
                <a:latin typeface="Cambria" pitchFamily="34" charset="0"/>
                <a:ea typeface="Cambria" pitchFamily="34" charset="-122"/>
                <a:cs typeface="Cambria" pitchFamily="34" charset="-120"/>
              </a:rPr>
              <a:t>構造テンソル（固有値分解）</a:t>
            </a:r>
            <a:endParaRPr lang="en-US" sz="1600" dirty="0"/>
          </a:p>
        </p:txBody>
      </p:sp>
      <p:sp>
        <p:nvSpPr>
          <p:cNvPr id="11" name="Text 9"/>
          <p:cNvSpPr/>
          <p:nvPr/>
        </p:nvSpPr>
        <p:spPr>
          <a:xfrm>
            <a:off x="777240" y="4389120"/>
            <a:ext cx="4937760" cy="1463040"/>
          </a:xfrm>
          <a:prstGeom prst="rect">
            <a:avLst/>
          </a:prstGeom>
          <a:noFill/>
          <a:ln/>
        </p:spPr>
        <p:txBody>
          <a:bodyPr wrap="square" lIns="0" tIns="0" rIns="0" bIns="0" rtlCol="0" anchor="ctr"/>
          <a:lstStyle/>
          <a:p>
            <a:pPr indent="0" marL="0">
              <a:buNone/>
            </a:pPr>
            <a:r>
              <a:rPr lang="en-US" sz="1250" dirty="0">
                <a:solidFill>
                  <a:srgbClr val="333333"/>
                </a:solidFill>
                <a:latin typeface="Calibri" pitchFamily="34" charset="0"/>
                <a:ea typeface="Calibri" pitchFamily="34" charset="-122"/>
                <a:cs typeface="Calibri" pitchFamily="34" charset="-120"/>
              </a:rPr>
              <a:t>M4: 勾配の共分散行列の固有ベクトルから縄の走行方向を推定。分散共分散行列と固有値分解という多変量解析の基本操作。</a:t>
            </a:r>
            <a:endParaRPr lang="en-US" sz="1250" dirty="0"/>
          </a:p>
        </p:txBody>
      </p:sp>
      <p:sp>
        <p:nvSpPr>
          <p:cNvPr id="12" name="Shape 10"/>
          <p:cNvSpPr/>
          <p:nvPr/>
        </p:nvSpPr>
        <p:spPr>
          <a:xfrm>
            <a:off x="6263640" y="3794760"/>
            <a:ext cx="5394960" cy="2194560"/>
          </a:xfrm>
          <a:prstGeom prst="roundRect">
            <a:avLst>
              <a:gd name="adj" fmla="val 4167"/>
            </a:avLst>
          </a:prstGeom>
          <a:solidFill>
            <a:srgbClr val="E7E8D1"/>
          </a:solidFill>
          <a:ln/>
        </p:spPr>
      </p:sp>
      <p:sp>
        <p:nvSpPr>
          <p:cNvPr id="13" name="Text 11"/>
          <p:cNvSpPr/>
          <p:nvPr/>
        </p:nvSpPr>
        <p:spPr>
          <a:xfrm>
            <a:off x="6492240" y="3931920"/>
            <a:ext cx="4937760" cy="411480"/>
          </a:xfrm>
          <a:prstGeom prst="rect">
            <a:avLst/>
          </a:prstGeom>
          <a:noFill/>
          <a:ln/>
        </p:spPr>
        <p:txBody>
          <a:bodyPr wrap="square" lIns="0" tIns="0" rIns="0" bIns="0" rtlCol="0" anchor="ctr"/>
          <a:lstStyle/>
          <a:p>
            <a:pPr indent="0" marL="0">
              <a:buNone/>
            </a:pPr>
            <a:r>
              <a:rPr lang="en-US" sz="1600" b="1" dirty="0">
                <a:solidFill>
                  <a:srgbClr val="B85042"/>
                </a:solidFill>
                <a:latin typeface="Cambria" pitchFamily="34" charset="0"/>
                <a:ea typeface="Cambria" pitchFamily="34" charset="-122"/>
                <a:cs typeface="Cambria" pitchFamily="34" charset="-120"/>
              </a:rPr>
              <a:t>相関・NCC</a:t>
            </a:r>
            <a:endParaRPr lang="en-US" sz="1600" dirty="0"/>
          </a:p>
        </p:txBody>
      </p:sp>
      <p:sp>
        <p:nvSpPr>
          <p:cNvPr id="14" name="Text 12"/>
          <p:cNvSpPr/>
          <p:nvPr/>
        </p:nvSpPr>
        <p:spPr>
          <a:xfrm>
            <a:off x="6492240" y="4389120"/>
            <a:ext cx="4937760" cy="1463040"/>
          </a:xfrm>
          <a:prstGeom prst="rect">
            <a:avLst/>
          </a:prstGeom>
          <a:noFill/>
          <a:ln/>
        </p:spPr>
        <p:txBody>
          <a:bodyPr wrap="square" lIns="0" tIns="0" rIns="0" bIns="0" rtlCol="0" anchor="ctr"/>
          <a:lstStyle/>
          <a:p>
            <a:pPr indent="0" marL="0">
              <a:buNone/>
            </a:pPr>
            <a:r>
              <a:rPr lang="en-US" sz="1250" dirty="0">
                <a:solidFill>
                  <a:srgbClr val="333333"/>
                </a:solidFill>
                <a:latin typeface="Calibri" pitchFamily="34" charset="0"/>
                <a:ea typeface="Calibri" pitchFamily="34" charset="-122"/>
                <a:cs typeface="Calibri" pitchFamily="34" charset="-120"/>
              </a:rPr>
              <a:t>M4/M5: 2D自己相関で周期ベクトルを、正規化相互相関（NCC）で同位相位置を検出。相関係数の空間パターンへの拡張。</a:t>
            </a:r>
            <a:endParaRPr lang="en-US" sz="1250" dirty="0"/>
          </a:p>
        </p:txBody>
      </p:sp>
      <p:sp>
        <p:nvSpPr>
          <p:cNvPr id="15" name="Text 13"/>
          <p:cNvSpPr/>
          <p:nvPr/>
        </p:nvSpPr>
        <p:spPr>
          <a:xfrm>
            <a:off x="548640" y="6446520"/>
            <a:ext cx="11064240" cy="274320"/>
          </a:xfrm>
          <a:prstGeom prst="rect">
            <a:avLst/>
          </a:prstGeom>
          <a:noFill/>
          <a:ln/>
        </p:spPr>
        <p:txBody>
          <a:bodyPr wrap="square" lIns="0" tIns="0" rIns="0" bIns="0" rtlCol="0" anchor="ctr"/>
          <a:lstStyle/>
          <a:p>
            <a:pPr indent="0" marL="0">
              <a:buNone/>
            </a:pPr>
            <a:r>
              <a:rPr lang="en-US" sz="1000" dirty="0">
                <a:solidFill>
                  <a:srgbClr val="7A6A62"/>
                </a:solidFill>
                <a:latin typeface="Calibri" pitchFamily="34" charset="0"/>
                <a:ea typeface="Calibri" pitchFamily="34" charset="-122"/>
                <a:cs typeface="Calibri" pitchFamily="34" charset="-120"/>
              </a:rPr>
              <a:t>根拠: 04_Projects/修士研究/python/README.md（height_map.py, face_extract.py, autocorr2d.py, phase_detect.py）</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33333"/>
                </a:solidFill>
                <a:latin typeface="Cambria" pitchFamily="34" charset="0"/>
                <a:ea typeface="Cambria" pitchFamily="34" charset="-122"/>
                <a:cs typeface="Cambria" pitchFamily="34" charset="-120"/>
              </a:rPr>
              <a:t>効率化ポイント②  大規模計算・並列化</a:t>
            </a:r>
            <a:endParaRPr lang="en-US" sz="3000" dirty="0"/>
          </a:p>
        </p:txBody>
      </p:sp>
      <p:sp>
        <p:nvSpPr>
          <p:cNvPr id="3" name="Shape 1"/>
          <p:cNvSpPr/>
          <p:nvPr/>
        </p:nvSpPr>
        <p:spPr>
          <a:xfrm>
            <a:off x="548640" y="1371600"/>
            <a:ext cx="11064240" cy="1463040"/>
          </a:xfrm>
          <a:prstGeom prst="roundRect">
            <a:avLst>
              <a:gd name="adj" fmla="val 6250"/>
            </a:avLst>
          </a:prstGeom>
          <a:solidFill>
            <a:srgbClr val="E7E8D1"/>
          </a:solidFill>
          <a:ln/>
        </p:spPr>
      </p:sp>
      <p:sp>
        <p:nvSpPr>
          <p:cNvPr id="4" name="Text 2"/>
          <p:cNvSpPr/>
          <p:nvPr/>
        </p:nvSpPr>
        <p:spPr>
          <a:xfrm>
            <a:off x="777240" y="1481328"/>
            <a:ext cx="2926080" cy="1188720"/>
          </a:xfrm>
          <a:prstGeom prst="rect">
            <a:avLst/>
          </a:prstGeom>
          <a:noFill/>
          <a:ln/>
        </p:spPr>
        <p:txBody>
          <a:bodyPr wrap="square" lIns="0" tIns="0" rIns="0" bIns="0" rtlCol="0" anchor="ctr"/>
          <a:lstStyle/>
          <a:p>
            <a:pPr indent="0" marL="0">
              <a:buNone/>
            </a:pPr>
            <a:r>
              <a:rPr lang="en-US" sz="1600" b="1" dirty="0">
                <a:solidFill>
                  <a:srgbClr val="B85042"/>
                </a:solidFill>
                <a:latin typeface="Cambria" pitchFamily="34" charset="0"/>
                <a:ea typeface="Cambria" pitchFamily="34" charset="-122"/>
                <a:cs typeface="Cambria" pitchFamily="34" charset="-120"/>
              </a:rPr>
              <a:t>FFTによる高速化</a:t>
            </a:r>
            <a:endParaRPr lang="en-US" sz="1600" dirty="0"/>
          </a:p>
        </p:txBody>
      </p:sp>
      <p:sp>
        <p:nvSpPr>
          <p:cNvPr id="5" name="Text 3"/>
          <p:cNvSpPr/>
          <p:nvPr/>
        </p:nvSpPr>
        <p:spPr>
          <a:xfrm>
            <a:off x="3840480" y="1508760"/>
            <a:ext cx="7498080" cy="1234440"/>
          </a:xfrm>
          <a:prstGeom prst="rect">
            <a:avLst/>
          </a:prstGeom>
          <a:noFill/>
          <a:ln/>
        </p:spPr>
        <p:txBody>
          <a:bodyPr wrap="square" lIns="0" tIns="0" rIns="0" bIns="0" rtlCol="0" anchor="ctr"/>
          <a:lstStyle/>
          <a:p>
            <a:pPr indent="0" marL="0">
              <a:buNone/>
            </a:pPr>
            <a:r>
              <a:rPr lang="en-US" sz="1300" dirty="0">
                <a:solidFill>
                  <a:srgbClr val="333333"/>
                </a:solidFill>
                <a:latin typeface="Calibri" pitchFamily="34" charset="0"/>
                <a:ea typeface="Calibri" pitchFamily="34" charset="-122"/>
                <a:cs typeface="Calibri" pitchFamily="34" charset="-120"/>
              </a:rPr>
              <a:t>2D自己相関は素朴に計算するとO(N⁴)。FFTを使いO(N² log N)へ削減。第11回の「アルゴリズムによる計算量削減」の実例。</a:t>
            </a:r>
            <a:endParaRPr lang="en-US" sz="1300" dirty="0"/>
          </a:p>
        </p:txBody>
      </p:sp>
      <p:sp>
        <p:nvSpPr>
          <p:cNvPr id="6" name="Shape 4"/>
          <p:cNvSpPr/>
          <p:nvPr/>
        </p:nvSpPr>
        <p:spPr>
          <a:xfrm>
            <a:off x="548640" y="3017520"/>
            <a:ext cx="11064240" cy="1463040"/>
          </a:xfrm>
          <a:prstGeom prst="roundRect">
            <a:avLst>
              <a:gd name="adj" fmla="val 6250"/>
            </a:avLst>
          </a:prstGeom>
          <a:solidFill>
            <a:srgbClr val="E7E8D1"/>
          </a:solidFill>
          <a:ln/>
        </p:spPr>
      </p:sp>
      <p:sp>
        <p:nvSpPr>
          <p:cNvPr id="7" name="Text 5"/>
          <p:cNvSpPr/>
          <p:nvPr/>
        </p:nvSpPr>
        <p:spPr>
          <a:xfrm>
            <a:off x="777240" y="3127248"/>
            <a:ext cx="2926080" cy="1188720"/>
          </a:xfrm>
          <a:prstGeom prst="rect">
            <a:avLst/>
          </a:prstGeom>
          <a:noFill/>
          <a:ln/>
        </p:spPr>
        <p:txBody>
          <a:bodyPr wrap="square" lIns="0" tIns="0" rIns="0" bIns="0" rtlCol="0" anchor="ctr"/>
          <a:lstStyle/>
          <a:p>
            <a:pPr indent="0" marL="0">
              <a:buNone/>
            </a:pPr>
            <a:r>
              <a:rPr lang="en-US" sz="1600" b="1" dirty="0">
                <a:solidFill>
                  <a:srgbClr val="B85042"/>
                </a:solidFill>
                <a:latin typeface="Cambria" pitchFamily="34" charset="0"/>
                <a:ea typeface="Cambria" pitchFamily="34" charset="-122"/>
                <a:cs typeface="Cambria" pitchFamily="34" charset="-120"/>
              </a:rPr>
              <a:t>並列化できる箇所</a:t>
            </a:r>
            <a:endParaRPr lang="en-US" sz="1600" dirty="0"/>
          </a:p>
        </p:txBody>
      </p:sp>
      <p:sp>
        <p:nvSpPr>
          <p:cNvPr id="8" name="Text 6"/>
          <p:cNvSpPr/>
          <p:nvPr/>
        </p:nvSpPr>
        <p:spPr>
          <a:xfrm>
            <a:off x="3840480" y="3154680"/>
            <a:ext cx="7498080" cy="1234440"/>
          </a:xfrm>
          <a:prstGeom prst="rect">
            <a:avLst/>
          </a:prstGeom>
          <a:noFill/>
          <a:ln/>
        </p:spPr>
        <p:txBody>
          <a:bodyPr wrap="square" lIns="0" tIns="0" rIns="0" bIns="0" rtlCol="0" anchor="ctr"/>
          <a:lstStyle/>
          <a:p>
            <a:pPr indent="0" marL="0">
              <a:buNone/>
            </a:pPr>
            <a:r>
              <a:rPr lang="en-US" sz="1300" dirty="0">
                <a:solidFill>
                  <a:srgbClr val="333333"/>
                </a:solidFill>
                <a:latin typeface="Calibri" pitchFamily="34" charset="0"/>
                <a:ea typeface="Calibri" pitchFamily="34" charset="-122"/>
                <a:cs typeface="Calibri" pitchFamily="34" charset="-120"/>
              </a:rPr>
              <a:t>格子サンプリング（各格子点の独立計算）、NCCプロファイル（各シフト量の独立評価）、複数土器片のバッチ処理は、GAの個体評価と同じ「互いに依存しない計算」であり並列化可能。</a:t>
            </a:r>
            <a:endParaRPr lang="en-US" sz="1300" dirty="0"/>
          </a:p>
        </p:txBody>
      </p:sp>
      <p:sp>
        <p:nvSpPr>
          <p:cNvPr id="9" name="Shape 7"/>
          <p:cNvSpPr/>
          <p:nvPr/>
        </p:nvSpPr>
        <p:spPr>
          <a:xfrm>
            <a:off x="548640" y="4663440"/>
            <a:ext cx="11064240" cy="1463040"/>
          </a:xfrm>
          <a:prstGeom prst="roundRect">
            <a:avLst>
              <a:gd name="adj" fmla="val 6250"/>
            </a:avLst>
          </a:prstGeom>
          <a:solidFill>
            <a:srgbClr val="B85042"/>
          </a:solidFill>
          <a:ln/>
        </p:spPr>
      </p:sp>
      <p:sp>
        <p:nvSpPr>
          <p:cNvPr id="10" name="Text 8"/>
          <p:cNvSpPr/>
          <p:nvPr/>
        </p:nvSpPr>
        <p:spPr>
          <a:xfrm>
            <a:off x="777240" y="4773168"/>
            <a:ext cx="2926080" cy="118872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並列化のコスト</a:t>
            </a:r>
            <a:endParaRPr lang="en-US" sz="1600" dirty="0"/>
          </a:p>
        </p:txBody>
      </p:sp>
      <p:sp>
        <p:nvSpPr>
          <p:cNvPr id="11" name="Text 9"/>
          <p:cNvSpPr/>
          <p:nvPr/>
        </p:nvSpPr>
        <p:spPr>
          <a:xfrm>
            <a:off x="3840480" y="4800600"/>
            <a:ext cx="7498080" cy="123444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第12回のGA実験では、1タスクが軽い場合はWorker準備・データ受け渡しのオーバーヘッドが勝り、逆に遅くなった。本研究でも「1タスクの重さ」を見てから並列化を判断する。</a:t>
            </a:r>
            <a:endParaRPr lang="en-US" sz="1300" dirty="0"/>
          </a:p>
        </p:txBody>
      </p:sp>
      <p:sp>
        <p:nvSpPr>
          <p:cNvPr id="12" name="Text 10"/>
          <p:cNvSpPr/>
          <p:nvPr/>
        </p:nvSpPr>
        <p:spPr>
          <a:xfrm>
            <a:off x="548640" y="6446520"/>
            <a:ext cx="11064240" cy="274320"/>
          </a:xfrm>
          <a:prstGeom prst="rect">
            <a:avLst/>
          </a:prstGeom>
          <a:noFill/>
          <a:ln/>
        </p:spPr>
        <p:txBody>
          <a:bodyPr wrap="square" lIns="0" tIns="0" rIns="0" bIns="0" rtlCol="0" anchor="ctr"/>
          <a:lstStyle/>
          <a:p>
            <a:pPr indent="0" marL="0">
              <a:buNone/>
            </a:pPr>
            <a:r>
              <a:rPr lang="en-US" sz="1000" dirty="0">
                <a:solidFill>
                  <a:srgbClr val="7A6A62"/>
                </a:solidFill>
                <a:latin typeface="Calibri" pitchFamily="34" charset="0"/>
                <a:ea typeface="Calibri" pitchFamily="34" charset="-122"/>
                <a:cs typeface="Calibri" pitchFamily="34" charset="-120"/>
              </a:rPr>
              <a:t>根拠: 04_Projects/MultivariatAanalysis/11, 12（並列化課題の実験結果）</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33333"/>
                </a:solidFill>
                <a:latin typeface="Cambria" pitchFamily="34" charset="0"/>
                <a:ea typeface="Cambria" pitchFamily="34" charset="-122"/>
                <a:cs typeface="Cambria" pitchFamily="34" charset="-120"/>
              </a:rPr>
              <a:t>今後の展望 — 効率化の適用計画</a:t>
            </a:r>
            <a:endParaRPr lang="en-US" sz="3000" dirty="0"/>
          </a:p>
        </p:txBody>
      </p:sp>
      <p:sp>
        <p:nvSpPr>
          <p:cNvPr id="3" name="Shape 1"/>
          <p:cNvSpPr/>
          <p:nvPr/>
        </p:nvSpPr>
        <p:spPr>
          <a:xfrm>
            <a:off x="548640" y="1691640"/>
            <a:ext cx="685800" cy="685800"/>
          </a:xfrm>
          <a:prstGeom prst="ellipse">
            <a:avLst/>
          </a:prstGeom>
          <a:solidFill>
            <a:srgbClr val="B85042"/>
          </a:solidFill>
          <a:ln/>
        </p:spPr>
      </p:sp>
      <p:sp>
        <p:nvSpPr>
          <p:cNvPr id="4" name="Text 2"/>
          <p:cNvSpPr/>
          <p:nvPr/>
        </p:nvSpPr>
        <p:spPr>
          <a:xfrm>
            <a:off x="548640" y="169164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5" name="Text 3"/>
          <p:cNvSpPr/>
          <p:nvPr/>
        </p:nvSpPr>
        <p:spPr>
          <a:xfrm>
            <a:off x="1508760" y="1417320"/>
            <a:ext cx="10058400" cy="411480"/>
          </a:xfrm>
          <a:prstGeom prst="rect">
            <a:avLst/>
          </a:prstGeom>
          <a:noFill/>
          <a:ln/>
        </p:spPr>
        <p:txBody>
          <a:bodyPr wrap="square" lIns="0" tIns="0" rIns="0" bIns="0" rtlCol="0" anchor="ctr"/>
          <a:lstStyle/>
          <a:p>
            <a:pPr indent="0" marL="0">
              <a:buNone/>
            </a:pPr>
            <a:r>
              <a:rPr lang="en-US" sz="1700" b="1" dirty="0">
                <a:solidFill>
                  <a:srgbClr val="333333"/>
                </a:solidFill>
                <a:latin typeface="Cambria" pitchFamily="34" charset="0"/>
                <a:ea typeface="Cambria" pitchFamily="34" charset="-122"/>
                <a:cs typeface="Cambria" pitchFamily="34" charset="-120"/>
              </a:rPr>
              <a:t>評価ハーネスの整備</a:t>
            </a:r>
            <a:endParaRPr lang="en-US" sz="1700" dirty="0"/>
          </a:p>
        </p:txBody>
      </p:sp>
      <p:sp>
        <p:nvSpPr>
          <p:cNvPr id="6" name="Text 4"/>
          <p:cNvSpPr/>
          <p:nvPr/>
        </p:nvSpPr>
        <p:spPr>
          <a:xfrm>
            <a:off x="1508760" y="1874520"/>
            <a:ext cx="10058400" cy="1005840"/>
          </a:xfrm>
          <a:prstGeom prst="rect">
            <a:avLst/>
          </a:prstGeom>
          <a:noFill/>
          <a:ln/>
        </p:spPr>
        <p:txBody>
          <a:bodyPr wrap="square" lIns="0" tIns="0" rIns="0" bIns="0" rtlCol="0" anchor="ctr"/>
          <a:lstStyle/>
          <a:p>
            <a:pPr indent="0" marL="0">
              <a:buNone/>
            </a:pPr>
            <a:r>
              <a:rPr lang="en-US" sz="1350" dirty="0">
                <a:solidFill>
                  <a:srgbClr val="333333"/>
                </a:solidFill>
                <a:latin typeface="Calibri" pitchFamily="34" charset="0"/>
                <a:ea typeface="Calibri" pitchFamily="34" charset="-122"/>
                <a:cs typeface="Calibri" pitchFamily="34" charset="-120"/>
              </a:rPr>
              <a:t>ノイズ・欠損をパラメータ化した合成データのスイープ実験。条件の組合せが多いため、独立実行できる各条件をmultiprocessingで並列化する（第11–12回）。</a:t>
            </a:r>
            <a:endParaRPr lang="en-US" sz="1350" dirty="0"/>
          </a:p>
        </p:txBody>
      </p:sp>
      <p:sp>
        <p:nvSpPr>
          <p:cNvPr id="7" name="Shape 5"/>
          <p:cNvSpPr/>
          <p:nvPr/>
        </p:nvSpPr>
        <p:spPr>
          <a:xfrm>
            <a:off x="548640" y="3337560"/>
            <a:ext cx="685800" cy="685800"/>
          </a:xfrm>
          <a:prstGeom prst="ellipse">
            <a:avLst/>
          </a:prstGeom>
          <a:solidFill>
            <a:srgbClr val="B85042"/>
          </a:solidFill>
          <a:ln/>
        </p:spPr>
      </p:sp>
      <p:sp>
        <p:nvSpPr>
          <p:cNvPr id="8" name="Text 6"/>
          <p:cNvSpPr/>
          <p:nvPr/>
        </p:nvSpPr>
        <p:spPr>
          <a:xfrm>
            <a:off x="548640" y="333756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9" name="Text 7"/>
          <p:cNvSpPr/>
          <p:nvPr/>
        </p:nvSpPr>
        <p:spPr>
          <a:xfrm>
            <a:off x="1508760" y="3063240"/>
            <a:ext cx="10058400" cy="411480"/>
          </a:xfrm>
          <a:prstGeom prst="rect">
            <a:avLst/>
          </a:prstGeom>
          <a:noFill/>
          <a:ln/>
        </p:spPr>
        <p:txBody>
          <a:bodyPr wrap="square" lIns="0" tIns="0" rIns="0" bIns="0" rtlCol="0" anchor="ctr"/>
          <a:lstStyle/>
          <a:p>
            <a:pPr indent="0" marL="0">
              <a:buNone/>
            </a:pPr>
            <a:r>
              <a:rPr lang="en-US" sz="1700" b="1" dirty="0">
                <a:solidFill>
                  <a:srgbClr val="333333"/>
                </a:solidFill>
                <a:latin typeface="Cambria" pitchFamily="34" charset="0"/>
                <a:ea typeface="Cambria" pitchFamily="34" charset="-122"/>
                <a:cs typeface="Cambria" pitchFamily="34" charset="-120"/>
              </a:rPr>
              <a:t>パラメータの自動最適化</a:t>
            </a:r>
            <a:endParaRPr lang="en-US" sz="1700" dirty="0"/>
          </a:p>
        </p:txBody>
      </p:sp>
      <p:sp>
        <p:nvSpPr>
          <p:cNvPr id="10" name="Text 8"/>
          <p:cNvSpPr/>
          <p:nvPr/>
        </p:nvSpPr>
        <p:spPr>
          <a:xfrm>
            <a:off x="1508760" y="3520440"/>
            <a:ext cx="10058400" cy="1005840"/>
          </a:xfrm>
          <a:prstGeom prst="rect">
            <a:avLst/>
          </a:prstGeom>
          <a:noFill/>
          <a:ln/>
        </p:spPr>
        <p:txBody>
          <a:bodyPr wrap="square" lIns="0" tIns="0" rIns="0" bIns="0" rtlCol="0" anchor="ctr"/>
          <a:lstStyle/>
          <a:p>
            <a:pPr indent="0" marL="0">
              <a:buNone/>
            </a:pPr>
            <a:r>
              <a:rPr lang="en-US" sz="1350" dirty="0">
                <a:solidFill>
                  <a:srgbClr val="333333"/>
                </a:solidFill>
                <a:latin typeface="Calibri" pitchFamily="34" charset="0"/>
                <a:ea typeface="Calibri" pitchFamily="34" charset="-122"/>
                <a:cs typeface="Calibri" pitchFamily="34" charset="-120"/>
              </a:rPr>
              <a:t>格子ピッチ・detrend窓・周期探索範囲を、GAやベイズ最適化で自動チューニングする（第12回の遺伝的アルゴリズム）。1評価＝パイプライン1実行と重いため、今度は並列化の効果が出やすい。</a:t>
            </a:r>
            <a:endParaRPr lang="en-US" sz="1350" dirty="0"/>
          </a:p>
        </p:txBody>
      </p:sp>
      <p:sp>
        <p:nvSpPr>
          <p:cNvPr id="11" name="Shape 9"/>
          <p:cNvSpPr/>
          <p:nvPr/>
        </p:nvSpPr>
        <p:spPr>
          <a:xfrm>
            <a:off x="548640" y="4983480"/>
            <a:ext cx="685800" cy="685800"/>
          </a:xfrm>
          <a:prstGeom prst="ellipse">
            <a:avLst/>
          </a:prstGeom>
          <a:solidFill>
            <a:srgbClr val="B85042"/>
          </a:solidFill>
          <a:ln/>
        </p:spPr>
      </p:sp>
      <p:sp>
        <p:nvSpPr>
          <p:cNvPr id="12" name="Text 10"/>
          <p:cNvSpPr/>
          <p:nvPr/>
        </p:nvSpPr>
        <p:spPr>
          <a:xfrm>
            <a:off x="548640" y="498348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3" name="Text 11"/>
          <p:cNvSpPr/>
          <p:nvPr/>
        </p:nvSpPr>
        <p:spPr>
          <a:xfrm>
            <a:off x="1508760" y="4709160"/>
            <a:ext cx="10058400" cy="411480"/>
          </a:xfrm>
          <a:prstGeom prst="rect">
            <a:avLst/>
          </a:prstGeom>
          <a:noFill/>
          <a:ln/>
        </p:spPr>
        <p:txBody>
          <a:bodyPr wrap="square" lIns="0" tIns="0" rIns="0" bIns="0" rtlCol="0" anchor="ctr"/>
          <a:lstStyle/>
          <a:p>
            <a:pPr indent="0" marL="0">
              <a:buNone/>
            </a:pPr>
            <a:r>
              <a:rPr lang="en-US" sz="1700" b="1" dirty="0">
                <a:solidFill>
                  <a:srgbClr val="333333"/>
                </a:solidFill>
                <a:latin typeface="Cambria" pitchFamily="34" charset="0"/>
                <a:ea typeface="Cambria" pitchFamily="34" charset="-122"/>
                <a:cs typeface="Cambria" pitchFamily="34" charset="-120"/>
              </a:rPr>
              <a:t>多土器片への展開</a:t>
            </a:r>
            <a:endParaRPr lang="en-US" sz="1700" dirty="0"/>
          </a:p>
        </p:txBody>
      </p:sp>
      <p:sp>
        <p:nvSpPr>
          <p:cNvPr id="14" name="Text 12"/>
          <p:cNvSpPr/>
          <p:nvPr/>
        </p:nvSpPr>
        <p:spPr>
          <a:xfrm>
            <a:off x="1508760" y="5166360"/>
            <a:ext cx="10058400" cy="1005840"/>
          </a:xfrm>
          <a:prstGeom prst="rect">
            <a:avLst/>
          </a:prstGeom>
          <a:noFill/>
          <a:ln/>
        </p:spPr>
        <p:txBody>
          <a:bodyPr wrap="square" lIns="0" tIns="0" rIns="0" bIns="0" rtlCol="0" anchor="ctr"/>
          <a:lstStyle/>
          <a:p>
            <a:pPr indent="0" marL="0">
              <a:buNone/>
            </a:pPr>
            <a:r>
              <a:rPr lang="en-US" sz="1350" dirty="0">
                <a:solidFill>
                  <a:srgbClr val="333333"/>
                </a:solidFill>
                <a:latin typeface="Calibri" pitchFamily="34" charset="0"/>
                <a:ea typeface="Calibri" pitchFamily="34" charset="-122"/>
                <a:cs typeface="Calibri" pitchFamily="34" charset="-120"/>
              </a:rPr>
              <a:t>複数の土器片へのバッチ適用と、推定された周期・方向の統計的比較（多変量解析パート）。</a:t>
            </a:r>
            <a:endParaRPr lang="en-US" sz="1350" dirty="0"/>
          </a:p>
        </p:txBody>
      </p:sp>
      <p:sp>
        <p:nvSpPr>
          <p:cNvPr id="15" name="Text 13"/>
          <p:cNvSpPr/>
          <p:nvPr/>
        </p:nvSpPr>
        <p:spPr>
          <a:xfrm>
            <a:off x="548640" y="6446520"/>
            <a:ext cx="11064240" cy="274320"/>
          </a:xfrm>
          <a:prstGeom prst="rect">
            <a:avLst/>
          </a:prstGeom>
          <a:noFill/>
          <a:ln/>
        </p:spPr>
        <p:txBody>
          <a:bodyPr wrap="square" lIns="0" tIns="0" rIns="0" bIns="0" rtlCol="0" anchor="ctr"/>
          <a:lstStyle/>
          <a:p>
            <a:pPr indent="0" marL="0">
              <a:buNone/>
            </a:pPr>
            <a:r>
              <a:rPr lang="en-US" sz="1000" dirty="0">
                <a:solidFill>
                  <a:srgbClr val="7A6A62"/>
                </a:solidFill>
                <a:latin typeface="Calibri" pitchFamily="34" charset="0"/>
                <a:ea typeface="Calibri" pitchFamily="34" charset="-122"/>
                <a:cs typeface="Calibri" pitchFamily="34" charset="-120"/>
              </a:rPr>
              <a:t>根拠: 04_Projects/修士研究/README.md（Phase 1–2計画）</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3B2A26"/>
        </a:solidFill>
      </p:bgPr>
    </p:bg>
    <p:spTree>
      <p:nvGrpSpPr>
        <p:cNvPr id="1" name=""/>
        <p:cNvGrpSpPr/>
        <p:nvPr/>
      </p:nvGrpSpPr>
      <p:grpSpPr>
        <a:xfrm>
          <a:off x="0" y="0"/>
          <a:ext cx="0" cy="0"/>
          <a:chOff x="0" y="0"/>
          <a:chExt cx="0" cy="0"/>
        </a:xfrm>
      </p:grpSpPr>
      <p:sp>
        <p:nvSpPr>
          <p:cNvPr id="2" name="Text 0"/>
          <p:cNvSpPr/>
          <p:nvPr/>
        </p:nvSpPr>
        <p:spPr>
          <a:xfrm>
            <a:off x="731520" y="548640"/>
            <a:ext cx="1069848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まとめ</a:t>
            </a:r>
            <a:endParaRPr lang="en-US" sz="3200" dirty="0"/>
          </a:p>
        </p:txBody>
      </p:sp>
      <p:sp>
        <p:nvSpPr>
          <p:cNvPr id="3" name="Text 1"/>
          <p:cNvSpPr/>
          <p:nvPr/>
        </p:nvSpPr>
        <p:spPr>
          <a:xfrm>
            <a:off x="822960" y="1554480"/>
            <a:ext cx="10515600" cy="3657600"/>
          </a:xfrm>
          <a:prstGeom prst="rect">
            <a:avLst/>
          </a:prstGeom>
          <a:noFill/>
          <a:ln/>
        </p:spPr>
        <p:txBody>
          <a:bodyPr wrap="square" rtlCol="0" anchor="ctr"/>
          <a:lstStyle/>
          <a:p>
            <a:pPr marL="342900" indent="-342900">
              <a:spcAft>
                <a:spcPts val="1400"/>
              </a:spcAft>
              <a:buSzPct val="100000"/>
              <a:buChar char="•"/>
            </a:pPr>
            <a:r>
              <a:rPr lang="en-US" sz="1700" dirty="0">
                <a:solidFill>
                  <a:srgbClr val="E7E8D1"/>
                </a:solidFill>
                <a:latin typeface="Calibri" pitchFamily="34" charset="0"/>
                <a:ea typeface="Calibri" pitchFamily="34" charset="-122"/>
                <a:cs typeface="Calibri" pitchFamily="34" charset="-120"/>
              </a:rPr>
              <a:t>縄文土器の3Dメッシュ（数百万頂点）から縄目圧痕の周期・方向・同巡点を全自動推定するパイプラインM1–M5を構築した。</a:t>
            </a:r>
            <a:endParaRPr lang="en-US" sz="1700" dirty="0"/>
          </a:p>
          <a:p>
            <a:pPr marL="342900" indent="-342900">
              <a:spcAft>
                <a:spcPts val="1400"/>
              </a:spcAft>
              <a:buSzPct val="100000"/>
              <a:buChar char="•"/>
            </a:pPr>
            <a:r>
              <a:rPr lang="en-US" sz="1700" dirty="0">
                <a:solidFill>
                  <a:srgbClr val="E7E8D1"/>
                </a:solidFill>
                <a:latin typeface="Calibri" pitchFamily="34" charset="0"/>
                <a:ea typeface="Calibri" pitchFamily="34" charset="-122"/>
                <a:cs typeface="Calibri" pitchFamily="34" charset="-120"/>
              </a:rPr>
              <a:t>PCA・クラスタリング・固有値分解・相関という多変量解析の手法が、次元削減と対象絞り込みによる効率化の中核になっている。</a:t>
            </a:r>
            <a:endParaRPr lang="en-US" sz="1700" dirty="0"/>
          </a:p>
          <a:p>
            <a:pPr marL="342900" indent="-342900">
              <a:spcAft>
                <a:spcPts val="1400"/>
              </a:spcAft>
              <a:buSzPct val="100000"/>
              <a:buChar char="•"/>
            </a:pPr>
            <a:r>
              <a:rPr lang="en-US" sz="1700" dirty="0">
                <a:solidFill>
                  <a:srgbClr val="E7E8D1"/>
                </a:solidFill>
                <a:latin typeface="Calibri" pitchFamily="34" charset="0"/>
                <a:ea typeface="Calibri" pitchFamily="34" charset="-122"/>
                <a:cs typeface="Calibri" pitchFamily="34" charset="-120"/>
              </a:rPr>
              <a:t>FFTによる計算量削減と、独立計算の並列化余地の見極め（第12回の実験知見）が大規模メッシュ処理の実用性を支える。</a:t>
            </a:r>
            <a:endParaRPr lang="en-US" sz="1700" dirty="0"/>
          </a:p>
          <a:p>
            <a:pPr marL="342900" indent="-342900">
              <a:buSzPct val="100000"/>
              <a:buChar char="•"/>
            </a:pPr>
            <a:r>
              <a:rPr lang="en-US" sz="1700" dirty="0">
                <a:solidFill>
                  <a:srgbClr val="E7E8D1"/>
                </a:solidFill>
                <a:latin typeface="Calibri" pitchFamily="34" charset="0"/>
                <a:ea typeface="Calibri" pitchFamily="34" charset="-122"/>
                <a:cs typeface="Calibri" pitchFamily="34" charset="-120"/>
              </a:rPr>
              <a:t>今後は評価実験のスイープ並列化と、GA・ベイズ最適化によるパラメータ自動化で、講義内容をさらに研究へ還元する。</a:t>
            </a:r>
            <a:endParaRPr lang="en-US" sz="1700" dirty="0"/>
          </a:p>
        </p:txBody>
      </p:sp>
      <p:sp>
        <p:nvSpPr>
          <p:cNvPr id="4" name="Text 2"/>
          <p:cNvSpPr/>
          <p:nvPr/>
        </p:nvSpPr>
        <p:spPr>
          <a:xfrm>
            <a:off x="731520" y="5669280"/>
            <a:ext cx="10698480" cy="548640"/>
          </a:xfrm>
          <a:prstGeom prst="rect">
            <a:avLst/>
          </a:prstGeom>
          <a:noFill/>
          <a:ln/>
        </p:spPr>
        <p:txBody>
          <a:bodyPr wrap="square" lIns="0" tIns="0" rIns="0" bIns="0" rtlCol="0" anchor="ctr"/>
          <a:lstStyle/>
          <a:p>
            <a:pPr algn="ctr" indent="0" marL="0">
              <a:buNone/>
            </a:pPr>
            <a:r>
              <a:rPr lang="en-US" sz="2000" i="1" dirty="0">
                <a:solidFill>
                  <a:srgbClr val="A7BEAE"/>
                </a:solidFill>
                <a:latin typeface="Cambria" pitchFamily="34" charset="0"/>
                <a:ea typeface="Cambria" pitchFamily="34" charset="-122"/>
                <a:cs typeface="Cambria" pitchFamily="34" charset="-120"/>
              </a:rPr>
              <a:t>ご清聴ありがとうございました</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2026-07-17T07:46:04Z</dcterms:created>
  <dcterms:modified xsi:type="dcterms:W3CDTF">2026-07-17T07:46:04Z</dcterms:modified>
</cp:coreProperties>
</file>